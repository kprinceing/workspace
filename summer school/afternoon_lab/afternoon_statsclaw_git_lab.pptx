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0f92a7024104420" /><Relationship Type="http://schemas.openxmlformats.org/officeDocument/2006/relationships/extended-properties" Target="/docProps/app.xml" Id="R2aadf59ff1ba4e91" /><Relationship Type="http://schemas.openxmlformats.org/officeDocument/2006/relationships/officeDocument" Target="/ppt/presentation.xml" Id="Rac2818b43e6e4e0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98dd51fbba44edd"/>
  </p:sldMasterIdLst>
  <p:notesMasterIdLst>
    <p:notesMasterId xmlns:r="http://schemas.openxmlformats.org/officeDocument/2006/relationships" r:id="R24ba8efbafb54e97"/>
  </p:notesMasterIdLst>
  <p:sldIdLst>
    <p:sldId xmlns:r="http://schemas.openxmlformats.org/officeDocument/2006/relationships" id="256" r:id="Rbe97315eaad147dc"/>
    <p:sldId xmlns:r="http://schemas.openxmlformats.org/officeDocument/2006/relationships" id="257" r:id="Raceb8a7680094f7c"/>
    <p:sldId xmlns:r="http://schemas.openxmlformats.org/officeDocument/2006/relationships" id="258" r:id="R4f058e2108454107"/>
    <p:sldId xmlns:r="http://schemas.openxmlformats.org/officeDocument/2006/relationships" id="259" r:id="Rc9e970e7d3a94a8b"/>
    <p:sldId xmlns:r="http://schemas.openxmlformats.org/officeDocument/2006/relationships" id="260" r:id="R2880418eb4d44f5a"/>
    <p:sldId xmlns:r="http://schemas.openxmlformats.org/officeDocument/2006/relationships" id="261" r:id="Ra9fdfa81d41740fe"/>
    <p:sldId xmlns:r="http://schemas.openxmlformats.org/officeDocument/2006/relationships" id="262" r:id="Rc8b8177e017b4480"/>
    <p:sldId xmlns:r="http://schemas.openxmlformats.org/officeDocument/2006/relationships" id="263" r:id="R4b858929b0da496c"/>
    <p:sldId xmlns:r="http://schemas.openxmlformats.org/officeDocument/2006/relationships" id="264" r:id="R75c4756053454528"/>
    <p:sldId xmlns:r="http://schemas.openxmlformats.org/officeDocument/2006/relationships" id="265" r:id="R2dcc28fb734749bf"/>
    <p:sldId xmlns:r="http://schemas.openxmlformats.org/officeDocument/2006/relationships" id="266" r:id="R64d3fea8fcef40d1"/>
    <p:sldId xmlns:r="http://schemas.openxmlformats.org/officeDocument/2006/relationships" id="267" r:id="R9f2cf65200ba4377"/>
    <p:sldId xmlns:r="http://schemas.openxmlformats.org/officeDocument/2006/relationships" id="268" r:id="R5a0d4a3532a64ee6"/>
    <p:sldId xmlns:r="http://schemas.openxmlformats.org/officeDocument/2006/relationships" id="269" r:id="Re2a2cdd7aa9e42be"/>
    <p:sldId xmlns:r="http://schemas.openxmlformats.org/officeDocument/2006/relationships" id="270" r:id="R28c2c9a3844c4eb3"/>
    <p:sldId xmlns:r="http://schemas.openxmlformats.org/officeDocument/2006/relationships" id="271" r:id="R9e65268658964cb5"/>
    <p:sldId xmlns:r="http://schemas.openxmlformats.org/officeDocument/2006/relationships" id="272" r:id="Ra2e44de9bd3841e1"/>
    <p:sldId xmlns:r="http://schemas.openxmlformats.org/officeDocument/2006/relationships" id="273" r:id="Rb5ceb17db2ff4dd8"/>
    <p:sldId xmlns:r="http://schemas.openxmlformats.org/officeDocument/2006/relationships" id="274" r:id="R18244ed65026417c"/>
    <p:sldId xmlns:r="http://schemas.openxmlformats.org/officeDocument/2006/relationships" id="275" r:id="R8fc1c28ca5c94ca5"/>
    <p:sldId xmlns:r="http://schemas.openxmlformats.org/officeDocument/2006/relationships" id="276" r:id="R775b21549a1d4c95"/>
    <p:sldId xmlns:r="http://schemas.openxmlformats.org/officeDocument/2006/relationships" id="277" r:id="Rd7e895c2fcb24a1c"/>
    <p:sldId xmlns:r="http://schemas.openxmlformats.org/officeDocument/2006/relationships" id="278" r:id="Raed051b82c7049f3"/>
    <p:sldId xmlns:r="http://schemas.openxmlformats.org/officeDocument/2006/relationships" id="279" r:id="Rf2f390ff5ec64d86"/>
    <p:sldId xmlns:r="http://schemas.openxmlformats.org/officeDocument/2006/relationships" id="280" r:id="R42a72f656b3e433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542eb97d6d64296" /><Relationship Type="http://schemas.openxmlformats.org/officeDocument/2006/relationships/slideMaster" Target="/ppt/slideMasters/slideMaster1.xml" Id="R398dd51fbba44edd" /><Relationship Type="http://schemas.openxmlformats.org/officeDocument/2006/relationships/notesMaster" Target="/ppt/notesMasters/notesMaster1.xml" Id="R24ba8efbafb54e97" /><Relationship Type="http://schemas.openxmlformats.org/officeDocument/2006/relationships/presProps" Target="/ppt/presProps.xml" Id="Rca412a1ef382486a" /><Relationship Type="http://schemas.openxmlformats.org/officeDocument/2006/relationships/tableStyles" Target="/ppt/tableStyles.xml" Id="Rd3034d4adebb4a35" /><Relationship Type="http://schemas.openxmlformats.org/officeDocument/2006/relationships/slide" Target="/ppt/slides/slide1.xml" Id="Rbe97315eaad147dc" /><Relationship Type="http://schemas.openxmlformats.org/officeDocument/2006/relationships/slide" Target="/ppt/slides/slide2.xml" Id="Raceb8a7680094f7c" /><Relationship Type="http://schemas.openxmlformats.org/officeDocument/2006/relationships/slide" Target="/ppt/slides/slide3.xml" Id="R4f058e2108454107" /><Relationship Type="http://schemas.openxmlformats.org/officeDocument/2006/relationships/slide" Target="/ppt/slides/slide4.xml" Id="Rc9e970e7d3a94a8b" /><Relationship Type="http://schemas.openxmlformats.org/officeDocument/2006/relationships/slide" Target="/ppt/slides/slide5.xml" Id="R2880418eb4d44f5a" /><Relationship Type="http://schemas.openxmlformats.org/officeDocument/2006/relationships/slide" Target="/ppt/slides/slide6.xml" Id="Ra9fdfa81d41740fe" /><Relationship Type="http://schemas.openxmlformats.org/officeDocument/2006/relationships/slide" Target="/ppt/slides/slide7.xml" Id="Rc8b8177e017b4480" /><Relationship Type="http://schemas.openxmlformats.org/officeDocument/2006/relationships/slide" Target="/ppt/slides/slide8.xml" Id="R4b858929b0da496c" /><Relationship Type="http://schemas.openxmlformats.org/officeDocument/2006/relationships/slide" Target="/ppt/slides/slide9.xml" Id="R75c4756053454528" /><Relationship Type="http://schemas.openxmlformats.org/officeDocument/2006/relationships/slide" Target="/ppt/slides/slide10.xml" Id="R2dcc28fb734749bf" /><Relationship Type="http://schemas.openxmlformats.org/officeDocument/2006/relationships/slide" Target="/ppt/slides/slide11.xml" Id="R64d3fea8fcef40d1" /><Relationship Type="http://schemas.openxmlformats.org/officeDocument/2006/relationships/slide" Target="/ppt/slides/slide12.xml" Id="R9f2cf65200ba4377" /><Relationship Type="http://schemas.openxmlformats.org/officeDocument/2006/relationships/slide" Target="/ppt/slides/slide13.xml" Id="R5a0d4a3532a64ee6" /><Relationship Type="http://schemas.openxmlformats.org/officeDocument/2006/relationships/slide" Target="/ppt/slides/slide14.xml" Id="Re2a2cdd7aa9e42be" /><Relationship Type="http://schemas.openxmlformats.org/officeDocument/2006/relationships/slide" Target="/ppt/slides/slide15.xml" Id="R28c2c9a3844c4eb3" /><Relationship Type="http://schemas.openxmlformats.org/officeDocument/2006/relationships/slide" Target="/ppt/slides/slide16.xml" Id="R9e65268658964cb5" /><Relationship Type="http://schemas.openxmlformats.org/officeDocument/2006/relationships/slide" Target="/ppt/slides/slide17.xml" Id="Ra2e44de9bd3841e1" /><Relationship Type="http://schemas.openxmlformats.org/officeDocument/2006/relationships/slide" Target="/ppt/slides/slide18.xml" Id="Rb5ceb17db2ff4dd8" /><Relationship Type="http://schemas.openxmlformats.org/officeDocument/2006/relationships/slide" Target="/ppt/slides/slide19.xml" Id="R18244ed65026417c" /><Relationship Type="http://schemas.openxmlformats.org/officeDocument/2006/relationships/slide" Target="/ppt/slides/slide20.xml" Id="R8fc1c28ca5c94ca5" /><Relationship Type="http://schemas.openxmlformats.org/officeDocument/2006/relationships/slide" Target="/ppt/slides/slide21.xml" Id="R775b21549a1d4c95" /><Relationship Type="http://schemas.openxmlformats.org/officeDocument/2006/relationships/slide" Target="/ppt/slides/slide22.xml" Id="Rd7e895c2fcb24a1c" /><Relationship Type="http://schemas.openxmlformats.org/officeDocument/2006/relationships/slide" Target="/ppt/slides/slide23.xml" Id="Raed051b82c7049f3" /><Relationship Type="http://schemas.openxmlformats.org/officeDocument/2006/relationships/slide" Target="/ppt/slides/slide24.xml" Id="Rf2f390ff5ec64d86" /><Relationship Type="http://schemas.openxmlformats.org/officeDocument/2006/relationships/slide" Target="/ppt/slides/slide25.xml" Id="R42a72f656b3e433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584a60769ed471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0b881a72864b4b" /><Relationship Type="http://schemas.openxmlformats.org/officeDocument/2006/relationships/notesMaster" Target="/ppt/notesMasters/notesMaster1.xml" Id="R888fa966b1e84a5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d70e5a021424fa8" /><Relationship Type="http://schemas.openxmlformats.org/officeDocument/2006/relationships/notesMaster" Target="/ppt/notesMasters/notesMaster1.xml" Id="R755cf6ba3863422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a0244ddbf0b4bef" /><Relationship Type="http://schemas.openxmlformats.org/officeDocument/2006/relationships/notesMaster" Target="/ppt/notesMasters/notesMaster1.xml" Id="R07dd2271503b4b1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fb0c90a547344eb" /><Relationship Type="http://schemas.openxmlformats.org/officeDocument/2006/relationships/notesMaster" Target="/ppt/notesMasters/notesMaster1.xml" Id="R5de1e8befa704eb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4dc637e42a64089" /><Relationship Type="http://schemas.openxmlformats.org/officeDocument/2006/relationships/notesMaster" Target="/ppt/notesMasters/notesMaster1.xml" Id="R810e52d89cd44cd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6e25ab655af434e" /><Relationship Type="http://schemas.openxmlformats.org/officeDocument/2006/relationships/notesMaster" Target="/ppt/notesMasters/notesMaster1.xml" Id="Ref852e51940c475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6f7201cc0ba405e" /><Relationship Type="http://schemas.openxmlformats.org/officeDocument/2006/relationships/notesMaster" Target="/ppt/notesMasters/notesMaster1.xml" Id="R454c05d6bf1646b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196286ce0704bf5" /><Relationship Type="http://schemas.openxmlformats.org/officeDocument/2006/relationships/notesMaster" Target="/ppt/notesMasters/notesMaster1.xml" Id="R3827b6420c00462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7d71bc750c04f8f" /><Relationship Type="http://schemas.openxmlformats.org/officeDocument/2006/relationships/notesMaster" Target="/ppt/notesMasters/notesMaster1.xml" Id="Rf7877f2f038342b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12326962c394eaa" /><Relationship Type="http://schemas.openxmlformats.org/officeDocument/2006/relationships/notesMaster" Target="/ppt/notesMasters/notesMaster1.xml" Id="R0e6b40ddf7264f4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f7245cf715c4862" /><Relationship Type="http://schemas.openxmlformats.org/officeDocument/2006/relationships/notesMaster" Target="/ppt/notesMasters/notesMaster1.xml" Id="R6f6096a37c5f423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a28d1920ec64a42" /><Relationship Type="http://schemas.openxmlformats.org/officeDocument/2006/relationships/notesMaster" Target="/ppt/notesMasters/notesMaster1.xml" Id="R0575060ee59f4bb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3d40ebabdf64b92" /><Relationship Type="http://schemas.openxmlformats.org/officeDocument/2006/relationships/notesMaster" Target="/ppt/notesMasters/notesMaster1.xml" Id="R0aa49627c6cd4eb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25243aa69414908" /><Relationship Type="http://schemas.openxmlformats.org/officeDocument/2006/relationships/notesMaster" Target="/ppt/notesMasters/notesMaster1.xml" Id="R303fb5c45bec4e0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8471437e99f4b1c" /><Relationship Type="http://schemas.openxmlformats.org/officeDocument/2006/relationships/notesMaster" Target="/ppt/notesMasters/notesMaster1.xml" Id="R85c3d5cc1138486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58aa337cc364fe6" /><Relationship Type="http://schemas.openxmlformats.org/officeDocument/2006/relationships/notesMaster" Target="/ppt/notesMasters/notesMaster1.xml" Id="Rbba1067d4d08456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c2a57ab06d4418c" /><Relationship Type="http://schemas.openxmlformats.org/officeDocument/2006/relationships/notesMaster" Target="/ppt/notesMasters/notesMaster1.xml" Id="R7fd54055ff5d473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67265850833453b" /><Relationship Type="http://schemas.openxmlformats.org/officeDocument/2006/relationships/notesMaster" Target="/ppt/notesMasters/notesMaster1.xml" Id="R7fd948fc704b466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946895a5ff34155" /><Relationship Type="http://schemas.openxmlformats.org/officeDocument/2006/relationships/notesMaster" Target="/ppt/notesMasters/notesMaster1.xml" Id="Rbc2cf13cf53c46e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f48806cd4c04a99" /><Relationship Type="http://schemas.openxmlformats.org/officeDocument/2006/relationships/notesMaster" Target="/ppt/notesMasters/notesMaster1.xml" Id="R0dbe1be68d78401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137a66405d046d8" /><Relationship Type="http://schemas.openxmlformats.org/officeDocument/2006/relationships/notesMaster" Target="/ppt/notesMasters/notesMaster1.xml" Id="Ra2822b98b557478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d756d20d9294e2e" /><Relationship Type="http://schemas.openxmlformats.org/officeDocument/2006/relationships/notesMaster" Target="/ppt/notesMasters/notesMaster1.xml" Id="Rf45fac763929451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8fe3f9cac234262" /><Relationship Type="http://schemas.openxmlformats.org/officeDocument/2006/relationships/notesMaster" Target="/ppt/notesMasters/notesMaster1.xml" Id="Rfbc4c5b184e64dc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6a990d984d740de" /><Relationship Type="http://schemas.openxmlformats.org/officeDocument/2006/relationships/notesMaster" Target="/ppt/notesMasters/notesMaster1.xml" Id="R1d46f8034440409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4086df962144615" /><Relationship Type="http://schemas.openxmlformats.org/officeDocument/2006/relationships/notesMaster" Target="/ppt/notesMasters/notesMaster1.xml" Id="R0fd051a8f1184bb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2 minutes. Frame the afternoon as two complementary missions. Do not preview the inherited-analysis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5 minutes. Students install only the option for their operating system, verify the executable, and configure commit identity.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https://git-scm.com/downloads</a:t>
            </a:r>
          </a:p>
          <a:p xmlns:a="http://schemas.openxmlformats.org/drawingml/2006/main">
            <a:r>
              <a:t>https://git-scm.com/install/linux</a:t>
            </a:r>
          </a:p>
          <a:p xmlns:a="http://schemas.openxmlformats.org/drawingml/2006/main">
            <a:r>
              <a:t>https://formulae.brew.sh/formula/git</a:t>
            </a:r>
          </a:p>
          <a:p xmlns:a="http://schemas.openxmlformats.org/drawingml/2006/main">
            <a:r>
              <a:t>https://learn.microsoft.com/windows/package-manager/winget/</a:t>
            </a:r>
          </a:p>
          <a:p xmlns:a="http://schemas.openxmlformats.org/drawingml/2006/main">
            <a:r>
              <a:t>https://git-scm.com/book/en/v2/Getting-Started-First-Time-Git-Setup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 minutes. Students choose one install method, run the two checks, then launch Claude Code once from the lab project.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https://github.com/anthropics/claude-code</a:t>
            </a:r>
          </a:p>
          <a:p xmlns:a="http://schemas.openxmlformats.org/drawingml/2006/main">
            <a:r>
              <a:t>https://code.claude.com/docs/en/setup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 minutes. Students choose one installation path, verify the CLI version, and launch Codex from the lab project.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https://github.com/openai/codex</a:t>
            </a:r>
          </a:p>
          <a:p xmlns:a="http://schemas.openxmlformats.org/drawingml/2006/main">
            <a:r>
              <a:t>https://github.com/openai/codex/blob/main/README.md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7 minutes. Install from the official project only. On first launch, import existing configs, add or select the intended provider, Enable it, then restart the relevant CLI if needed.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https://github.com/farion1231/cc-switch</a:t>
            </a:r>
          </a:p>
          <a:p xmlns:a="http://schemas.openxmlformats.org/drawingml/2006/main">
            <a:r>
              <a:t>https://github.com/farion1231/cc-switch/releases</a:t>
            </a:r>
          </a:p>
          <a:p xmlns:a="http://schemas.openxmlformats.org/drawingml/2006/main">
            <a:r>
              <a:t>https://ccswitch.io</a:t>
            </a:r>
          </a:p>
          <a:p xmlns:a="http://schemas.openxmlformats.org/drawingml/2006/main">
            <a:r>
              <a:t>https://docs.github.com/en/authentication/keeping-your-account-and-data-secure/removing-sensitive-data-from-a-repository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90 seconds after installation. Run the checklist as a class; pair students across operating systems for quick troubleshooting.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https://git-scm.com/downloads</a:t>
            </a:r>
          </a:p>
          <a:p xmlns:a="http://schemas.openxmlformats.org/drawingml/2006/main">
            <a:r>
              <a:t>https://code.claude.com/docs/en/setup</a:t>
            </a:r>
          </a:p>
          <a:p xmlns:a="http://schemas.openxmlformats.org/drawingml/2006/main">
            <a:r>
              <a:t>https://github.com/openai/codex</a:t>
            </a:r>
          </a:p>
          <a:p xmlns:a="http://schemas.openxmlformats.org/drawingml/2006/main">
            <a:r>
              <a:t>https://github.com/farion1231/cc-switch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 minutes. Run the recommended installer, open a new terminal so the environment loads, install StatsClaw through /plugins, and verify with either natural language or $review.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https://github.com/statsclaw/statsclaw-codex</a:t>
            </a:r>
          </a:p>
          <a:p xmlns:a="http://schemas.openxmlformats.org/drawingml/2006/main">
            <a:r>
              <a:t>https://github.com/statsclaw/statsclaw-codex/blob/main/README.md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 minutes. First-time users clone the exact class branch. Returning users switch and pull. Everyone creates a personal branch before inspecting or changing project files.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Workshop branch: https://github.com/kprinceing/workspace/tree/codex/afternoon-lab</a:t>
            </a:r>
          </a:p>
          <a:p xmlns:a="http://schemas.openxmlformats.org/drawingml/2006/main">
            <a:r>
              <a:t>https://git-scm.com/docs/git-clone</a:t>
            </a:r>
          </a:p>
          <a:p xmlns:a="http://schemas.openxmlformats.org/drawingml/2006/main">
            <a:r>
              <a:t>https://git-scm.com/docs/git-switch</a:t>
            </a:r>
          </a:p>
          <a:p xmlns:a="http://schemas.openxmlformats.org/drawingml/2006/main">
            <a:r>
              <a:t>https://git-scm.com/docs/git-pull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3 minutes. Ask students what evidence they would want for each mission. Keep answers at the level of design and provenance.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4 minutes. Have students restate treatment, unit, outcome, horizon, and estimand in their own words.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4 minutes. Let students name checks for row counts, uniqueness, missing keys, and file provenance.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8 minutes. Students submit the prompt and inspect the response. Ask them to challenge any unsupported inference.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7 minutes. Students draft the contract in plain language. Emphasize that a stop condition is an explicit decision rule, not a vague concern.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 minutes. Walk through the sequence once. Authorization means the proposed change has been explained and accepted before implementation.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8 minutes. Teams verify each gate against the supplied clean data. Require a file, field, or diagnostic for every claim.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 minutes. Each team gives one approval claim and its supporting evidence. Do not discuss whether the estimate is attractive.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2 minutes. Transition from prevention to forensics. Do not preview the nature or magnitude of the problem.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3 minutes. Take an initial vote without discussion. Record it for comparison with the final decision.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5 minutes. Ask teams to rank files by authority for treatment assignment, outcome construction, and provenance.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12 minutes. Let teams choose what to inspect next. Ask them to verify agent claims directly against files.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8 minutes. Collect competing hypotheses without resolving them. Require the next check to discriminate between alternatives.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8 minutes. Students use Git history to connect changes with stated reasons. Avoid explaining every command before they choose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7 minutes. Require a decision, decisive evidence, and one remaining uncertainty from every team before advancing.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10 minutes. Reveal one line at a time. Ask which design-contract gate each fact violates. The inherited analysis used program_participant even though offered_training remains available. The repair preserves the randomized ITT experiment and uses attendance only to diagnose take-up.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5 minutes. Return to the opening two missions. Ask students which step they are most likely to skip in their own work and how they will make it routine.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c3224c0f134c1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d0c1988c9284fd5" /><Relationship Type="http://schemas.openxmlformats.org/officeDocument/2006/relationships/slideLayout" Target="/ppt/slideLayouts/slideLayout1.xml" Id="R391bfa654aaf4d8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91bfa654aaf4d8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65474ccbdf435a" /><Relationship Type="http://schemas.openxmlformats.org/officeDocument/2006/relationships/notesSlide" Target="/ppt/notesSlides/notesSlide1.xml" Id="Re27d2e4e5fb442e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0c1bd455d94194" /><Relationship Type="http://schemas.openxmlformats.org/officeDocument/2006/relationships/notesSlide" Target="/ppt/notesSlides/notesSlide2.xml" Id="Rdda66291076c48c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22986163134ddc" /><Relationship Type="http://schemas.openxmlformats.org/officeDocument/2006/relationships/notesSlide" Target="/ppt/notesSlides/notesSlide3.xml" Id="R88ea8ebc71294a1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b8a0a0fdd94f87" /><Relationship Type="http://schemas.openxmlformats.org/officeDocument/2006/relationships/notesSlide" Target="/ppt/notesSlides/notesSlide4.xml" Id="R9a9f2b93e7db4c2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4bdb0edbe946f4" /><Relationship Type="http://schemas.openxmlformats.org/officeDocument/2006/relationships/notesSlide" Target="/ppt/notesSlides/notesSlide5.xml" Id="Ra14c5f6ca5c24f6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73293456a9422b" /><Relationship Type="http://schemas.openxmlformats.org/officeDocument/2006/relationships/notesSlide" Target="/ppt/notesSlides/notesSlide6.xml" Id="Ra29f7be4440042e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af31b5b4fa492f" /><Relationship Type="http://schemas.openxmlformats.org/officeDocument/2006/relationships/notesSlide" Target="/ppt/notesSlides/notesSlide7.xml" Id="Rc576572f1f8f405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4f0c506e9b478f" /><Relationship Type="http://schemas.openxmlformats.org/officeDocument/2006/relationships/notesSlide" Target="/ppt/notesSlides/notesSlide8.xml" Id="R22eced2587bc448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7ebb8bc3d847cd" /><Relationship Type="http://schemas.openxmlformats.org/officeDocument/2006/relationships/notesSlide" Target="/ppt/notesSlides/notesSlide9.xml" Id="R5a2c4ae5df4d446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e65b3247c34c26" /><Relationship Type="http://schemas.openxmlformats.org/officeDocument/2006/relationships/notesSlide" Target="/ppt/notesSlides/notesSlide10.xml" Id="R3c3939bddfa44bd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02204a8dd241a2" /><Relationship Type="http://schemas.openxmlformats.org/officeDocument/2006/relationships/notesSlide" Target="/ppt/notesSlides/notesSlide11.xml" Id="Rdc64a17acf6b4bf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6a20f4a7e7404d" /><Relationship Type="http://schemas.openxmlformats.org/officeDocument/2006/relationships/notesSlide" Target="/ppt/notesSlides/notesSlide12.xml" Id="Rfdafa1334421492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425fbdcda945e1" /><Relationship Type="http://schemas.openxmlformats.org/officeDocument/2006/relationships/notesSlide" Target="/ppt/notesSlides/notesSlide13.xml" Id="Rff964905abe14be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9f27fa147a4683" /><Relationship Type="http://schemas.openxmlformats.org/officeDocument/2006/relationships/notesSlide" Target="/ppt/notesSlides/notesSlide14.xml" Id="Re76ee6deb22a4fe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28182bc81d4852" /><Relationship Type="http://schemas.openxmlformats.org/officeDocument/2006/relationships/notesSlide" Target="/ppt/notesSlides/notesSlide15.xml" Id="R903ecc9697dc4e4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cfa9c48e484f00" /><Relationship Type="http://schemas.openxmlformats.org/officeDocument/2006/relationships/notesSlide" Target="/ppt/notesSlides/notesSlide16.xml" Id="R93e0ac2e54af42c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11ebea4b3d4be2" /><Relationship Type="http://schemas.openxmlformats.org/officeDocument/2006/relationships/notesSlide" Target="/ppt/notesSlides/notesSlide17.xml" Id="R14e047e8cbb5461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57ae2e27d44335" /><Relationship Type="http://schemas.openxmlformats.org/officeDocument/2006/relationships/notesSlide" Target="/ppt/notesSlides/notesSlide18.xml" Id="R6b1546fb929446f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e0a9dee80c4af7" /><Relationship Type="http://schemas.openxmlformats.org/officeDocument/2006/relationships/notesSlide" Target="/ppt/notesSlides/notesSlide19.xml" Id="Rdfce1dcd3b5a422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30eeb9bce94dce" /><Relationship Type="http://schemas.openxmlformats.org/officeDocument/2006/relationships/notesSlide" Target="/ppt/notesSlides/notesSlide20.xml" Id="R3199ebb89dcb475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8099b6153e46aa" /><Relationship Type="http://schemas.openxmlformats.org/officeDocument/2006/relationships/notesSlide" Target="/ppt/notesSlides/notesSlide21.xml" Id="Rf9dec3490a6540d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e4cad0fe08419d" /><Relationship Type="http://schemas.openxmlformats.org/officeDocument/2006/relationships/notesSlide" Target="/ppt/notesSlides/notesSlide22.xml" Id="R43819f333d044fc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3fe80cc0544f8f" /><Relationship Type="http://schemas.openxmlformats.org/officeDocument/2006/relationships/notesSlide" Target="/ppt/notesSlides/notesSlide23.xml" Id="Rfc63a149957b44a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bbfba4fdea497d" /><Relationship Type="http://schemas.openxmlformats.org/officeDocument/2006/relationships/notesSlide" Target="/ppt/notesSlides/notesSlide24.xml" Id="R6774f1ac8fd7420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22918454bb42ef" /><Relationship Type="http://schemas.openxmlformats.org/officeDocument/2006/relationships/notesSlide" Target="/ppt/notesSlides/notesSlide25.xml" Id="R3489b295500c411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291DA7A-8865-4991-9BAD-48DCD23EB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 / 25</a:t>
            </a:r>
          </a:p>
        </p:txBody>
      </p:sp>
      <p:sp>
        <p:nvSpPr>
          <p:cNvPr id="2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0D744CB4-7BE7-4F4B-A84C-1AF7F4382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71550"/>
            <a:ext cx="95250" cy="3733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3B2"/>
          </a:solidFill>
          <a:ln xmlns:a="http://schemas.openxmlformats.org/drawingml/2006/main" w="0">
            <a:solidFill>
              <a:srgbClr val="3333B2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ACE3125-F6FD-4CFF-9CA7-36EC040CC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143000"/>
            <a:ext cx="876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3333B2"/>
                </a:solidFill>
              </a:defRPr>
            </a:pPr>
            <a:r>
              <a:rPr sz="4350" b="1" i="0">
                <a:solidFill>
                  <a:srgbClr val="3333B2"/>
                </a:solidFill>
              </a:rPr>
              <a:t>Research Handoff Lab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B733FBB3-CFF4-4DC4-BE74-8B299375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24100"/>
            <a:ext cx="742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0" i="0">
                <a:solidFill>
                  <a:srgbClr val="17171C"/>
                </a:solidFill>
              </a:defRPr>
            </a:pPr>
            <a:r>
              <a:rPr sz="2850" b="0" i="0">
                <a:solidFill>
                  <a:srgbClr val="17171C"/>
                </a:solidFill>
              </a:rPr>
              <a:t>StatsClaw + Git</a:t>
            </a:r>
          </a:p>
        </p:txBody>
      </p:sp>
      <p:sp>
        <p:nvSpPr>
          <p:cNvPr id="5" name="tagline">
            <a:extLst xmlns:a="http://schemas.openxmlformats.org/drawingml/2006/main">
              <a:ext uri="{FF2B5EF4-FFF2-40B4-BE49-F238E27FC236}">
                <a16:creationId xmlns:a16="http://schemas.microsoft.com/office/drawing/2014/main" id="{D10AAE19-B336-4EB5-A910-46F08781A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38550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BF0040"/>
                </a:solidFill>
              </a:defRPr>
            </a:pPr>
            <a:r>
              <a:rPr sz="1950" b="1" i="0">
                <a:solidFill>
                  <a:srgbClr val="BF0040"/>
                </a:solidFill>
              </a:rPr>
              <a:t>Build a clean analysis. Then audit one that drifted.</a:t>
            </a:r>
          </a:p>
        </p:txBody>
      </p:sp>
    </p:spTree>
    <p:extLst>
      <p:ext uri="{BB962C8B-B14F-4D97-AF65-F5344CB8AC3E}">
        <p14:creationId xmlns:p14="http://schemas.microsoft.com/office/powerpoint/2010/main" val="5000758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EE74210-34C1-44E8-A317-5DF26C8B0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Git first: install and identify yourself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FBEFB195-C89F-4413-B589-9650F5198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067A5B4-92D9-445F-8A1B-11525D12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2 / 25</a:t>
            </a:r>
          </a:p>
        </p:txBody>
      </p:sp>
      <p:sp>
        <p:nvSpPr>
          <p:cNvPr id="4" name="mac-label">
            <a:extLst xmlns:a="http://schemas.openxmlformats.org/drawingml/2006/main">
              <a:ext uri="{FF2B5EF4-FFF2-40B4-BE49-F238E27FC236}">
                <a16:creationId xmlns:a16="http://schemas.microsoft.com/office/drawing/2014/main" id="{0C296704-36C3-4223-B31E-85F29D1B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525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macOS</a:t>
            </a:r>
          </a:p>
        </p:txBody>
      </p:sp>
      <p:sp>
        <p:nvSpPr>
          <p:cNvPr id="5" name="cmd-181">
            <a:extLst xmlns:a="http://schemas.openxmlformats.org/drawingml/2006/main">
              <a:ext uri="{FF2B5EF4-FFF2-40B4-BE49-F238E27FC236}">
                <a16:creationId xmlns:a16="http://schemas.microsoft.com/office/drawing/2014/main" id="{8CEB4615-49AD-46FC-B70C-4A6070E4F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24025"/>
            <a:ext cx="3143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brew install git</a:t>
            </a:r>
          </a:p>
        </p:txBody>
      </p:sp>
      <p:sp>
        <p:nvSpPr>
          <p:cNvPr id="6" name="win-label">
            <a:extLst xmlns:a="http://schemas.openxmlformats.org/drawingml/2006/main">
              <a:ext uri="{FF2B5EF4-FFF2-40B4-BE49-F238E27FC236}">
                <a16:creationId xmlns:a16="http://schemas.microsoft.com/office/drawing/2014/main" id="{84B4716F-5F45-41C0-A3A7-844F2878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3525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Windows</a:t>
            </a:r>
          </a:p>
        </p:txBody>
      </p:sp>
      <p:sp>
        <p:nvSpPr>
          <p:cNvPr id="7" name="win-note">
            <a:extLst xmlns:a="http://schemas.openxmlformats.org/drawingml/2006/main">
              <a:ext uri="{FF2B5EF4-FFF2-40B4-BE49-F238E27FC236}">
                <a16:creationId xmlns:a16="http://schemas.microsoft.com/office/drawing/2014/main" id="{CEDDE575-5914-41A5-8B1C-1C161524F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145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7171C"/>
                </a:solidFill>
              </a:defRPr>
            </a:pPr>
            <a:r>
              <a:rPr sz="1350" b="0" i="0">
                <a:solidFill>
                  <a:srgbClr val="17171C"/>
                </a:solidFill>
              </a:rPr>
              <a:t>Git for Windows, or:</a:t>
            </a:r>
          </a:p>
        </p:txBody>
      </p:sp>
      <p:sp>
        <p:nvSpPr>
          <p:cNvPr id="8" name="win-command">
            <a:extLst xmlns:a="http://schemas.openxmlformats.org/drawingml/2006/main">
              <a:ext uri="{FF2B5EF4-FFF2-40B4-BE49-F238E27FC236}">
                <a16:creationId xmlns:a16="http://schemas.microsoft.com/office/drawing/2014/main" id="{B89F9830-AC9A-4E57-9507-0FD2D464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66925"/>
            <a:ext cx="4191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winget install --id Git.Git -e</a:t>
            </a:r>
          </a:p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--source winget</a:t>
            </a:r>
          </a:p>
        </p:txBody>
      </p:sp>
      <p:sp>
        <p:nvSpPr>
          <p:cNvPr id="9" name="linux-label">
            <a:extLst xmlns:a="http://schemas.openxmlformats.org/drawingml/2006/main">
              <a:ext uri="{FF2B5EF4-FFF2-40B4-BE49-F238E27FC236}">
                <a16:creationId xmlns:a16="http://schemas.microsoft.com/office/drawing/2014/main" id="{5D6DFE13-8850-4A5F-B0DF-42A06B37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3525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Linux</a:t>
            </a:r>
          </a:p>
        </p:txBody>
      </p:sp>
      <p:sp>
        <p:nvSpPr>
          <p:cNvPr id="10" name="linux-command">
            <a:extLst xmlns:a="http://schemas.openxmlformats.org/drawingml/2006/main">
              <a:ext uri="{FF2B5EF4-FFF2-40B4-BE49-F238E27FC236}">
                <a16:creationId xmlns:a16="http://schemas.microsoft.com/office/drawing/2014/main" id="{674D5212-671C-466F-BBA6-0BE89FDA7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724025"/>
            <a:ext cx="2714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sudo apt install git</a:t>
            </a:r>
          </a:p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or</a:t>
            </a:r>
          </a:p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sudo dnf install git</a:t>
            </a:r>
          </a:p>
        </p:txBody>
      </p:sp>
      <p:sp>
        <p:nvSpPr>
          <p:cNvPr id="11" name="rule-78-310">
            <a:extLst xmlns:a="http://schemas.openxmlformats.org/drawingml/2006/main">
              <a:ext uri="{FF2B5EF4-FFF2-40B4-BE49-F238E27FC236}">
                <a16:creationId xmlns:a16="http://schemas.microsoft.com/office/drawing/2014/main" id="{D72870C1-70F3-48EF-B111-83A5FA999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10648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2" name="verify-label">
            <a:extLst xmlns:a="http://schemas.openxmlformats.org/drawingml/2006/main">
              <a:ext uri="{FF2B5EF4-FFF2-40B4-BE49-F238E27FC236}">
                <a16:creationId xmlns:a16="http://schemas.microsoft.com/office/drawing/2014/main" id="{52B30402-2717-4AE8-9A85-AAC598CC5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VERIFY</a:t>
            </a:r>
          </a:p>
        </p:txBody>
      </p:sp>
      <p:sp>
        <p:nvSpPr>
          <p:cNvPr id="13" name="cmd-380">
            <a:extLst xmlns:a="http://schemas.openxmlformats.org/drawingml/2006/main">
              <a:ext uri="{FF2B5EF4-FFF2-40B4-BE49-F238E27FC236}">
                <a16:creationId xmlns:a16="http://schemas.microsoft.com/office/drawing/2014/main" id="{A97F0B1B-E225-42BE-B083-F1721C2F3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0"/>
            <a:ext cx="3429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git --version</a:t>
            </a:r>
          </a:p>
        </p:txBody>
      </p:sp>
      <p:sp>
        <p:nvSpPr>
          <p:cNvPr id="14" name="identity-label">
            <a:extLst xmlns:a="http://schemas.openxmlformats.org/drawingml/2006/main">
              <a:ext uri="{FF2B5EF4-FFF2-40B4-BE49-F238E27FC236}">
                <a16:creationId xmlns:a16="http://schemas.microsoft.com/office/drawing/2014/main" id="{47EA1764-27B9-43F8-BF5A-4108B786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433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IDENTIFY YOUR COMMITS</a:t>
            </a:r>
          </a:p>
        </p:txBody>
      </p:sp>
      <p:sp>
        <p:nvSpPr>
          <p:cNvPr id="15" name="cmd-478">
            <a:extLst xmlns:a="http://schemas.openxmlformats.org/drawingml/2006/main">
              <a:ext uri="{FF2B5EF4-FFF2-40B4-BE49-F238E27FC236}">
                <a16:creationId xmlns:a16="http://schemas.microsoft.com/office/drawing/2014/main" id="{E95BEC0F-1039-405D-8510-66D66D00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52950"/>
            <a:ext cx="8572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git config --global user.name "Your Name"</a:t>
            </a:r>
          </a:p>
        </p:txBody>
      </p:sp>
      <p:sp>
        <p:nvSpPr>
          <p:cNvPr id="16" name="cmd-525">
            <a:extLst xmlns:a="http://schemas.openxmlformats.org/drawingml/2006/main">
              <a:ext uri="{FF2B5EF4-FFF2-40B4-BE49-F238E27FC236}">
                <a16:creationId xmlns:a16="http://schemas.microsoft.com/office/drawing/2014/main" id="{FA278BE6-57A5-44C2-8535-A8AF17A9E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00625"/>
            <a:ext cx="8572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git config --global user.email "you@example.com"</a:t>
            </a:r>
          </a:p>
        </p:txBody>
      </p:sp>
      <p:sp>
        <p:nvSpPr>
          <p:cNvPr id="17" name="takeaway">
            <a:extLst xmlns:a="http://schemas.openxmlformats.org/drawingml/2006/main">
              <a:ext uri="{FF2B5EF4-FFF2-40B4-BE49-F238E27FC236}">
                <a16:creationId xmlns:a16="http://schemas.microsoft.com/office/drawing/2014/main" id="{A5A03837-A4AF-4465-BD48-BECD5126B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1500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BF0040"/>
                </a:solidFill>
              </a:defRPr>
            </a:pPr>
            <a:r>
              <a:rPr sz="1725" b="1" i="0">
                <a:solidFill>
                  <a:srgbClr val="BF0040"/>
                </a:solidFill>
              </a:rPr>
              <a:t>Use the name and email you want attached to research history.</a:t>
            </a:r>
          </a:p>
        </p:txBody>
      </p:sp>
    </p:spTree>
    <p:extLst>
      <p:ext uri="{BB962C8B-B14F-4D97-AF65-F5344CB8AC3E}">
        <p14:creationId xmlns:p14="http://schemas.microsoft.com/office/powerpoint/2010/main" val="62110407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918398A-771F-45F0-8736-33308E969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Install Claude Code, then check the environment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2E284903-AEA2-4669-BD11-7AC234D84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22B4440-99AC-435B-A1E9-865F191D2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3 / 25</a:t>
            </a:r>
          </a:p>
        </p:txBody>
      </p:sp>
      <p:sp>
        <p:nvSpPr>
          <p:cNvPr id="4" name="native-label">
            <a:extLst xmlns:a="http://schemas.openxmlformats.org/drawingml/2006/main">
              <a:ext uri="{FF2B5EF4-FFF2-40B4-BE49-F238E27FC236}">
                <a16:creationId xmlns:a16="http://schemas.microsoft.com/office/drawing/2014/main" id="{963CD2E0-BDEB-402A-8F77-D60C7CCFC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52550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macOS / Linux / WSL — native installer</a:t>
            </a:r>
          </a:p>
        </p:txBody>
      </p:sp>
      <p:sp>
        <p:nvSpPr>
          <p:cNvPr id="5" name="native-command">
            <a:extLst xmlns:a="http://schemas.openxmlformats.org/drawingml/2006/main">
              <a:ext uri="{FF2B5EF4-FFF2-40B4-BE49-F238E27FC236}">
                <a16:creationId xmlns:a16="http://schemas.microsoft.com/office/drawing/2014/main" id="{39B35EAC-8EF5-47FA-BAA4-D2E4B9302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5260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curl -fsSL https://claude.ai/install.sh | bash</a:t>
            </a:r>
          </a:p>
        </p:txBody>
      </p:sp>
      <p:sp>
        <p:nvSpPr>
          <p:cNvPr id="6" name="brew-label">
            <a:extLst xmlns:a="http://schemas.openxmlformats.org/drawingml/2006/main">
              <a:ext uri="{FF2B5EF4-FFF2-40B4-BE49-F238E27FC236}">
                <a16:creationId xmlns:a16="http://schemas.microsoft.com/office/drawing/2014/main" id="{AEFAE963-D579-4C19-9AAF-8C719D3E7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003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macOS — Homebrew alternative</a:t>
            </a:r>
          </a:p>
        </p:txBody>
      </p:sp>
      <p:sp>
        <p:nvSpPr>
          <p:cNvPr id="7" name="brew-command">
            <a:extLst xmlns:a="http://schemas.openxmlformats.org/drawingml/2006/main">
              <a:ext uri="{FF2B5EF4-FFF2-40B4-BE49-F238E27FC236}">
                <a16:creationId xmlns:a16="http://schemas.microsoft.com/office/drawing/2014/main" id="{40E10BB8-FE4E-4B5B-BE65-9527FF98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brew install --cask claude-code</a:t>
            </a:r>
          </a:p>
        </p:txBody>
      </p:sp>
      <p:sp>
        <p:nvSpPr>
          <p:cNvPr id="8" name="windows-label">
            <a:extLst xmlns:a="http://schemas.openxmlformats.org/drawingml/2006/main">
              <a:ext uri="{FF2B5EF4-FFF2-40B4-BE49-F238E27FC236}">
                <a16:creationId xmlns:a16="http://schemas.microsoft.com/office/drawing/2014/main" id="{C5067069-0D2D-438C-809B-B6365033F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003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Windows — WinGet</a:t>
            </a:r>
          </a:p>
        </p:txBody>
      </p:sp>
      <p:sp>
        <p:nvSpPr>
          <p:cNvPr id="9" name="windows-command">
            <a:extLst xmlns:a="http://schemas.openxmlformats.org/drawingml/2006/main">
              <a:ext uri="{FF2B5EF4-FFF2-40B4-BE49-F238E27FC236}">
                <a16:creationId xmlns:a16="http://schemas.microsoft.com/office/drawing/2014/main" id="{47A4E3E3-B26C-4688-AF26-CEC17FD4B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003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0000FF"/>
                </a:solidFill>
              </a:defRPr>
            </a:pPr>
            <a:r>
              <a:rPr sz="1350" b="0" i="0">
                <a:solidFill>
                  <a:srgbClr val="0000FF"/>
                </a:solidFill>
              </a:rPr>
              <a:t>winget install Anthropic.ClaudeCode</a:t>
            </a:r>
          </a:p>
        </p:txBody>
      </p:sp>
      <p:sp>
        <p:nvSpPr>
          <p:cNvPr id="10" name="rule-78-363">
            <a:extLst xmlns:a="http://schemas.openxmlformats.org/drawingml/2006/main">
              <a:ext uri="{FF2B5EF4-FFF2-40B4-BE49-F238E27FC236}">
                <a16:creationId xmlns:a16="http://schemas.microsoft.com/office/drawing/2014/main" id="{2826A01A-1156-4C09-B27A-EB4964A29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57575"/>
            <a:ext cx="10648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1" name="verify-label">
            <a:extLst xmlns:a="http://schemas.openxmlformats.org/drawingml/2006/main">
              <a:ext uri="{FF2B5EF4-FFF2-40B4-BE49-F238E27FC236}">
                <a16:creationId xmlns:a16="http://schemas.microsoft.com/office/drawing/2014/main" id="{3F6B4D68-5651-447B-BF03-61E0555A6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43325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VERIFY + START</a:t>
            </a:r>
          </a:p>
        </p:txBody>
      </p:sp>
      <p:sp>
        <p:nvSpPr>
          <p:cNvPr id="12" name="verify-command">
            <a:extLst xmlns:a="http://schemas.openxmlformats.org/drawingml/2006/main">
              <a:ext uri="{FF2B5EF4-FFF2-40B4-BE49-F238E27FC236}">
                <a16:creationId xmlns:a16="http://schemas.microsoft.com/office/drawing/2014/main" id="{DC0C317E-FAC9-416C-B1A4-4F63DD0BF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7195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claude --version     claude doctor     claude</a:t>
            </a:r>
          </a:p>
        </p:txBody>
      </p:sp>
      <p:sp>
        <p:nvSpPr>
          <p:cNvPr id="13" name="windows-note">
            <a:extLst xmlns:a="http://schemas.openxmlformats.org/drawingml/2006/main">
              <a:ext uri="{FF2B5EF4-FFF2-40B4-BE49-F238E27FC236}">
                <a16:creationId xmlns:a16="http://schemas.microsoft.com/office/drawing/2014/main" id="{F10F1FD6-09E1-4E9B-BFDA-A8DF1AF2B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101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7171C"/>
                </a:solidFill>
              </a:defRPr>
            </a:pPr>
            <a:r>
              <a:rPr sz="1725" b="0" i="0">
                <a:solidFill>
                  <a:srgbClr val="17171C"/>
                </a:solidFill>
              </a:rPr>
              <a:t>On Windows, use native Windows with Git for Windows—or run Claude Code inside WSL.</a:t>
            </a:r>
          </a:p>
        </p:txBody>
      </p:sp>
      <p:sp>
        <p:nvSpPr>
          <p:cNvPr id="14" name="takeaway">
            <a:extLst xmlns:a="http://schemas.openxmlformats.org/drawingml/2006/main">
              <a:ext uri="{FF2B5EF4-FFF2-40B4-BE49-F238E27FC236}">
                <a16:creationId xmlns:a16="http://schemas.microsoft.com/office/drawing/2014/main" id="{1DAF176C-9F66-4752-A1D5-15593CDD7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53100"/>
            <a:ext cx="666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BF0040"/>
                </a:solidFill>
              </a:defRPr>
            </a:pPr>
            <a:r>
              <a:rPr sz="1725" b="1" i="0">
                <a:solidFill>
                  <a:srgbClr val="BF0040"/>
                </a:solidFill>
              </a:rPr>
              <a:t>Launch from the project directory.</a:t>
            </a:r>
          </a:p>
        </p:txBody>
      </p:sp>
    </p:spTree>
    <p:extLst>
      <p:ext uri="{BB962C8B-B14F-4D97-AF65-F5344CB8AC3E}">
        <p14:creationId xmlns:p14="http://schemas.microsoft.com/office/powerpoint/2010/main" val="555080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50ACDAA-3442-4333-8328-D976EA705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Install Codex CLI, then launch it in the project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2F150688-E6B1-4BCF-873F-E6932C35E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296A355-2EF4-4EF4-BAEC-BABCBF3F1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4 / 25</a:t>
            </a:r>
          </a:p>
        </p:txBody>
      </p:sp>
      <p:sp>
        <p:nvSpPr>
          <p:cNvPr id="4" name="unix-label">
            <a:extLst xmlns:a="http://schemas.openxmlformats.org/drawingml/2006/main">
              <a:ext uri="{FF2B5EF4-FFF2-40B4-BE49-F238E27FC236}">
                <a16:creationId xmlns:a16="http://schemas.microsoft.com/office/drawing/2014/main" id="{2366AAB8-507D-44AF-BB52-A4054199E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5255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macOS / Linux — standalone installer</a:t>
            </a:r>
          </a:p>
        </p:txBody>
      </p:sp>
      <p:sp>
        <p:nvSpPr>
          <p:cNvPr id="5" name="unix-command">
            <a:extLst xmlns:a="http://schemas.openxmlformats.org/drawingml/2006/main">
              <a:ext uri="{FF2B5EF4-FFF2-40B4-BE49-F238E27FC236}">
                <a16:creationId xmlns:a16="http://schemas.microsoft.com/office/drawing/2014/main" id="{B4B8EA72-29A7-4104-A168-42A7F3B10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526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curl -fsSL https://chatgpt.com/codex/install.sh | sh</a:t>
            </a:r>
          </a:p>
        </p:txBody>
      </p:sp>
      <p:sp>
        <p:nvSpPr>
          <p:cNvPr id="6" name="windows-label">
            <a:extLst xmlns:a="http://schemas.openxmlformats.org/drawingml/2006/main">
              <a:ext uri="{FF2B5EF4-FFF2-40B4-BE49-F238E27FC236}">
                <a16:creationId xmlns:a16="http://schemas.microsoft.com/office/drawing/2014/main" id="{247111F7-9CEE-4FAF-A9AB-ADA9C7901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003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Windows PowerShell</a:t>
            </a:r>
          </a:p>
        </p:txBody>
      </p:sp>
      <p:sp>
        <p:nvSpPr>
          <p:cNvPr id="7" name="windows-command">
            <a:extLst xmlns:a="http://schemas.openxmlformats.org/drawingml/2006/main">
              <a:ext uri="{FF2B5EF4-FFF2-40B4-BE49-F238E27FC236}">
                <a16:creationId xmlns:a16="http://schemas.microsoft.com/office/drawing/2014/main" id="{981C3C35-E2CE-4A5A-8213-8B15DD811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0000FF"/>
                </a:solidFill>
              </a:defRPr>
            </a:pPr>
            <a:r>
              <a:rPr sz="1275" b="0" i="0">
                <a:solidFill>
                  <a:srgbClr val="0000FF"/>
                </a:solidFill>
              </a:rPr>
              <a:t>powershell -ExecutionPolicy ByPass -c "irm https://chatgpt.com/codex/install.ps1 | iex"</a:t>
            </a:r>
          </a:p>
        </p:txBody>
      </p:sp>
      <p:sp>
        <p:nvSpPr>
          <p:cNvPr id="8" name="rule-78-363">
            <a:extLst xmlns:a="http://schemas.openxmlformats.org/drawingml/2006/main">
              <a:ext uri="{FF2B5EF4-FFF2-40B4-BE49-F238E27FC236}">
                <a16:creationId xmlns:a16="http://schemas.microsoft.com/office/drawing/2014/main" id="{71747860-E4CF-4AB0-BCAC-A48D1CDA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57575"/>
            <a:ext cx="10648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9" name="alternatives-label">
            <a:extLst xmlns:a="http://schemas.openxmlformats.org/drawingml/2006/main">
              <a:ext uri="{FF2B5EF4-FFF2-40B4-BE49-F238E27FC236}">
                <a16:creationId xmlns:a16="http://schemas.microsoft.com/office/drawing/2014/main" id="{3864057B-A20B-4ECC-86B7-5D0DF9009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433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PACKAGE-MANAGER ALTERNATIVES</a:t>
            </a:r>
          </a:p>
        </p:txBody>
      </p:sp>
      <p:sp>
        <p:nvSpPr>
          <p:cNvPr id="10" name="npm-command">
            <a:extLst xmlns:a="http://schemas.openxmlformats.org/drawingml/2006/main">
              <a:ext uri="{FF2B5EF4-FFF2-40B4-BE49-F238E27FC236}">
                <a16:creationId xmlns:a16="http://schemas.microsoft.com/office/drawing/2014/main" id="{021610AC-7F8F-48FA-AB10-6487DB742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4337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npm install -g @openai/codex</a:t>
            </a:r>
          </a:p>
        </p:txBody>
      </p:sp>
      <p:sp>
        <p:nvSpPr>
          <p:cNvPr id="11" name="brew-command">
            <a:extLst xmlns:a="http://schemas.openxmlformats.org/drawingml/2006/main">
              <a:ext uri="{FF2B5EF4-FFF2-40B4-BE49-F238E27FC236}">
                <a16:creationId xmlns:a16="http://schemas.microsoft.com/office/drawing/2014/main" id="{D310CC99-8EF5-48E0-8424-D10E3DD31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14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brew install --cask codex</a:t>
            </a:r>
          </a:p>
        </p:txBody>
      </p:sp>
      <p:sp>
        <p:nvSpPr>
          <p:cNvPr id="12" name="verify-label">
            <a:extLst xmlns:a="http://schemas.openxmlformats.org/drawingml/2006/main">
              <a:ext uri="{FF2B5EF4-FFF2-40B4-BE49-F238E27FC236}">
                <a16:creationId xmlns:a16="http://schemas.microsoft.com/office/drawing/2014/main" id="{234F2A00-0AC6-4B5C-BA76-BC1867DB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577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VERIFY + START</a:t>
            </a:r>
          </a:p>
        </p:txBody>
      </p:sp>
      <p:sp>
        <p:nvSpPr>
          <p:cNvPr id="13" name="verify-command">
            <a:extLst xmlns:a="http://schemas.openxmlformats.org/drawingml/2006/main">
              <a:ext uri="{FF2B5EF4-FFF2-40B4-BE49-F238E27FC236}">
                <a16:creationId xmlns:a16="http://schemas.microsoft.com/office/drawing/2014/main" id="{BD231E67-DA60-4464-8476-7282922C3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57800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codex --version          codex</a:t>
            </a:r>
          </a:p>
        </p:txBody>
      </p:sp>
      <p:sp>
        <p:nvSpPr>
          <p:cNvPr id="14" name="takeaway">
            <a:extLst xmlns:a="http://schemas.openxmlformats.org/drawingml/2006/main">
              <a:ext uri="{FF2B5EF4-FFF2-40B4-BE49-F238E27FC236}">
                <a16:creationId xmlns:a16="http://schemas.microsoft.com/office/drawing/2014/main" id="{F1CE3CC6-FD26-4307-99B1-5C3C9923A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67400"/>
            <a:ext cx="971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F0040"/>
                </a:solidFill>
              </a:defRPr>
            </a:pPr>
            <a:r>
              <a:rPr sz="1650" b="1" i="0">
                <a:solidFill>
                  <a:srgbClr val="BF0040"/>
                </a:solidFill>
              </a:rPr>
              <a:t>Use one installation path; duplicate installs can make PATH ambiguous.</a:t>
            </a:r>
          </a:p>
        </p:txBody>
      </p:sp>
    </p:spTree>
    <p:extLst>
      <p:ext uri="{BB962C8B-B14F-4D97-AF65-F5344CB8AC3E}">
        <p14:creationId xmlns:p14="http://schemas.microsoft.com/office/powerpoint/2010/main" val="17479663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0268398-86DC-4F71-90BE-C3B37C95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CC Switch: configure providers safely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A1723E9D-B06B-46AB-8842-7BA5938AE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1F4271F-B167-4277-8969-9B37F5D0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5 / 25</a:t>
            </a:r>
          </a:p>
        </p:txBody>
      </p:sp>
      <p:sp>
        <p:nvSpPr>
          <p:cNvPr id="4" name="mac-label">
            <a:extLst xmlns:a="http://schemas.openxmlformats.org/drawingml/2006/main">
              <a:ext uri="{FF2B5EF4-FFF2-40B4-BE49-F238E27FC236}">
                <a16:creationId xmlns:a16="http://schemas.microsoft.com/office/drawing/2014/main" id="{84139826-6241-4E78-BAC4-159205255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335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macOS</a:t>
            </a:r>
          </a:p>
        </p:txBody>
      </p:sp>
      <p:sp>
        <p:nvSpPr>
          <p:cNvPr id="5" name="mac-command">
            <a:extLst xmlns:a="http://schemas.openxmlformats.org/drawingml/2006/main">
              <a:ext uri="{FF2B5EF4-FFF2-40B4-BE49-F238E27FC236}">
                <a16:creationId xmlns:a16="http://schemas.microsoft.com/office/drawing/2014/main" id="{5172E3CE-20C3-437A-852B-741306A19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240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0000FF"/>
                </a:solidFill>
              </a:defRPr>
            </a:pPr>
            <a:r>
              <a:rPr sz="1350" b="0" i="0">
                <a:solidFill>
                  <a:srgbClr val="0000FF"/>
                </a:solidFill>
              </a:rPr>
              <a:t>brew install --cask cc-switch</a:t>
            </a:r>
          </a:p>
        </p:txBody>
      </p:sp>
      <p:sp>
        <p:nvSpPr>
          <p:cNvPr id="6" name="win-label">
            <a:extLst xmlns:a="http://schemas.openxmlformats.org/drawingml/2006/main">
              <a:ext uri="{FF2B5EF4-FFF2-40B4-BE49-F238E27FC236}">
                <a16:creationId xmlns:a16="http://schemas.microsoft.com/office/drawing/2014/main" id="{6E5AEF0F-AE26-49C8-8116-6B6CCCF79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3335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Windows</a:t>
            </a:r>
          </a:p>
        </p:txBody>
      </p:sp>
      <p:sp>
        <p:nvSpPr>
          <p:cNvPr id="7" name="win-copy">
            <a:extLst xmlns:a="http://schemas.openxmlformats.org/drawingml/2006/main">
              <a:ext uri="{FF2B5EF4-FFF2-40B4-BE49-F238E27FC236}">
                <a16:creationId xmlns:a16="http://schemas.microsoft.com/office/drawing/2014/main" id="{5827F280-F003-4AEF-9CF2-BB6093DC6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724025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171C"/>
                </a:solidFill>
              </a:defRPr>
            </a:pPr>
            <a:r>
              <a:rPr sz="1500" b="0" i="0">
                <a:solidFill>
                  <a:srgbClr val="17171C"/>
                </a:solidFill>
              </a:rPr>
              <a:t>MSI or Portable ZIP from Releases</a:t>
            </a:r>
          </a:p>
        </p:txBody>
      </p:sp>
      <p:sp>
        <p:nvSpPr>
          <p:cNvPr id="8" name="linux-label">
            <a:extLst xmlns:a="http://schemas.openxmlformats.org/drawingml/2006/main">
              <a:ext uri="{FF2B5EF4-FFF2-40B4-BE49-F238E27FC236}">
                <a16:creationId xmlns:a16="http://schemas.microsoft.com/office/drawing/2014/main" id="{FD6CBAE2-CC73-4704-BA21-FD8CC2D98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3335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Linux</a:t>
            </a:r>
          </a:p>
        </p:txBody>
      </p:sp>
      <p:sp>
        <p:nvSpPr>
          <p:cNvPr id="9" name="linux-copy">
            <a:extLst xmlns:a="http://schemas.openxmlformats.org/drawingml/2006/main">
              <a:ext uri="{FF2B5EF4-FFF2-40B4-BE49-F238E27FC236}">
                <a16:creationId xmlns:a16="http://schemas.microsoft.com/office/drawing/2014/main" id="{B7D3B064-D04E-453D-AF95-A93454A3B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72402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171C"/>
                </a:solidFill>
              </a:defRPr>
            </a:pPr>
            <a:r>
              <a:rPr sz="1500" b="0" i="0">
                <a:solidFill>
                  <a:srgbClr val="17171C"/>
                </a:solidFill>
              </a:rPr>
              <a:t>.deb / .rpm / AppImage</a:t>
            </a:r>
          </a:p>
        </p:txBody>
      </p:sp>
      <p:sp>
        <p:nvSpPr>
          <p:cNvPr id="10" name="rule-78-242">
            <a:extLst xmlns:a="http://schemas.openxmlformats.org/drawingml/2006/main">
              <a:ext uri="{FF2B5EF4-FFF2-40B4-BE49-F238E27FC236}">
                <a16:creationId xmlns:a16="http://schemas.microsoft.com/office/drawing/2014/main" id="{C7369055-F9A3-4BEE-9BDD-CF010120E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10648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1" name="workflow-label">
            <a:extLst xmlns:a="http://schemas.openxmlformats.org/drawingml/2006/main">
              <a:ext uri="{FF2B5EF4-FFF2-40B4-BE49-F238E27FC236}">
                <a16:creationId xmlns:a16="http://schemas.microsoft.com/office/drawing/2014/main" id="{E8091EE5-B45D-4E90-AD91-D2FF00B6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908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FIRST LAUNCH</a:t>
            </a:r>
          </a:p>
        </p:txBody>
      </p:sp>
      <p:sp>
        <p:nvSpPr>
          <p:cNvPr id="12" name="workflow">
            <a:extLst xmlns:a="http://schemas.openxmlformats.org/drawingml/2006/main">
              <a:ext uri="{FF2B5EF4-FFF2-40B4-BE49-F238E27FC236}">
                <a16:creationId xmlns:a16="http://schemas.microsoft.com/office/drawing/2014/main" id="{AEE41DD6-42E6-4E61-A292-EA4F738C9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7171C"/>
                </a:solidFill>
              </a:defRPr>
            </a:pPr>
            <a:r>
              <a:rPr sz="1800" b="1" i="0">
                <a:solidFill>
                  <a:srgbClr val="17171C"/>
                </a:solidFill>
              </a:rPr>
              <a:t>Import existing configs   →   Add provider   →   Enable   →   Restart the relevant CLI</a:t>
            </a:r>
          </a:p>
        </p:txBody>
      </p:sp>
      <p:sp>
        <p:nvSpPr>
          <p:cNvPr id="13" name="restart-note">
            <a:extLst xmlns:a="http://schemas.openxmlformats.org/drawingml/2006/main">
              <a:ext uri="{FF2B5EF4-FFF2-40B4-BE49-F238E27FC236}">
                <a16:creationId xmlns:a16="http://schemas.microsoft.com/office/drawing/2014/main" id="{F6721983-4DD9-43B2-BBDD-D8714149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29025"/>
            <a:ext cx="1009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C5C69"/>
                </a:solidFill>
              </a:defRPr>
            </a:pPr>
            <a:r>
              <a:rPr sz="1575" b="0" i="0">
                <a:solidFill>
                  <a:srgbClr val="5C5C69"/>
                </a:solidFill>
              </a:rPr>
              <a:t>Claude Code can hot-switch; restart other relevant CLI tools when prompted.</a:t>
            </a:r>
          </a:p>
        </p:txBody>
      </p:sp>
      <p:sp>
        <p:nvSpPr>
          <p:cNvPr id="14" name="safety-band">
            <a:extLst xmlns:a="http://schemas.openxmlformats.org/drawingml/2006/main">
              <a:ext uri="{FF2B5EF4-FFF2-40B4-BE49-F238E27FC236}">
                <a16:creationId xmlns:a16="http://schemas.microsoft.com/office/drawing/2014/main" id="{05CF54DF-9A7E-4247-8AB4-B29FB93E3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29125"/>
            <a:ext cx="106489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afety-title">
            <a:extLst xmlns:a="http://schemas.openxmlformats.org/drawingml/2006/main">
              <a:ext uri="{FF2B5EF4-FFF2-40B4-BE49-F238E27FC236}">
                <a16:creationId xmlns:a16="http://schemas.microsoft.com/office/drawing/2014/main" id="{C7617120-E619-46FB-AF39-90227095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00575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FF0000"/>
                </a:solidFill>
              </a:defRPr>
            </a:pPr>
            <a:r>
              <a:rPr sz="1575" b="1" i="0">
                <a:solidFill>
                  <a:srgbClr val="FF0000"/>
                </a:solidFill>
              </a:rPr>
              <a:t>INSTALL ONLY FROM OFFICIAL CHANNELS</a:t>
            </a:r>
          </a:p>
        </p:txBody>
      </p:sp>
      <p:sp>
        <p:nvSpPr>
          <p:cNvPr id="16" name="official">
            <a:extLst xmlns:a="http://schemas.openxmlformats.org/drawingml/2006/main">
              <a:ext uri="{FF2B5EF4-FFF2-40B4-BE49-F238E27FC236}">
                <a16:creationId xmlns:a16="http://schemas.microsoft.com/office/drawing/2014/main" id="{F457CC3B-82B6-46DD-9702-E512EC09F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81575"/>
            <a:ext cx="885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github.com/farion1231/cc-switch   •   ccswitch.io</a:t>
            </a:r>
          </a:p>
        </p:txBody>
      </p:sp>
      <p:sp>
        <p:nvSpPr>
          <p:cNvPr id="17" name="keys">
            <a:extLst xmlns:a="http://schemas.openxmlformats.org/drawingml/2006/main">
              <a:ext uri="{FF2B5EF4-FFF2-40B4-BE49-F238E27FC236}">
                <a16:creationId xmlns:a16="http://schemas.microsoft.com/office/drawing/2014/main" id="{AAF66921-6F39-4DE4-8C9E-F8EB960F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530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0000"/>
                </a:solidFill>
              </a:defRPr>
            </a:pPr>
            <a:r>
              <a:rPr sz="1650" b="1" i="0">
                <a:solidFill>
                  <a:srgbClr val="FF0000"/>
                </a:solidFill>
              </a:rPr>
              <a:t>Never commit API keys or provider credentials.</a:t>
            </a:r>
          </a:p>
        </p:txBody>
      </p:sp>
    </p:spTree>
    <p:extLst>
      <p:ext uri="{BB962C8B-B14F-4D97-AF65-F5344CB8AC3E}">
        <p14:creationId xmlns:p14="http://schemas.microsoft.com/office/powerpoint/2010/main" val="188905496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7CC3EFF-A056-4A6E-939E-372F0C319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A 90-second setup check before the lab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50E4AFBA-9383-41F7-9AD0-084CE33D6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DD726E1-F42D-4E0C-85B9-FBB56B742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6 / 25</a:t>
            </a:r>
          </a:p>
        </p:txBody>
      </p:sp>
      <p:sp>
        <p:nvSpPr>
          <p:cNvPr id="4" name="check1">
            <a:extLst xmlns:a="http://schemas.openxmlformats.org/drawingml/2006/main">
              <a:ext uri="{FF2B5EF4-FFF2-40B4-BE49-F238E27FC236}">
                <a16:creationId xmlns:a16="http://schemas.microsoft.com/office/drawing/2014/main" id="{63E45621-E8DE-4681-A65C-CF3363E7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52550"/>
            <a:ext cx="457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3333B2"/>
                </a:solidFill>
              </a:defRPr>
            </a:pPr>
            <a:r>
              <a:rPr sz="2400" b="1" i="0">
                <a:solidFill>
                  <a:srgbClr val="3333B2"/>
                </a:solidFill>
              </a:rPr>
              <a:t>1</a:t>
            </a:r>
          </a:p>
        </p:txBody>
      </p:sp>
      <p:sp>
        <p:nvSpPr>
          <p:cNvPr id="5" name="check1-command">
            <a:extLst xmlns:a="http://schemas.openxmlformats.org/drawingml/2006/main">
              <a:ext uri="{FF2B5EF4-FFF2-40B4-BE49-F238E27FC236}">
                <a16:creationId xmlns:a16="http://schemas.microsoft.com/office/drawing/2014/main" id="{D97A58F2-595E-41A0-8A45-0EB9B1C67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381125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0000FF"/>
                </a:solidFill>
              </a:defRPr>
            </a:pPr>
            <a:r>
              <a:rPr sz="1575" b="0" i="0">
                <a:solidFill>
                  <a:srgbClr val="0000FF"/>
                </a:solidFill>
              </a:rPr>
              <a:t>git --version    claude --version    codex --version</a:t>
            </a:r>
          </a:p>
        </p:txBody>
      </p:sp>
      <p:sp>
        <p:nvSpPr>
          <p:cNvPr id="6" name="check2">
            <a:extLst xmlns:a="http://schemas.openxmlformats.org/drawingml/2006/main">
              <a:ext uri="{FF2B5EF4-FFF2-40B4-BE49-F238E27FC236}">
                <a16:creationId xmlns:a16="http://schemas.microsoft.com/office/drawing/2014/main" id="{8AF66662-4043-434C-B010-94AB11F61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43125"/>
            <a:ext cx="457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3333B2"/>
                </a:solidFill>
              </a:defRPr>
            </a:pPr>
            <a:r>
              <a:rPr sz="2400" b="1" i="0">
                <a:solidFill>
                  <a:srgbClr val="3333B2"/>
                </a:solidFill>
              </a:rPr>
              <a:t>2</a:t>
            </a:r>
          </a:p>
        </p:txBody>
      </p:sp>
      <p:sp>
        <p:nvSpPr>
          <p:cNvPr id="7" name="check2-command">
            <a:extLst xmlns:a="http://schemas.openxmlformats.org/drawingml/2006/main">
              <a:ext uri="{FF2B5EF4-FFF2-40B4-BE49-F238E27FC236}">
                <a16:creationId xmlns:a16="http://schemas.microsoft.com/office/drawing/2014/main" id="{236EB298-FA6A-4EB6-8A91-77BA1E4DA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1717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0000FF"/>
                </a:solidFill>
              </a:defRPr>
            </a:pPr>
            <a:r>
              <a:rPr sz="1575" b="0" i="0">
                <a:solidFill>
                  <a:srgbClr val="0000FF"/>
                </a:solidFill>
              </a:rPr>
              <a:t>claude doctor</a:t>
            </a:r>
          </a:p>
        </p:txBody>
      </p:sp>
      <p:sp>
        <p:nvSpPr>
          <p:cNvPr id="8" name="check3">
            <a:extLst xmlns:a="http://schemas.openxmlformats.org/drawingml/2006/main">
              <a:ext uri="{FF2B5EF4-FFF2-40B4-BE49-F238E27FC236}">
                <a16:creationId xmlns:a16="http://schemas.microsoft.com/office/drawing/2014/main" id="{8D080D12-8BC6-432A-A122-8466F844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457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3333B2"/>
                </a:solidFill>
              </a:defRPr>
            </a:pPr>
            <a:r>
              <a:rPr sz="2400" b="1" i="0">
                <a:solidFill>
                  <a:srgbClr val="3333B2"/>
                </a:solidFill>
              </a:rPr>
              <a:t>3</a:t>
            </a:r>
          </a:p>
        </p:txBody>
      </p:sp>
      <p:sp>
        <p:nvSpPr>
          <p:cNvPr id="9" name="check3-copy">
            <a:extLst xmlns:a="http://schemas.openxmlformats.org/drawingml/2006/main">
              <a:ext uri="{FF2B5EF4-FFF2-40B4-BE49-F238E27FC236}">
                <a16:creationId xmlns:a16="http://schemas.microsoft.com/office/drawing/2014/main" id="{C9D59245-AA7E-41D3-A99B-DF8D5F083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962275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Open the lab project; launch claude and codex there.</a:t>
            </a:r>
          </a:p>
        </p:txBody>
      </p:sp>
      <p:sp>
        <p:nvSpPr>
          <p:cNvPr id="10" name="check4">
            <a:extLst xmlns:a="http://schemas.openxmlformats.org/drawingml/2006/main">
              <a:ext uri="{FF2B5EF4-FFF2-40B4-BE49-F238E27FC236}">
                <a16:creationId xmlns:a16="http://schemas.microsoft.com/office/drawing/2014/main" id="{0F64C46C-644F-49B1-A1C7-C74974C6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24275"/>
            <a:ext cx="457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3333B2"/>
                </a:solidFill>
              </a:defRPr>
            </a:pPr>
            <a:r>
              <a:rPr sz="2400" b="1" i="0">
                <a:solidFill>
                  <a:srgbClr val="3333B2"/>
                </a:solidFill>
              </a:rPr>
              <a:t>4</a:t>
            </a:r>
          </a:p>
        </p:txBody>
      </p:sp>
      <p:sp>
        <p:nvSpPr>
          <p:cNvPr id="11" name="check4-copy">
            <a:extLst xmlns:a="http://schemas.openxmlformats.org/drawingml/2006/main">
              <a:ext uri="{FF2B5EF4-FFF2-40B4-BE49-F238E27FC236}">
                <a16:creationId xmlns:a16="http://schemas.microsoft.com/office/drawing/2014/main" id="{2C880DA9-ACCB-4CEE-AADA-262E290BD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75285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Confirm CC Switch shows the provider you intend to use.</a:t>
            </a:r>
          </a:p>
        </p:txBody>
      </p:sp>
      <p:sp>
        <p:nvSpPr>
          <p:cNvPr id="12" name="check5">
            <a:extLst xmlns:a="http://schemas.openxmlformats.org/drawingml/2006/main">
              <a:ext uri="{FF2B5EF4-FFF2-40B4-BE49-F238E27FC236}">
                <a16:creationId xmlns:a16="http://schemas.microsoft.com/office/drawing/2014/main" id="{A42B1181-9005-494E-AB53-4BD2DE9D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457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3333B2"/>
                </a:solidFill>
              </a:defRPr>
            </a:pPr>
            <a:r>
              <a:rPr sz="2400" b="1" i="0">
                <a:solidFill>
                  <a:srgbClr val="3333B2"/>
                </a:solidFill>
              </a:rPr>
              <a:t>5</a:t>
            </a:r>
          </a:p>
        </p:txBody>
      </p:sp>
      <p:sp>
        <p:nvSpPr>
          <p:cNvPr id="13" name="check5-copy">
            <a:extLst xmlns:a="http://schemas.openxmlformats.org/drawingml/2006/main">
              <a:ext uri="{FF2B5EF4-FFF2-40B4-BE49-F238E27FC236}">
                <a16:creationId xmlns:a16="http://schemas.microsoft.com/office/drawing/2014/main" id="{21630C40-76D1-4E46-8016-D908E7697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543425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0000"/>
                </a:solidFill>
              </a:defRPr>
            </a:pPr>
            <a:r>
              <a:rPr sz="1800" b="1" i="0">
                <a:solidFill>
                  <a:srgbClr val="FF0000"/>
                </a:solidFill>
              </a:rPr>
              <a:t>Keep credentials local—never add them to the repository.</a:t>
            </a:r>
          </a:p>
        </p:txBody>
      </p:sp>
      <p:sp>
        <p:nvSpPr>
          <p:cNvPr id="14" name="takeaway">
            <a:extLst xmlns:a="http://schemas.openxmlformats.org/drawingml/2006/main">
              <a:ext uri="{FF2B5EF4-FFF2-40B4-BE49-F238E27FC236}">
                <a16:creationId xmlns:a16="http://schemas.microsoft.com/office/drawing/2014/main" id="{62B111F2-2868-4FD4-9667-7C87BB697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48325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BF0040"/>
                </a:solidFill>
              </a:defRPr>
            </a:pPr>
            <a:r>
              <a:rPr sz="2025" b="1" i="0">
                <a:solidFill>
                  <a:srgbClr val="BF0040"/>
                </a:solidFill>
              </a:rPr>
              <a:t>If any check fails, stop here and ask for help.</a:t>
            </a:r>
          </a:p>
        </p:txBody>
      </p:sp>
    </p:spTree>
    <p:extLst>
      <p:ext uri="{BB962C8B-B14F-4D97-AF65-F5344CB8AC3E}">
        <p14:creationId xmlns:p14="http://schemas.microsoft.com/office/powerpoint/2010/main" val="19555427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0AF2E48-D594-42C0-9220-0BB38F297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Add StatsClaw to Codex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285CCF00-8FDD-4302-B1B1-3A72620C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F41CF50-E44D-41D6-A167-31E155FE7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7 / 25</a:t>
            </a:r>
          </a:p>
        </p:txBody>
      </p:sp>
      <p:sp>
        <p:nvSpPr>
          <p:cNvPr id="4" name="prereq-label">
            <a:extLst xmlns:a="http://schemas.openxmlformats.org/drawingml/2006/main">
              <a:ext uri="{FF2B5EF4-FFF2-40B4-BE49-F238E27FC236}">
                <a16:creationId xmlns:a16="http://schemas.microsoft.com/office/drawing/2014/main" id="{DEE3B087-A403-43C9-A34F-BB1E87766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144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PREREQUISITES</a:t>
            </a:r>
          </a:p>
        </p:txBody>
      </p:sp>
      <p:sp>
        <p:nvSpPr>
          <p:cNvPr id="5" name="prereq-copy">
            <a:extLst xmlns:a="http://schemas.openxmlformats.org/drawingml/2006/main">
              <a:ext uri="{FF2B5EF4-FFF2-40B4-BE49-F238E27FC236}">
                <a16:creationId xmlns:a16="http://schemas.microsoft.com/office/drawing/2014/main" id="{2F473C77-AC9B-42E7-85C5-611B121FE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3144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7171C"/>
                </a:solidFill>
              </a:defRPr>
            </a:pPr>
            <a:r>
              <a:rPr sz="1725" b="1" i="0">
                <a:solidFill>
                  <a:srgbClr val="17171C"/>
                </a:solidFill>
              </a:rPr>
              <a:t>Git + Codex CLI</a:t>
            </a:r>
          </a:p>
        </p:txBody>
      </p:sp>
      <p:sp>
        <p:nvSpPr>
          <p:cNvPr id="6" name="recommended-label">
            <a:extLst xmlns:a="http://schemas.openxmlformats.org/drawingml/2006/main">
              <a:ext uri="{FF2B5EF4-FFF2-40B4-BE49-F238E27FC236}">
                <a16:creationId xmlns:a16="http://schemas.microsoft.com/office/drawing/2014/main" id="{99B46A54-4C0C-47E4-90DF-ADB02840F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050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RECOMMENDED INSTALLER</a:t>
            </a:r>
          </a:p>
        </p:txBody>
      </p:sp>
      <p:sp>
        <p:nvSpPr>
          <p:cNvPr id="7" name="recommended-command">
            <a:extLst xmlns:a="http://schemas.openxmlformats.org/drawingml/2006/main">
              <a:ext uri="{FF2B5EF4-FFF2-40B4-BE49-F238E27FC236}">
                <a16:creationId xmlns:a16="http://schemas.microsoft.com/office/drawing/2014/main" id="{5AC5A741-3F63-4CAE-AB9E-1D3D78975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2410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0000FF"/>
                </a:solidFill>
              </a:defRPr>
            </a:pPr>
            <a:r>
              <a:rPr sz="1275" b="0" i="0">
                <a:solidFill>
                  <a:srgbClr val="0000FF"/>
                </a:solidFill>
              </a:rPr>
              <a:t>curl -fsSL https://raw.githubusercontent.com/statsclaw/statsclaw-codex/main/install-remote.sh | bash</a:t>
            </a:r>
          </a:p>
        </p:txBody>
      </p:sp>
      <p:sp>
        <p:nvSpPr>
          <p:cNvPr id="8" name="rule-78-307">
            <a:extLst xmlns:a="http://schemas.openxmlformats.org/drawingml/2006/main">
              <a:ext uri="{FF2B5EF4-FFF2-40B4-BE49-F238E27FC236}">
                <a16:creationId xmlns:a16="http://schemas.microsoft.com/office/drawing/2014/main" id="{8043C82B-DCDD-48F7-896D-8EB658F14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24175"/>
            <a:ext cx="10648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9" name="new-terminal">
            <a:extLst xmlns:a="http://schemas.openxmlformats.org/drawingml/2006/main">
              <a:ext uri="{FF2B5EF4-FFF2-40B4-BE49-F238E27FC236}">
                <a16:creationId xmlns:a16="http://schemas.microsoft.com/office/drawing/2014/main" id="{84BF125B-E174-48F6-B002-48492C0A1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0000"/>
                </a:solidFill>
              </a:defRPr>
            </a:pPr>
            <a:r>
              <a:rPr sz="1650" b="1" i="0">
                <a:solidFill>
                  <a:srgbClr val="FF0000"/>
                </a:solidFill>
              </a:rPr>
              <a:t>Open a NEW terminal</a:t>
            </a:r>
          </a:p>
        </p:txBody>
      </p:sp>
      <p:sp>
        <p:nvSpPr>
          <p:cNvPr id="10" name="install-sequence">
            <a:extLst xmlns:a="http://schemas.openxmlformats.org/drawingml/2006/main">
              <a:ext uri="{FF2B5EF4-FFF2-40B4-BE49-F238E27FC236}">
                <a16:creationId xmlns:a16="http://schemas.microsoft.com/office/drawing/2014/main" id="{6E75FD89-516F-4FE2-98BA-6C3E5198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8135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000FF"/>
                </a:solidFill>
              </a:defRPr>
            </a:pPr>
            <a:r>
              <a:rPr sz="1650" b="1" i="0">
                <a:solidFill>
                  <a:srgbClr val="0000FF"/>
                </a:solidFill>
              </a:rPr>
              <a:t>codex   →   /plugins   →   install statsclaw</a:t>
            </a:r>
          </a:p>
        </p:txBody>
      </p:sp>
      <p:sp>
        <p:nvSpPr>
          <p:cNvPr id="11" name="verify-label">
            <a:extLst xmlns:a="http://schemas.openxmlformats.org/drawingml/2006/main">
              <a:ext uri="{FF2B5EF4-FFF2-40B4-BE49-F238E27FC236}">
                <a16:creationId xmlns:a16="http://schemas.microsoft.com/office/drawing/2014/main" id="{7D5F26A1-0AF1-41FB-9CE1-82F0C07BE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766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VERIFY</a:t>
            </a:r>
          </a:p>
        </p:txBody>
      </p:sp>
      <p:sp>
        <p:nvSpPr>
          <p:cNvPr id="12" name="verify-copy">
            <a:extLst xmlns:a="http://schemas.openxmlformats.org/drawingml/2006/main">
              <a:ext uri="{FF2B5EF4-FFF2-40B4-BE49-F238E27FC236}">
                <a16:creationId xmlns:a16="http://schemas.microsoft.com/office/drawing/2014/main" id="{11FD784A-2368-4FBC-9F62-FE708F9C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876675"/>
            <a:ext cx="885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Ask naturally: “Review this project for reproducibility risks.”   or   $review</a:t>
            </a:r>
          </a:p>
        </p:txBody>
      </p:sp>
      <p:sp>
        <p:nvSpPr>
          <p:cNvPr id="13" name="manual-label">
            <a:extLst xmlns:a="http://schemas.openxmlformats.org/drawingml/2006/main">
              <a:ext uri="{FF2B5EF4-FFF2-40B4-BE49-F238E27FC236}">
                <a16:creationId xmlns:a16="http://schemas.microsoft.com/office/drawing/2014/main" id="{29A19043-474D-4CB1-BA34-02E2517B2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482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MANUAL ALTERNATIVE</a:t>
            </a:r>
          </a:p>
        </p:txBody>
      </p:sp>
      <p:sp>
        <p:nvSpPr>
          <p:cNvPr id="14" name="manual-command1">
            <a:extLst xmlns:a="http://schemas.openxmlformats.org/drawingml/2006/main">
              <a:ext uri="{FF2B5EF4-FFF2-40B4-BE49-F238E27FC236}">
                <a16:creationId xmlns:a16="http://schemas.microsoft.com/office/drawing/2014/main" id="{2F81B720-38CB-4725-AEBD-1DEDD729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482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0000FF"/>
                </a:solidFill>
              </a:defRPr>
            </a:pPr>
            <a:r>
              <a:rPr sz="1275" b="0" i="0">
                <a:solidFill>
                  <a:srgbClr val="0000FF"/>
                </a:solidFill>
              </a:rPr>
              <a:t>git clone https://github.com/statsclaw/statsclaw-codex ~/.codex/plugins/statsclaw</a:t>
            </a:r>
          </a:p>
        </p:txBody>
      </p:sp>
      <p:sp>
        <p:nvSpPr>
          <p:cNvPr id="15" name="manual-command2">
            <a:extLst xmlns:a="http://schemas.openxmlformats.org/drawingml/2006/main">
              <a:ext uri="{FF2B5EF4-FFF2-40B4-BE49-F238E27FC236}">
                <a16:creationId xmlns:a16="http://schemas.microsoft.com/office/drawing/2014/main" id="{4D229834-D001-4019-A100-23E352DB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292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0000FF"/>
                </a:solidFill>
              </a:defRPr>
            </a:pPr>
            <a:r>
              <a:rPr sz="1350" b="0" i="0">
                <a:solidFill>
                  <a:srgbClr val="0000FF"/>
                </a:solidFill>
              </a:rPr>
              <a:t>bash ~/.codex/plugins/statsclaw/install.sh</a:t>
            </a:r>
          </a:p>
        </p:txBody>
      </p:sp>
      <p:sp>
        <p:nvSpPr>
          <p:cNvPr id="16" name="takeaway">
            <a:extLst xmlns:a="http://schemas.openxmlformats.org/drawingml/2006/main">
              <a:ext uri="{FF2B5EF4-FFF2-40B4-BE49-F238E27FC236}">
                <a16:creationId xmlns:a16="http://schemas.microsoft.com/office/drawing/2014/main" id="{0AB7CDE6-C6DD-4DC5-BFB6-15CB8A010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53125"/>
            <a:ext cx="990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BF0040"/>
                </a:solidFill>
              </a:defRPr>
            </a:pPr>
            <a:r>
              <a:rPr sz="1575" b="1" i="0">
                <a:solidFill>
                  <a:srgbClr val="BF0040"/>
                </a:solidFill>
              </a:rPr>
              <a:t>Installation changes your Codex environment—not the workshop repository.</a:t>
            </a:r>
          </a:p>
        </p:txBody>
      </p:sp>
    </p:spTree>
    <p:extLst>
      <p:ext uri="{BB962C8B-B14F-4D97-AF65-F5344CB8AC3E}">
        <p14:creationId xmlns:p14="http://schemas.microsoft.com/office/powerpoint/2010/main" val="5767062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87E5D74-570B-49B4-9637-DFC16DA2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Download the workshop data from the class branch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2BD9C25E-0AC3-457F-B6DB-9F843211E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76464B5-16B4-4B79-A592-8E660735C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8 / 25</a:t>
            </a:r>
          </a:p>
        </p:txBody>
      </p:sp>
      <p:sp>
        <p:nvSpPr>
          <p:cNvPr id="4" name="first-label">
            <a:extLst xmlns:a="http://schemas.openxmlformats.org/drawingml/2006/main">
              <a:ext uri="{FF2B5EF4-FFF2-40B4-BE49-F238E27FC236}">
                <a16:creationId xmlns:a16="http://schemas.microsoft.com/office/drawing/2014/main" id="{4A8CFA89-D660-403B-8C5E-696D7825F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954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FIRST TIME — CLONE THE CLASS BRANCH</a:t>
            </a:r>
          </a:p>
        </p:txBody>
      </p:sp>
      <p:sp>
        <p:nvSpPr>
          <p:cNvPr id="5" name="clone-command">
            <a:extLst xmlns:a="http://schemas.openxmlformats.org/drawingml/2006/main">
              <a:ext uri="{FF2B5EF4-FFF2-40B4-BE49-F238E27FC236}">
                <a16:creationId xmlns:a16="http://schemas.microsoft.com/office/drawing/2014/main" id="{2A68F354-0112-4BD8-B170-FA2276AA6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0000FF"/>
                </a:solidFill>
              </a:defRPr>
            </a:pPr>
            <a:r>
              <a:rPr sz="1200" b="0" i="0">
                <a:solidFill>
                  <a:srgbClr val="0000FF"/>
                </a:solidFill>
              </a:rPr>
              <a:t>git clone --branch codex/afternoon-lab --single-branch https://github.com/kprinceing/workspace.git</a:t>
            </a:r>
          </a:p>
        </p:txBody>
      </p:sp>
      <p:sp>
        <p:nvSpPr>
          <p:cNvPr id="6" name="cd-command">
            <a:extLst xmlns:a="http://schemas.openxmlformats.org/drawingml/2006/main">
              <a:ext uri="{FF2B5EF4-FFF2-40B4-BE49-F238E27FC236}">
                <a16:creationId xmlns:a16="http://schemas.microsoft.com/office/drawing/2014/main" id="{6F89DA1F-5371-477A-8E54-E8F372E6F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43125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cd "workspace/summer school/afternoon_lab"</a:t>
            </a:r>
          </a:p>
        </p:txBody>
      </p:sp>
      <p:sp>
        <p:nvSpPr>
          <p:cNvPr id="7" name="ls-command">
            <a:extLst xmlns:a="http://schemas.openxmlformats.org/drawingml/2006/main">
              <a:ext uri="{FF2B5EF4-FFF2-40B4-BE49-F238E27FC236}">
                <a16:creationId xmlns:a16="http://schemas.microsoft.com/office/drawing/2014/main" id="{EBC9E7D0-A9F2-46C8-BE20-15E44BD02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336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ls data/</a:t>
            </a:r>
          </a:p>
        </p:txBody>
      </p:sp>
      <p:sp>
        <p:nvSpPr>
          <p:cNvPr id="8" name="rule-78-307">
            <a:extLst xmlns:a="http://schemas.openxmlformats.org/drawingml/2006/main">
              <a:ext uri="{FF2B5EF4-FFF2-40B4-BE49-F238E27FC236}">
                <a16:creationId xmlns:a16="http://schemas.microsoft.com/office/drawing/2014/main" id="{EE9173D8-2D39-44A1-921C-B7D768D24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24175"/>
            <a:ext cx="10648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9" name="existing-label">
            <a:extLst xmlns:a="http://schemas.openxmlformats.org/drawingml/2006/main">
              <a:ext uri="{FF2B5EF4-FFF2-40B4-BE49-F238E27FC236}">
                <a16:creationId xmlns:a16="http://schemas.microsoft.com/office/drawing/2014/main" id="{548687BC-5C11-44D2-AB09-1E7D50283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609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ALREADY CLONED — UPDATE TO THE CLASS BRANCH</a:t>
            </a:r>
          </a:p>
        </p:txBody>
      </p:sp>
      <p:sp>
        <p:nvSpPr>
          <p:cNvPr id="10" name="switch-command">
            <a:extLst xmlns:a="http://schemas.openxmlformats.org/drawingml/2006/main">
              <a:ext uri="{FF2B5EF4-FFF2-40B4-BE49-F238E27FC236}">
                <a16:creationId xmlns:a16="http://schemas.microsoft.com/office/drawing/2014/main" id="{F45EF1DA-FBCB-4771-90DF-560B073C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09975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git switch codex/afternoon-lab</a:t>
            </a:r>
          </a:p>
        </p:txBody>
      </p:sp>
      <p:sp>
        <p:nvSpPr>
          <p:cNvPr id="11" name="pull-command">
            <a:extLst xmlns:a="http://schemas.openxmlformats.org/drawingml/2006/main">
              <a:ext uri="{FF2B5EF4-FFF2-40B4-BE49-F238E27FC236}">
                <a16:creationId xmlns:a16="http://schemas.microsoft.com/office/drawing/2014/main" id="{88B2368E-C199-4297-9C2B-6AFA7C86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09975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git pull</a:t>
            </a:r>
          </a:p>
        </p:txBody>
      </p:sp>
      <p:sp>
        <p:nvSpPr>
          <p:cNvPr id="12" name="warning-band">
            <a:extLst xmlns:a="http://schemas.openxmlformats.org/drawingml/2006/main">
              <a:ext uri="{FF2B5EF4-FFF2-40B4-BE49-F238E27FC236}">
                <a16:creationId xmlns:a16="http://schemas.microsoft.com/office/drawing/2014/main" id="{42E02916-DCE6-4A68-BA35-EDD50AE05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29125"/>
            <a:ext cx="106489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warning-title">
            <a:extLst xmlns:a="http://schemas.openxmlformats.org/drawingml/2006/main">
              <a:ext uri="{FF2B5EF4-FFF2-40B4-BE49-F238E27FC236}">
                <a16:creationId xmlns:a16="http://schemas.microsoft.com/office/drawing/2014/main" id="{57DE9F0D-BADF-4B7D-980F-E718B7DE6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00575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FF0000"/>
                </a:solidFill>
              </a:defRPr>
            </a:pPr>
            <a:r>
              <a:rPr sz="1575" b="1" i="0">
                <a:solidFill>
                  <a:srgbClr val="FF0000"/>
                </a:solidFill>
              </a:rPr>
              <a:t>PROTECT THE RAW DATA</a:t>
            </a:r>
          </a:p>
        </p:txBody>
      </p:sp>
      <p:sp>
        <p:nvSpPr>
          <p:cNvPr id="14" name="warning-copy">
            <a:extLst xmlns:a="http://schemas.openxmlformats.org/drawingml/2006/main">
              <a:ext uri="{FF2B5EF4-FFF2-40B4-BE49-F238E27FC236}">
                <a16:creationId xmlns:a16="http://schemas.microsoft.com/office/drawing/2014/main" id="{9A39F956-441D-46E7-B548-19C609119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911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7171C"/>
                </a:solidFill>
              </a:defRPr>
            </a:pPr>
            <a:r>
              <a:rPr sz="1725" b="1" i="0">
                <a:solidFill>
                  <a:srgbClr val="17171C"/>
                </a:solidFill>
              </a:rPr>
              <a:t>Do not edit raw data directly. Create your own branch before investigating.</a:t>
            </a:r>
          </a:p>
        </p:txBody>
      </p:sp>
      <p:sp>
        <p:nvSpPr>
          <p:cNvPr id="15" name="branch-command">
            <a:extLst xmlns:a="http://schemas.openxmlformats.org/drawingml/2006/main">
              <a:ext uri="{FF2B5EF4-FFF2-40B4-BE49-F238E27FC236}">
                <a16:creationId xmlns:a16="http://schemas.microsoft.com/office/drawing/2014/main" id="{4C460F42-8CE2-4658-A86D-CFBCCC6DC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9115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git switch -c yourname/afternoon-lab</a:t>
            </a:r>
          </a:p>
        </p:txBody>
      </p:sp>
    </p:spTree>
    <p:extLst>
      <p:ext uri="{BB962C8B-B14F-4D97-AF65-F5344CB8AC3E}">
        <p14:creationId xmlns:p14="http://schemas.microsoft.com/office/powerpoint/2010/main" val="826499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8B9D3B6-85CA-4AB6-B9C2-89B176F71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Two missions, one standard of evidence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74E86689-6547-4EDB-B539-86A7ACD8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272F36A-A972-4DBA-BD40-18851F11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9 / 25</a:t>
            </a:r>
          </a:p>
        </p:txBody>
      </p:sp>
      <p:sp>
        <p:nvSpPr>
          <p:cNvPr id="4" name="one">
            <a:extLst xmlns:a="http://schemas.openxmlformats.org/drawingml/2006/main">
              <a:ext uri="{FF2B5EF4-FFF2-40B4-BE49-F238E27FC236}">
                <a16:creationId xmlns:a16="http://schemas.microsoft.com/office/drawing/2014/main" id="{99E90044-F7A6-4078-B8E9-800C65A2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19250"/>
            <a:ext cx="762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250" b="1" i="0">
                <a:solidFill>
                  <a:srgbClr val="3333B2"/>
                </a:solidFill>
              </a:defRPr>
            </a:pPr>
            <a:r>
              <a:rPr sz="5250" b="1" i="0">
                <a:solidFill>
                  <a:srgbClr val="3333B2"/>
                </a:solidFill>
              </a:rPr>
              <a:t>1</a:t>
            </a:r>
          </a:p>
        </p:txBody>
      </p:sp>
      <p:sp>
        <p:nvSpPr>
          <p:cNvPr id="5" name="mission-one">
            <a:extLst xmlns:a="http://schemas.openxmlformats.org/drawingml/2006/main">
              <a:ext uri="{FF2B5EF4-FFF2-40B4-BE49-F238E27FC236}">
                <a16:creationId xmlns:a16="http://schemas.microsoft.com/office/drawing/2014/main" id="{7E9F7B33-9BEE-4B63-9FC0-79594FA08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66875"/>
            <a:ext cx="685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7171C"/>
                </a:solidFill>
              </a:defRPr>
            </a:pPr>
            <a:r>
              <a:rPr sz="2550" b="1" i="0">
                <a:solidFill>
                  <a:srgbClr val="17171C"/>
                </a:solidFill>
              </a:rPr>
              <a:t>Build a clean workflow</a:t>
            </a:r>
          </a:p>
        </p:txBody>
      </p:sp>
      <p:sp>
        <p:nvSpPr>
          <p:cNvPr id="6" name="mission-one-detail">
            <a:extLst xmlns:a="http://schemas.openxmlformats.org/drawingml/2006/main">
              <a:ext uri="{FF2B5EF4-FFF2-40B4-BE49-F238E27FC236}">
                <a16:creationId xmlns:a16="http://schemas.microsoft.com/office/drawing/2014/main" id="{9810D4D9-0E8D-44D1-BB4A-BBBF11C60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19325"/>
            <a:ext cx="762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5C5C69"/>
                </a:solidFill>
              </a:defRPr>
            </a:pPr>
            <a:r>
              <a:rPr sz="1725" b="0" i="0">
                <a:solidFill>
                  <a:srgbClr val="5C5C69"/>
                </a:solidFill>
              </a:rPr>
              <a:t>Make the design explicit before results exist.</a:t>
            </a:r>
          </a:p>
        </p:txBody>
      </p:sp>
      <p:sp>
        <p:nvSpPr>
          <p:cNvPr id="7" name="rule-88-320">
            <a:extLst xmlns:a="http://schemas.openxmlformats.org/drawingml/2006/main">
              <a:ext uri="{FF2B5EF4-FFF2-40B4-BE49-F238E27FC236}">
                <a16:creationId xmlns:a16="http://schemas.microsoft.com/office/drawing/2014/main" id="{325460FD-CBB1-48D0-83F3-9B6DE7512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981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8" name="two">
            <a:extLst xmlns:a="http://schemas.openxmlformats.org/drawingml/2006/main">
              <a:ext uri="{FF2B5EF4-FFF2-40B4-BE49-F238E27FC236}">
                <a16:creationId xmlns:a16="http://schemas.microsoft.com/office/drawing/2014/main" id="{9F38A98D-B1AE-4AE6-B923-4021C15CA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24250"/>
            <a:ext cx="762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250" b="1" i="0">
                <a:solidFill>
                  <a:srgbClr val="3333B2"/>
                </a:solidFill>
              </a:defRPr>
            </a:pPr>
            <a:r>
              <a:rPr sz="5250" b="1" i="0">
                <a:solidFill>
                  <a:srgbClr val="3333B2"/>
                </a:solidFill>
              </a:rPr>
              <a:t>2</a:t>
            </a:r>
          </a:p>
        </p:txBody>
      </p:sp>
      <p:sp>
        <p:nvSpPr>
          <p:cNvPr id="9" name="mission-two">
            <a:extLst xmlns:a="http://schemas.openxmlformats.org/drawingml/2006/main">
              <a:ext uri="{FF2B5EF4-FFF2-40B4-BE49-F238E27FC236}">
                <a16:creationId xmlns:a16="http://schemas.microsoft.com/office/drawing/2014/main" id="{625FDEA3-C839-4269-B3B6-60A09D29D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71875"/>
            <a:ext cx="723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7171C"/>
                </a:solidFill>
              </a:defRPr>
            </a:pPr>
            <a:r>
              <a:rPr sz="2550" b="1" i="0">
                <a:solidFill>
                  <a:srgbClr val="17171C"/>
                </a:solidFill>
              </a:rPr>
              <a:t>Audit an inherited analysis</a:t>
            </a:r>
          </a:p>
        </p:txBody>
      </p:sp>
      <p:sp>
        <p:nvSpPr>
          <p:cNvPr id="10" name="mission-two-detail">
            <a:extLst xmlns:a="http://schemas.openxmlformats.org/drawingml/2006/main">
              <a:ext uri="{FF2B5EF4-FFF2-40B4-BE49-F238E27FC236}">
                <a16:creationId xmlns:a16="http://schemas.microsoft.com/office/drawing/2014/main" id="{6F47436B-DDA8-48D6-8498-AC00CCEB7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124325"/>
            <a:ext cx="857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5C5C69"/>
                </a:solidFill>
              </a:defRPr>
            </a:pPr>
            <a:r>
              <a:rPr sz="1725" b="0" i="0">
                <a:solidFill>
                  <a:srgbClr val="5C5C69"/>
                </a:solidFill>
              </a:rPr>
              <a:t>Reconstruct what changed and decide whether to sign off.</a:t>
            </a:r>
          </a:p>
        </p:txBody>
      </p:sp>
      <p:sp>
        <p:nvSpPr>
          <p:cNvPr id="11" name="takeaway">
            <a:extLst xmlns:a="http://schemas.openxmlformats.org/drawingml/2006/main">
              <a:ext uri="{FF2B5EF4-FFF2-40B4-BE49-F238E27FC236}">
                <a16:creationId xmlns:a16="http://schemas.microsoft.com/office/drawing/2014/main" id="{993BF698-6181-49A0-9CD3-75B75D0B5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245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BF0040"/>
                </a:solidFill>
              </a:defRPr>
            </a:pPr>
            <a:r>
              <a:rPr sz="2100" b="1" i="0">
                <a:solidFill>
                  <a:srgbClr val="BF0040"/>
                </a:solidFill>
              </a:rPr>
              <a:t>Design before results.</a:t>
            </a:r>
          </a:p>
        </p:txBody>
      </p:sp>
    </p:spTree>
    <p:extLst>
      <p:ext uri="{BB962C8B-B14F-4D97-AF65-F5344CB8AC3E}">
        <p14:creationId xmlns:p14="http://schemas.microsoft.com/office/powerpoint/2010/main" val="106390840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EBCD1A3-0C43-4C04-B9D3-2741E81AC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Case A — A clean handoff starts with the estimand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8119AD01-6959-4274-B229-BA9DBC43B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571BB66-2D6A-4124-8787-BD7C9A64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10 / 25</a:t>
            </a:r>
          </a:p>
        </p:txBody>
      </p:sp>
      <p:sp>
        <p:nvSpPr>
          <p:cNvPr id="4" name="case-label">
            <a:extLst xmlns:a="http://schemas.openxmlformats.org/drawingml/2006/main">
              <a:ext uri="{FF2B5EF4-FFF2-40B4-BE49-F238E27FC236}">
                <a16:creationId xmlns:a16="http://schemas.microsoft.com/office/drawing/2014/main" id="{AD16058E-8C44-47D6-9AC2-6955C6F3B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81125"/>
            <a:ext cx="666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3333B2"/>
                </a:solidFill>
              </a:defRPr>
            </a:pPr>
            <a:r>
              <a:rPr sz="1350" b="1" i="0">
                <a:solidFill>
                  <a:srgbClr val="3333B2"/>
                </a:solidFill>
              </a:rPr>
              <a:t>RANDOMIZED JOB-TRAINING OFFER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DC0DE643-AFDD-46EF-9349-06B3C6506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9525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FF0000"/>
                </a:solidFill>
              </a:defRPr>
            </a:pPr>
            <a:r>
              <a:rPr sz="2850" b="1" i="0">
                <a:solidFill>
                  <a:srgbClr val="FF0000"/>
                </a:solidFill>
              </a:rPr>
              <a:t>What is the effect of being offered training</a:t>
            </a:r>
          </a:p>
          <a:p xmlns:a="http://schemas.openxmlformats.org/drawingml/2006/main">
            <a:pPr algn="l">
              <a:defRPr sz="2850" b="1" i="0">
                <a:solidFill>
                  <a:srgbClr val="FF0000"/>
                </a:solidFill>
              </a:defRPr>
            </a:pPr>
            <a:r>
              <a:rPr sz="2850" b="1" i="0">
                <a:solidFill>
                  <a:srgbClr val="FF0000"/>
                </a:solidFill>
              </a:rPr>
              <a:t>on employment six months later?</a:t>
            </a:r>
          </a:p>
        </p:txBody>
      </p:sp>
      <p:sp>
        <p:nvSpPr>
          <p:cNvPr id="6" name="design">
            <a:extLst xmlns:a="http://schemas.openxmlformats.org/drawingml/2006/main">
              <a:ext uri="{FF2B5EF4-FFF2-40B4-BE49-F238E27FC236}">
                <a16:creationId xmlns:a16="http://schemas.microsoft.com/office/drawing/2014/main" id="{60D4F316-12CC-4F21-9B2F-C627EBF7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1475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7171C"/>
                </a:solidFill>
              </a:defRPr>
            </a:pPr>
            <a:r>
              <a:rPr sz="1875" b="0" i="0">
                <a:solidFill>
                  <a:srgbClr val="17171C"/>
                </a:solidFill>
              </a:rPr>
              <a:t>Assignment is randomized.</a:t>
            </a:r>
          </a:p>
        </p:txBody>
      </p:sp>
      <p:sp>
        <p:nvSpPr>
          <p:cNvPr id="7" name="estimand">
            <a:extLst xmlns:a="http://schemas.openxmlformats.org/drawingml/2006/main">
              <a:ext uri="{FF2B5EF4-FFF2-40B4-BE49-F238E27FC236}">
                <a16:creationId xmlns:a16="http://schemas.microsoft.com/office/drawing/2014/main" id="{0B3907A0-D5DF-41A2-906E-C88DC419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57675"/>
            <a:ext cx="695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3333B2"/>
                </a:solidFill>
              </a:defRPr>
            </a:pPr>
            <a:r>
              <a:rPr sz="1875" b="1" i="0">
                <a:solidFill>
                  <a:srgbClr val="3333B2"/>
                </a:solidFill>
              </a:rPr>
              <a:t>Primary estimand: intention to treat (ITT).</a:t>
            </a:r>
          </a:p>
        </p:txBody>
      </p:sp>
      <p:sp>
        <p:nvSpPr>
          <p:cNvPr id="8" name="unit">
            <a:extLst xmlns:a="http://schemas.openxmlformats.org/drawingml/2006/main">
              <a:ext uri="{FF2B5EF4-FFF2-40B4-BE49-F238E27FC236}">
                <a16:creationId xmlns:a16="http://schemas.microsoft.com/office/drawing/2014/main" id="{081DC331-C569-4950-96FB-17075D0D3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0060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7171C"/>
                </a:solidFill>
              </a:defRPr>
            </a:pPr>
            <a:r>
              <a:rPr sz="1875" b="0" i="0">
                <a:solidFill>
                  <a:srgbClr val="17171C"/>
                </a:solidFill>
              </a:rPr>
              <a:t>Unit: applicant.</a:t>
            </a:r>
          </a:p>
        </p:txBody>
      </p:sp>
    </p:spTree>
    <p:extLst>
      <p:ext uri="{BB962C8B-B14F-4D97-AF65-F5344CB8AC3E}">
        <p14:creationId xmlns:p14="http://schemas.microsoft.com/office/powerpoint/2010/main" val="27099272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02B45CB-291E-433B-89B8-90BECFAF2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Case A — Minimal file inventory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DABCF4B8-37C0-41A2-AF1D-4B2D5BDF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8532851-7045-4D27-A5CF-AF70F963C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11 / 25</a:t>
            </a:r>
          </a:p>
        </p:txBody>
      </p:sp>
      <p:sp>
        <p:nvSpPr>
          <p:cNvPr id="4" name="path1">
            <a:extLst xmlns:a="http://schemas.openxmlformats.org/drawingml/2006/main">
              <a:ext uri="{FF2B5EF4-FFF2-40B4-BE49-F238E27FC236}">
                <a16:creationId xmlns:a16="http://schemas.microsoft.com/office/drawing/2014/main" id="{899FFEBB-69EA-4A80-889C-343D239A2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240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000FF"/>
                </a:solidFill>
              </a:defRPr>
            </a:pPr>
            <a:r>
              <a:rPr sz="1875" b="1" i="0">
                <a:solidFill>
                  <a:srgbClr val="0000FF"/>
                </a:solidFill>
              </a:rPr>
              <a:t>data/baseline.csv</a:t>
            </a:r>
          </a:p>
        </p:txBody>
      </p:sp>
      <p:sp>
        <p:nvSpPr>
          <p:cNvPr id="5" name="desc1">
            <a:extLst xmlns:a="http://schemas.openxmlformats.org/drawingml/2006/main">
              <a:ext uri="{FF2B5EF4-FFF2-40B4-BE49-F238E27FC236}">
                <a16:creationId xmlns:a16="http://schemas.microsoft.com/office/drawing/2014/main" id="{51128F8A-E4AC-4A2E-BB34-D2E256307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240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one row per applicant; pre-treatment attributes</a:t>
            </a:r>
          </a:p>
        </p:txBody>
      </p:sp>
      <p:sp>
        <p:nvSpPr>
          <p:cNvPr id="6" name="rule-96-217">
            <a:extLst xmlns:a="http://schemas.openxmlformats.org/drawingml/2006/main">
              <a:ext uri="{FF2B5EF4-FFF2-40B4-BE49-F238E27FC236}">
                <a16:creationId xmlns:a16="http://schemas.microsoft.com/office/drawing/2014/main" id="{F0F4E0AD-646F-4A04-BD3D-9EF5DCB77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66925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7" name="path2">
            <a:extLst xmlns:a="http://schemas.openxmlformats.org/drawingml/2006/main">
              <a:ext uri="{FF2B5EF4-FFF2-40B4-BE49-F238E27FC236}">
                <a16:creationId xmlns:a16="http://schemas.microsoft.com/office/drawing/2014/main" id="{AE8FE995-62E9-4AD0-99DA-0D0EC4461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28875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000FF"/>
                </a:solidFill>
              </a:defRPr>
            </a:pPr>
            <a:r>
              <a:rPr sz="1875" b="1" i="0">
                <a:solidFill>
                  <a:srgbClr val="0000FF"/>
                </a:solidFill>
              </a:rPr>
              <a:t>data/assignment.csv</a:t>
            </a:r>
          </a:p>
        </p:txBody>
      </p:sp>
      <p:sp>
        <p:nvSpPr>
          <p:cNvPr id="8" name="desc2">
            <a:extLst xmlns:a="http://schemas.openxmlformats.org/drawingml/2006/main">
              <a:ext uri="{FF2B5EF4-FFF2-40B4-BE49-F238E27FC236}">
                <a16:creationId xmlns:a16="http://schemas.microsoft.com/office/drawing/2014/main" id="{707E8D07-E178-41B5-AAF9-9F12E00E5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28875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randomized offer status</a:t>
            </a:r>
          </a:p>
        </p:txBody>
      </p:sp>
      <p:sp>
        <p:nvSpPr>
          <p:cNvPr id="9" name="rule-96-312">
            <a:extLst xmlns:a="http://schemas.openxmlformats.org/drawingml/2006/main">
              <a:ext uri="{FF2B5EF4-FFF2-40B4-BE49-F238E27FC236}">
                <a16:creationId xmlns:a16="http://schemas.microsoft.com/office/drawing/2014/main" id="{54526805-4C27-49F7-A12F-71839E5CA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7180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0" name="path3">
            <a:extLst xmlns:a="http://schemas.openxmlformats.org/drawingml/2006/main">
              <a:ext uri="{FF2B5EF4-FFF2-40B4-BE49-F238E27FC236}">
                <a16:creationId xmlns:a16="http://schemas.microsoft.com/office/drawing/2014/main" id="{52EF0CCA-BD07-4FFF-81E5-A213330A6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375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000FF"/>
                </a:solidFill>
              </a:defRPr>
            </a:pPr>
            <a:r>
              <a:rPr sz="1875" b="1" i="0">
                <a:solidFill>
                  <a:srgbClr val="0000FF"/>
                </a:solidFill>
              </a:rPr>
              <a:t>data/followup.csv</a:t>
            </a:r>
          </a:p>
        </p:txBody>
      </p:sp>
      <p:sp>
        <p:nvSpPr>
          <p:cNvPr id="11" name="desc3">
            <a:extLst xmlns:a="http://schemas.openxmlformats.org/drawingml/2006/main">
              <a:ext uri="{FF2B5EF4-FFF2-40B4-BE49-F238E27FC236}">
                <a16:creationId xmlns:a16="http://schemas.microsoft.com/office/drawing/2014/main" id="{354F5781-4C6E-47D5-A7E9-5F0D8682A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six-month employment outcome</a:t>
            </a:r>
          </a:p>
        </p:txBody>
      </p:sp>
      <p:sp>
        <p:nvSpPr>
          <p:cNvPr id="12" name="question">
            <a:extLst xmlns:a="http://schemas.openxmlformats.org/drawingml/2006/main">
              <a:ext uri="{FF2B5EF4-FFF2-40B4-BE49-F238E27FC236}">
                <a16:creationId xmlns:a16="http://schemas.microsoft.com/office/drawing/2014/main" id="{EFE6402E-3988-4129-B980-9D5557837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F0000"/>
                </a:solidFill>
              </a:defRPr>
            </a:pPr>
            <a:r>
              <a:rPr sz="2250" b="1" i="0">
                <a:solidFill>
                  <a:srgbClr val="FF0000"/>
                </a:solidFill>
              </a:rPr>
              <a:t>Before merging: what must be true of applicant_id?</a:t>
            </a:r>
          </a:p>
        </p:txBody>
      </p:sp>
    </p:spTree>
    <p:extLst>
      <p:ext uri="{BB962C8B-B14F-4D97-AF65-F5344CB8AC3E}">
        <p14:creationId xmlns:p14="http://schemas.microsoft.com/office/powerpoint/2010/main" val="135298534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31D96C5-241C-4888-ABBA-D7B9F63F1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Ask StatsClaw to inspect—without changing anything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437A24AC-6583-47D7-A638-6806747C9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165F981-FAC5-4985-9165-13117744A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12 / 25</a:t>
            </a:r>
          </a:p>
        </p:txBody>
      </p:sp>
      <p:sp>
        <p:nvSpPr>
          <p:cNvPr id="4" name="prompt-rule">
            <a:extLst xmlns:a="http://schemas.openxmlformats.org/drawingml/2006/main">
              <a:ext uri="{FF2B5EF4-FFF2-40B4-BE49-F238E27FC236}">
                <a16:creationId xmlns:a16="http://schemas.microsoft.com/office/drawing/2014/main" id="{306DFC32-4A45-4A21-96CB-CFA9F43EF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66675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3B2"/>
          </a:solidFill>
          <a:ln xmlns:a="http://schemas.openxmlformats.org/drawingml/2006/main" w="0">
            <a:solidFill>
              <a:srgbClr val="3333B2"/>
            </a:solidFill>
            <a:prstDash val="solid"/>
          </a:ln>
        </p:spPr>
      </p:sp>
      <p:sp>
        <p:nvSpPr>
          <p:cNvPr id="5" name="prompt">
            <a:extLst xmlns:a="http://schemas.openxmlformats.org/drawingml/2006/main">
              <a:ext uri="{FF2B5EF4-FFF2-40B4-BE49-F238E27FC236}">
                <a16:creationId xmlns:a16="http://schemas.microsoft.com/office/drawing/2014/main" id="{0C5F70E1-37DD-486A-9108-21DA144D6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428750"/>
            <a:ext cx="9715500" cy="3762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7171C"/>
                </a:solidFill>
              </a:defRPr>
            </a:pPr>
            <a:r>
              <a:rPr sz="1875" b="0" i="0">
                <a:solidFill>
                  <a:srgbClr val="17171C"/>
                </a:solidFill>
              </a:rPr>
              <a:t>Inspect this project as a research collaborator.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 i="0">
                <a:solidFill>
                  <a:srgbClr val="17171C"/>
                </a:solidFill>
              </a:defRPr>
            </a:pPr>
            <a:r>
              <a:rPr sz="1875" b="0" i="0">
                <a:solidFill>
                  <a:srgbClr val="17171C"/>
                </a:solidFill>
              </a:rPr>
              <a:t>Do not edit files or run estimation yet.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 i="0">
                <a:solidFill>
                  <a:srgbClr val="17171C"/>
                </a:solidFill>
              </a:defRPr>
            </a:pPr>
            <a:r>
              <a:rPr sz="1875" b="0" i="0">
                <a:solidFill>
                  <a:srgbClr val="17171C"/>
                </a:solidFill>
              </a:rPr>
              <a:t>Reconstruct the research question, unit, treatment assignment, outcome, estimand, key structure, merge plan, and execution order.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 i="0">
                <a:solidFill>
                  <a:srgbClr val="17171C"/>
                </a:solidFill>
              </a:defRPr>
            </a:pPr>
            <a:r>
              <a:rPr sz="1875" b="0" i="0">
                <a:solidFill>
                  <a:srgbClr val="17171C"/>
                </a:solidFill>
              </a:rPr>
              <a:t>List what must be verified before any analysis is authorized.</a:t>
            </a:r>
          </a:p>
        </p:txBody>
      </p:sp>
      <p:sp>
        <p:nvSpPr>
          <p:cNvPr id="6" name="instruction">
            <a:extLst xmlns:a="http://schemas.openxmlformats.org/drawingml/2006/main">
              <a:ext uri="{FF2B5EF4-FFF2-40B4-BE49-F238E27FC236}">
                <a16:creationId xmlns:a16="http://schemas.microsoft.com/office/drawing/2014/main" id="{9625EDEE-EE35-4EBE-BD5E-A27A78EF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495925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F0040"/>
                </a:solidFill>
              </a:defRPr>
            </a:pPr>
            <a:r>
              <a:rPr sz="1650" b="1" i="0">
                <a:solidFill>
                  <a:srgbClr val="BF0040"/>
                </a:solidFill>
              </a:rPr>
              <a:t>Open prompt. No request to “find the bug.”</a:t>
            </a:r>
          </a:p>
        </p:txBody>
      </p:sp>
    </p:spTree>
    <p:extLst>
      <p:ext uri="{BB962C8B-B14F-4D97-AF65-F5344CB8AC3E}">
        <p14:creationId xmlns:p14="http://schemas.microsoft.com/office/powerpoint/2010/main" val="160887967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128AB73-A2E9-4837-B67F-B11B6F829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Write a data-and-design contract before analysis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833FF0FE-6E9C-4261-BEFA-690E4FA8C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7FFAE26-A4CA-4A26-AE42-749DBC307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13 / 25</a:t>
            </a:r>
          </a:p>
        </p:txBody>
      </p:sp>
      <p:sp>
        <p:nvSpPr>
          <p:cNvPr id="4" name="bullet-145">
            <a:extLst xmlns:a="http://schemas.openxmlformats.org/drawingml/2006/main">
              <a:ext uri="{FF2B5EF4-FFF2-40B4-BE49-F238E27FC236}">
                <a16:creationId xmlns:a16="http://schemas.microsoft.com/office/drawing/2014/main" id="{76CA9F96-F5E4-4E53-9C2D-CFD1FEDFD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62075"/>
            <a:ext cx="28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3333B2"/>
                </a:solidFill>
              </a:defRPr>
            </a:pPr>
            <a:r>
              <a:rPr sz="2325" b="1" i="0">
                <a:solidFill>
                  <a:srgbClr val="3333B2"/>
                </a:solidFill>
              </a:rPr>
              <a:t>•</a:t>
            </a:r>
          </a:p>
        </p:txBody>
      </p:sp>
      <p:sp>
        <p:nvSpPr>
          <p:cNvPr id="5" name="bullet-label-145">
            <a:extLst xmlns:a="http://schemas.openxmlformats.org/drawingml/2006/main">
              <a:ext uri="{FF2B5EF4-FFF2-40B4-BE49-F238E27FC236}">
                <a16:creationId xmlns:a16="http://schemas.microsoft.com/office/drawing/2014/main" id="{45099B46-5269-4A2E-9ED5-2FAEFBD06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381125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3333B2"/>
                </a:solidFill>
              </a:defRPr>
            </a:pPr>
            <a:r>
              <a:rPr sz="2025" b="1" i="0">
                <a:solidFill>
                  <a:srgbClr val="3333B2"/>
                </a:solidFill>
              </a:rPr>
              <a:t>Unit and keys</a:t>
            </a:r>
          </a:p>
        </p:txBody>
      </p:sp>
      <p:sp>
        <p:nvSpPr>
          <p:cNvPr id="6" name="bullet-detail-145">
            <a:extLst xmlns:a="http://schemas.openxmlformats.org/drawingml/2006/main">
              <a:ext uri="{FF2B5EF4-FFF2-40B4-BE49-F238E27FC236}">
                <a16:creationId xmlns:a16="http://schemas.microsoft.com/office/drawing/2014/main" id="{3D0BE530-CA17-434A-B556-C6D8F6DA4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5260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171C"/>
                </a:solidFill>
              </a:defRPr>
            </a:pPr>
            <a:r>
              <a:rPr sz="1500" b="0" i="0">
                <a:solidFill>
                  <a:srgbClr val="17171C"/>
                </a:solidFill>
              </a:rPr>
              <a:t>One applicant per analysis row; applicant_id is unique where expected.</a:t>
            </a:r>
          </a:p>
        </p:txBody>
      </p:sp>
      <p:sp>
        <p:nvSpPr>
          <p:cNvPr id="7" name="bullet-235">
            <a:extLst xmlns:a="http://schemas.openxmlformats.org/drawingml/2006/main">
              <a:ext uri="{FF2B5EF4-FFF2-40B4-BE49-F238E27FC236}">
                <a16:creationId xmlns:a16="http://schemas.microsoft.com/office/drawing/2014/main" id="{AAFD304A-AE9F-4A54-88F2-46F44FE19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19325"/>
            <a:ext cx="28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3333B2"/>
                </a:solidFill>
              </a:defRPr>
            </a:pPr>
            <a:r>
              <a:rPr sz="2325" b="1" i="0">
                <a:solidFill>
                  <a:srgbClr val="3333B2"/>
                </a:solidFill>
              </a:rPr>
              <a:t>•</a:t>
            </a:r>
          </a:p>
        </p:txBody>
      </p:sp>
      <p:sp>
        <p:nvSpPr>
          <p:cNvPr id="8" name="bullet-label-235">
            <a:extLst xmlns:a="http://schemas.openxmlformats.org/drawingml/2006/main">
              <a:ext uri="{FF2B5EF4-FFF2-40B4-BE49-F238E27FC236}">
                <a16:creationId xmlns:a16="http://schemas.microsoft.com/office/drawing/2014/main" id="{9C2CF107-7528-4E48-92CD-C71E5DA99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38375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3333B2"/>
                </a:solidFill>
              </a:defRPr>
            </a:pPr>
            <a:r>
              <a:rPr sz="2025" b="1" i="0">
                <a:solidFill>
                  <a:srgbClr val="3333B2"/>
                </a:solidFill>
              </a:rPr>
              <a:t>Treatment and timing</a:t>
            </a:r>
          </a:p>
        </p:txBody>
      </p:sp>
      <p:sp>
        <p:nvSpPr>
          <p:cNvPr id="9" name="bullet-detail-235">
            <a:extLst xmlns:a="http://schemas.openxmlformats.org/drawingml/2006/main">
              <a:ext uri="{FF2B5EF4-FFF2-40B4-BE49-F238E27FC236}">
                <a16:creationId xmlns:a16="http://schemas.microsoft.com/office/drawing/2014/main" id="{47D04B35-3292-4975-87CD-A0E6F544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60985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171C"/>
                </a:solidFill>
              </a:defRPr>
            </a:pPr>
            <a:r>
              <a:rPr sz="1500" b="0" i="0">
                <a:solidFill>
                  <a:srgbClr val="17171C"/>
                </a:solidFill>
              </a:rPr>
              <a:t>offered_training is assigned before outcomes; assignment is immutable.</a:t>
            </a:r>
          </a:p>
        </p:txBody>
      </p:sp>
      <p:sp>
        <p:nvSpPr>
          <p:cNvPr id="10" name="bullet-325">
            <a:extLst xmlns:a="http://schemas.openxmlformats.org/drawingml/2006/main">
              <a:ext uri="{FF2B5EF4-FFF2-40B4-BE49-F238E27FC236}">
                <a16:creationId xmlns:a16="http://schemas.microsoft.com/office/drawing/2014/main" id="{C80DF0F4-A062-4805-A7EE-09C7173A2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76575"/>
            <a:ext cx="28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3333B2"/>
                </a:solidFill>
              </a:defRPr>
            </a:pPr>
            <a:r>
              <a:rPr sz="2325" b="1" i="0">
                <a:solidFill>
                  <a:srgbClr val="3333B2"/>
                </a:solidFill>
              </a:rPr>
              <a:t>•</a:t>
            </a:r>
          </a:p>
        </p:txBody>
      </p:sp>
      <p:sp>
        <p:nvSpPr>
          <p:cNvPr id="11" name="bullet-label-325">
            <a:extLst xmlns:a="http://schemas.openxmlformats.org/drawingml/2006/main">
              <a:ext uri="{FF2B5EF4-FFF2-40B4-BE49-F238E27FC236}">
                <a16:creationId xmlns:a16="http://schemas.microsoft.com/office/drawing/2014/main" id="{A4F2A35C-4857-4921-B898-54BAA36E2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95625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3333B2"/>
                </a:solidFill>
              </a:defRPr>
            </a:pPr>
            <a:r>
              <a:rPr sz="2025" b="1" i="0">
                <a:solidFill>
                  <a:srgbClr val="3333B2"/>
                </a:solidFill>
              </a:rPr>
              <a:t>Outcome and horizon</a:t>
            </a:r>
          </a:p>
        </p:txBody>
      </p:sp>
      <p:sp>
        <p:nvSpPr>
          <p:cNvPr id="12" name="bullet-detail-325">
            <a:extLst xmlns:a="http://schemas.openxmlformats.org/drawingml/2006/main">
              <a:ext uri="{FF2B5EF4-FFF2-40B4-BE49-F238E27FC236}">
                <a16:creationId xmlns:a16="http://schemas.microsoft.com/office/drawing/2014/main" id="{6194CDEB-846C-4D74-A4CC-A92BE6A7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6710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171C"/>
                </a:solidFill>
              </a:defRPr>
            </a:pPr>
            <a:r>
              <a:rPr sz="1500" b="0" i="0">
                <a:solidFill>
                  <a:srgbClr val="17171C"/>
                </a:solidFill>
              </a:rPr>
              <a:t>employed_6m is defined consistently for all applicants.</a:t>
            </a:r>
          </a:p>
        </p:txBody>
      </p:sp>
      <p:sp>
        <p:nvSpPr>
          <p:cNvPr id="13" name="bullet-415">
            <a:extLst xmlns:a="http://schemas.openxmlformats.org/drawingml/2006/main">
              <a:ext uri="{FF2B5EF4-FFF2-40B4-BE49-F238E27FC236}">
                <a16:creationId xmlns:a16="http://schemas.microsoft.com/office/drawing/2014/main" id="{B0DBB7AB-4EEA-4A0B-8F3D-D3B046640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33825"/>
            <a:ext cx="28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3333B2"/>
                </a:solidFill>
              </a:defRPr>
            </a:pPr>
            <a:r>
              <a:rPr sz="2325" b="1" i="0">
                <a:solidFill>
                  <a:srgbClr val="3333B2"/>
                </a:solidFill>
              </a:rPr>
              <a:t>•</a:t>
            </a:r>
          </a:p>
        </p:txBody>
      </p:sp>
      <p:sp>
        <p:nvSpPr>
          <p:cNvPr id="14" name="bullet-label-415">
            <a:extLst xmlns:a="http://schemas.openxmlformats.org/drawingml/2006/main">
              <a:ext uri="{FF2B5EF4-FFF2-40B4-BE49-F238E27FC236}">
                <a16:creationId xmlns:a16="http://schemas.microsoft.com/office/drawing/2014/main" id="{1B0CB1BB-630B-4706-A7F6-5DB9FCB7E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3333B2"/>
                </a:solidFill>
              </a:defRPr>
            </a:pPr>
            <a:r>
              <a:rPr sz="2025" b="1" i="0">
                <a:solidFill>
                  <a:srgbClr val="3333B2"/>
                </a:solidFill>
              </a:rPr>
              <a:t>Estimand and sample</a:t>
            </a:r>
          </a:p>
        </p:txBody>
      </p:sp>
      <p:sp>
        <p:nvSpPr>
          <p:cNvPr id="15" name="bullet-detail-415">
            <a:extLst xmlns:a="http://schemas.openxmlformats.org/drawingml/2006/main">
              <a:ext uri="{FF2B5EF4-FFF2-40B4-BE49-F238E27FC236}">
                <a16:creationId xmlns:a16="http://schemas.microsoft.com/office/drawing/2014/main" id="{6A387E84-C023-4D2B-B16B-ACEC7646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2435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171C"/>
                </a:solidFill>
              </a:defRPr>
            </a:pPr>
            <a:r>
              <a:rPr sz="1500" b="0" i="0">
                <a:solidFill>
                  <a:srgbClr val="17171C"/>
                </a:solidFill>
              </a:rPr>
              <a:t>ITT among randomized applicants; exclusions must be pre-specified.</a:t>
            </a:r>
          </a:p>
        </p:txBody>
      </p:sp>
      <p:sp>
        <p:nvSpPr>
          <p:cNvPr id="16" name="stop">
            <a:extLst xmlns:a="http://schemas.openxmlformats.org/drawingml/2006/main">
              <a:ext uri="{FF2B5EF4-FFF2-40B4-BE49-F238E27FC236}">
                <a16:creationId xmlns:a16="http://schemas.microsoft.com/office/drawing/2014/main" id="{F1BC6F99-8236-464F-A97F-EC9A5D0F5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86375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F0000"/>
                </a:solidFill>
              </a:defRPr>
            </a:pPr>
            <a:r>
              <a:rPr sz="1875" b="1" i="0">
                <a:solidFill>
                  <a:srgbClr val="FF0000"/>
                </a:solidFill>
              </a:rPr>
              <a:t>STOP if keys fail, treatment is redefined, timing is unclear, or exclusions are unexplained.</a:t>
            </a:r>
          </a:p>
        </p:txBody>
      </p:sp>
    </p:spTree>
    <p:extLst>
      <p:ext uri="{BB962C8B-B14F-4D97-AF65-F5344CB8AC3E}">
        <p14:creationId xmlns:p14="http://schemas.microsoft.com/office/powerpoint/2010/main" val="161759305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3B04489-12CF-4DD9-8CC7-45373D14A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A clean workflow makes every change reviewable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395EFCC1-35B8-45A3-B1D8-3D6DF7CBD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20F7E48-3EE7-42C5-B64E-A040F78ED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14 / 25</a:t>
            </a:r>
          </a:p>
        </p:txBody>
      </p:sp>
      <p:sp>
        <p:nvSpPr>
          <p:cNvPr id="4" name="step-0">
            <a:extLst xmlns:a="http://schemas.openxmlformats.org/drawingml/2006/main">
              <a:ext uri="{FF2B5EF4-FFF2-40B4-BE49-F238E27FC236}">
                <a16:creationId xmlns:a16="http://schemas.microsoft.com/office/drawing/2014/main" id="{9C840CDB-D97B-4D70-B5D0-D2CB26B7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050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3333B2"/>
                </a:solidFill>
              </a:defRPr>
            </a:pPr>
            <a:r>
              <a:rPr sz="1575" b="1" i="0">
                <a:solidFill>
                  <a:srgbClr val="3333B2"/>
                </a:solidFill>
              </a:rPr>
              <a:t>BRANCH</a:t>
            </a:r>
          </a:p>
        </p:txBody>
      </p:sp>
      <p:sp>
        <p:nvSpPr>
          <p:cNvPr id="5" name="arrow-0">
            <a:extLst xmlns:a="http://schemas.openxmlformats.org/drawingml/2006/main">
              <a:ext uri="{FF2B5EF4-FFF2-40B4-BE49-F238E27FC236}">
                <a16:creationId xmlns:a16="http://schemas.microsoft.com/office/drawing/2014/main" id="{ABFACE91-BC4E-4862-882D-36CF54EA8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28600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0" i="0">
                <a:solidFill>
                  <a:srgbClr val="5C5C69"/>
                </a:solidFill>
              </a:defRPr>
            </a:pPr>
            <a:r>
              <a:rPr sz="2250" b="0" i="0">
                <a:solidFill>
                  <a:srgbClr val="5C5C69"/>
                </a:solidFill>
              </a:rPr>
              <a:t>→</a:t>
            </a:r>
          </a:p>
        </p:txBody>
      </p:sp>
      <p:sp>
        <p:nvSpPr>
          <p:cNvPr id="6" name="step-1">
            <a:extLst xmlns:a="http://schemas.openxmlformats.org/drawingml/2006/main">
              <a:ext uri="{FF2B5EF4-FFF2-40B4-BE49-F238E27FC236}">
                <a16:creationId xmlns:a16="http://schemas.microsoft.com/office/drawing/2014/main" id="{DB8112DC-8443-4A11-B9B4-22B49E4E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3050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3333B2"/>
                </a:solidFill>
              </a:defRPr>
            </a:pPr>
            <a:r>
              <a:rPr sz="1575" b="1" i="0">
                <a:solidFill>
                  <a:srgbClr val="3333B2"/>
                </a:solidFill>
              </a:rPr>
              <a:t>INSPECT</a:t>
            </a:r>
          </a:p>
        </p:txBody>
      </p:sp>
      <p:sp>
        <p:nvSpPr>
          <p:cNvPr id="7" name="arrow-1">
            <a:extLst xmlns:a="http://schemas.openxmlformats.org/drawingml/2006/main">
              <a:ext uri="{FF2B5EF4-FFF2-40B4-BE49-F238E27FC236}">
                <a16:creationId xmlns:a16="http://schemas.microsoft.com/office/drawing/2014/main" id="{04950873-D29F-4936-910A-1364A8FF6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28600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0" i="0">
                <a:solidFill>
                  <a:srgbClr val="5C5C69"/>
                </a:solidFill>
              </a:defRPr>
            </a:pPr>
            <a:r>
              <a:rPr sz="2250" b="0" i="0">
                <a:solidFill>
                  <a:srgbClr val="5C5C69"/>
                </a:solidFill>
              </a:rPr>
              <a:t>→</a:t>
            </a:r>
          </a:p>
        </p:txBody>
      </p:sp>
      <p:sp>
        <p:nvSpPr>
          <p:cNvPr id="8" name="step-2">
            <a:extLst xmlns:a="http://schemas.openxmlformats.org/drawingml/2006/main">
              <a:ext uri="{FF2B5EF4-FFF2-40B4-BE49-F238E27FC236}">
                <a16:creationId xmlns:a16="http://schemas.microsoft.com/office/drawing/2014/main" id="{1780F638-00FE-41D8-AC5A-1ACBB9B99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3050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FF0000"/>
                </a:solidFill>
              </a:defRPr>
            </a:pPr>
            <a:r>
              <a:rPr sz="1575" b="1" i="0">
                <a:solidFill>
                  <a:srgbClr val="FF0000"/>
                </a:solidFill>
              </a:rPr>
              <a:t>AUTHORIZE</a:t>
            </a:r>
          </a:p>
        </p:txBody>
      </p:sp>
      <p:sp>
        <p:nvSpPr>
          <p:cNvPr id="9" name="arrow-2">
            <a:extLst xmlns:a="http://schemas.openxmlformats.org/drawingml/2006/main">
              <a:ext uri="{FF2B5EF4-FFF2-40B4-BE49-F238E27FC236}">
                <a16:creationId xmlns:a16="http://schemas.microsoft.com/office/drawing/2014/main" id="{59222A6A-92E5-4D5A-B9B1-B9A0F77E2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28600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0" i="0">
                <a:solidFill>
                  <a:srgbClr val="5C5C69"/>
                </a:solidFill>
              </a:defRPr>
            </a:pPr>
            <a:r>
              <a:rPr sz="2250" b="0" i="0">
                <a:solidFill>
                  <a:srgbClr val="5C5C69"/>
                </a:solidFill>
              </a:rPr>
              <a:t>→</a:t>
            </a:r>
          </a:p>
        </p:txBody>
      </p:sp>
      <p:sp>
        <p:nvSpPr>
          <p:cNvPr id="10" name="step-3">
            <a:extLst xmlns:a="http://schemas.openxmlformats.org/drawingml/2006/main">
              <a:ext uri="{FF2B5EF4-FFF2-40B4-BE49-F238E27FC236}">
                <a16:creationId xmlns:a16="http://schemas.microsoft.com/office/drawing/2014/main" id="{0508A70D-45E7-46AF-8A8A-6E0620ED5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050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3333B2"/>
                </a:solidFill>
              </a:defRPr>
            </a:pPr>
            <a:r>
              <a:rPr sz="1575" b="1" i="0">
                <a:solidFill>
                  <a:srgbClr val="3333B2"/>
                </a:solidFill>
              </a:rPr>
              <a:t>DIFF</a:t>
            </a:r>
          </a:p>
        </p:txBody>
      </p:sp>
      <p:sp>
        <p:nvSpPr>
          <p:cNvPr id="11" name="arrow-3">
            <a:extLst xmlns:a="http://schemas.openxmlformats.org/drawingml/2006/main">
              <a:ext uri="{FF2B5EF4-FFF2-40B4-BE49-F238E27FC236}">
                <a16:creationId xmlns:a16="http://schemas.microsoft.com/office/drawing/2014/main" id="{896D1CE6-B093-4A13-9F82-C46B791F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28600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0" i="0">
                <a:solidFill>
                  <a:srgbClr val="5C5C69"/>
                </a:solidFill>
              </a:defRPr>
            </a:pPr>
            <a:r>
              <a:rPr sz="2250" b="0" i="0">
                <a:solidFill>
                  <a:srgbClr val="5C5C69"/>
                </a:solidFill>
              </a:rPr>
              <a:t>→</a:t>
            </a:r>
          </a:p>
        </p:txBody>
      </p:sp>
      <p:sp>
        <p:nvSpPr>
          <p:cNvPr id="12" name="step-4">
            <a:extLst xmlns:a="http://schemas.openxmlformats.org/drawingml/2006/main">
              <a:ext uri="{FF2B5EF4-FFF2-40B4-BE49-F238E27FC236}">
                <a16:creationId xmlns:a16="http://schemas.microsoft.com/office/drawing/2014/main" id="{7876693A-D096-428B-B5E5-172897350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050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3333B2"/>
                </a:solidFill>
              </a:defRPr>
            </a:pPr>
            <a:r>
              <a:rPr sz="1575" b="1" i="0">
                <a:solidFill>
                  <a:srgbClr val="3333B2"/>
                </a:solidFill>
              </a:rPr>
              <a:t>REVIEW</a:t>
            </a:r>
          </a:p>
        </p:txBody>
      </p:sp>
      <p:sp>
        <p:nvSpPr>
          <p:cNvPr id="13" name="arrow-4">
            <a:extLst xmlns:a="http://schemas.openxmlformats.org/drawingml/2006/main">
              <a:ext uri="{FF2B5EF4-FFF2-40B4-BE49-F238E27FC236}">
                <a16:creationId xmlns:a16="http://schemas.microsoft.com/office/drawing/2014/main" id="{94802365-6B5B-4299-BB9D-E8B2F59E2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28600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0" i="0">
                <a:solidFill>
                  <a:srgbClr val="5C5C69"/>
                </a:solidFill>
              </a:defRPr>
            </a:pPr>
            <a:r>
              <a:rPr sz="2250" b="0" i="0">
                <a:solidFill>
                  <a:srgbClr val="5C5C69"/>
                </a:solidFill>
              </a:rPr>
              <a:t>→</a:t>
            </a:r>
          </a:p>
        </p:txBody>
      </p:sp>
      <p:sp>
        <p:nvSpPr>
          <p:cNvPr id="14" name="step-5">
            <a:extLst xmlns:a="http://schemas.openxmlformats.org/drawingml/2006/main">
              <a:ext uri="{FF2B5EF4-FFF2-40B4-BE49-F238E27FC236}">
                <a16:creationId xmlns:a16="http://schemas.microsoft.com/office/drawing/2014/main" id="{ECB05F1F-D7B8-4CBE-BAB2-9DE3156F1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050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3333B2"/>
                </a:solidFill>
              </a:defRPr>
            </a:pPr>
            <a:r>
              <a:rPr sz="1575" b="1" i="0">
                <a:solidFill>
                  <a:srgbClr val="3333B2"/>
                </a:solidFill>
              </a:rPr>
              <a:t>COMMIT</a:t>
            </a:r>
          </a:p>
        </p:txBody>
      </p:sp>
      <p:sp>
        <p:nvSpPr>
          <p:cNvPr id="15" name="cmd-370">
            <a:extLst xmlns:a="http://schemas.openxmlformats.org/drawingml/2006/main">
              <a:ext uri="{FF2B5EF4-FFF2-40B4-BE49-F238E27FC236}">
                <a16:creationId xmlns:a16="http://schemas.microsoft.com/office/drawing/2014/main" id="{AF693FE3-837F-4A9A-B30A-22DDB8790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24250"/>
            <a:ext cx="6953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git switch -c codex/clean-job-training</a:t>
            </a:r>
          </a:p>
        </p:txBody>
      </p:sp>
      <p:sp>
        <p:nvSpPr>
          <p:cNvPr id="16" name="rule">
            <a:extLst xmlns:a="http://schemas.openxmlformats.org/drawingml/2006/main">
              <a:ext uri="{FF2B5EF4-FFF2-40B4-BE49-F238E27FC236}">
                <a16:creationId xmlns:a16="http://schemas.microsoft.com/office/drawing/2014/main" id="{42C81633-F8E6-4DDE-B82A-34AFF3A09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BF0040"/>
                </a:solidFill>
              </a:defRPr>
            </a:pPr>
            <a:r>
              <a:rPr sz="2250" b="1" i="0">
                <a:solidFill>
                  <a:srgbClr val="BF0040"/>
                </a:solidFill>
              </a:rPr>
              <a:t>No edit is routine if it changes the experiment.</a:t>
            </a:r>
          </a:p>
        </p:txBody>
      </p:sp>
    </p:spTree>
    <p:extLst>
      <p:ext uri="{BB962C8B-B14F-4D97-AF65-F5344CB8AC3E}">
        <p14:creationId xmlns:p14="http://schemas.microsoft.com/office/powerpoint/2010/main" val="149596078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D56430F-BB84-40F3-8E93-280EF9B4A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The clean analysis passes six gates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9151C2C9-11FC-4E16-ADB7-17A4786DB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76CEB65-893B-4A74-B31B-336239361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15 / 25</a:t>
            </a:r>
          </a:p>
        </p:txBody>
      </p:sp>
      <p:sp>
        <p:nvSpPr>
          <p:cNvPr id="4" name="gate-0">
            <a:extLst xmlns:a="http://schemas.openxmlformats.org/drawingml/2006/main">
              <a:ext uri="{FF2B5EF4-FFF2-40B4-BE49-F238E27FC236}">
                <a16:creationId xmlns:a16="http://schemas.microsoft.com/office/drawing/2014/main" id="{21ED8A96-92E8-4661-9EF4-E747AEA71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62075"/>
            <a:ext cx="1809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3333B2"/>
                </a:solidFill>
              </a:defRPr>
            </a:pPr>
            <a:r>
              <a:rPr sz="1650" b="1" i="0">
                <a:solidFill>
                  <a:srgbClr val="3333B2"/>
                </a:solidFill>
              </a:rPr>
              <a:t>N</a:t>
            </a:r>
          </a:p>
        </p:txBody>
      </p:sp>
      <p:sp>
        <p:nvSpPr>
          <p:cNvPr id="5" name="gate-desc-0">
            <a:extLst xmlns:a="http://schemas.openxmlformats.org/drawingml/2006/main">
              <a:ext uri="{FF2B5EF4-FFF2-40B4-BE49-F238E27FC236}">
                <a16:creationId xmlns:a16="http://schemas.microsoft.com/office/drawing/2014/main" id="{9BF9869B-9C33-4086-88A2-91F43EA84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362075"/>
            <a:ext cx="7810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expected rows at every stage</a:t>
            </a:r>
          </a:p>
        </p:txBody>
      </p:sp>
      <p:sp>
        <p:nvSpPr>
          <p:cNvPr id="6" name="rule-88-196">
            <a:extLst xmlns:a="http://schemas.openxmlformats.org/drawingml/2006/main">
              <a:ext uri="{FF2B5EF4-FFF2-40B4-BE49-F238E27FC236}">
                <a16:creationId xmlns:a16="http://schemas.microsoft.com/office/drawing/2014/main" id="{1FFDE333-89F6-4C43-A9DF-F8F39FFE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669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7" name="gate-1">
            <a:extLst xmlns:a="http://schemas.openxmlformats.org/drawingml/2006/main">
              <a:ext uri="{FF2B5EF4-FFF2-40B4-BE49-F238E27FC236}">
                <a16:creationId xmlns:a16="http://schemas.microsoft.com/office/drawing/2014/main" id="{956CCD91-D16F-42FC-A3E5-4315FD62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05025"/>
            <a:ext cx="1809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3333B2"/>
                </a:solidFill>
              </a:defRPr>
            </a:pPr>
            <a:r>
              <a:rPr sz="1650" b="1" i="0">
                <a:solidFill>
                  <a:srgbClr val="3333B2"/>
                </a:solidFill>
              </a:rPr>
              <a:t>KEYS</a:t>
            </a:r>
          </a:p>
        </p:txBody>
      </p:sp>
      <p:sp>
        <p:nvSpPr>
          <p:cNvPr id="8" name="gate-desc-1">
            <a:extLst xmlns:a="http://schemas.openxmlformats.org/drawingml/2006/main">
              <a:ext uri="{FF2B5EF4-FFF2-40B4-BE49-F238E27FC236}">
                <a16:creationId xmlns:a16="http://schemas.microsoft.com/office/drawing/2014/main" id="{404D2C43-8DAC-402A-AA0C-9B2C3A750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105025"/>
            <a:ext cx="7810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uniqueness and merge cardinality</a:t>
            </a:r>
          </a:p>
        </p:txBody>
      </p:sp>
      <p:sp>
        <p:nvSpPr>
          <p:cNvPr id="9" name="rule-88-274">
            <a:extLst xmlns:a="http://schemas.openxmlformats.org/drawingml/2006/main">
              <a:ext uri="{FF2B5EF4-FFF2-40B4-BE49-F238E27FC236}">
                <a16:creationId xmlns:a16="http://schemas.microsoft.com/office/drawing/2014/main" id="{F299651E-A66B-42D3-B206-2E6BC6CDF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98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0" name="gate-2">
            <a:extLst xmlns:a="http://schemas.openxmlformats.org/drawingml/2006/main">
              <a:ext uri="{FF2B5EF4-FFF2-40B4-BE49-F238E27FC236}">
                <a16:creationId xmlns:a16="http://schemas.microsoft.com/office/drawing/2014/main" id="{024F6A2E-7826-4D9B-92B7-1F70A777E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47975"/>
            <a:ext cx="1809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3333B2"/>
                </a:solidFill>
              </a:defRPr>
            </a:pPr>
            <a:r>
              <a:rPr sz="1650" b="1" i="0">
                <a:solidFill>
                  <a:srgbClr val="3333B2"/>
                </a:solidFill>
              </a:rPr>
              <a:t>ASSIGNMENT</a:t>
            </a:r>
          </a:p>
        </p:txBody>
      </p:sp>
      <p:sp>
        <p:nvSpPr>
          <p:cNvPr id="11" name="gate-desc-2">
            <a:extLst xmlns:a="http://schemas.openxmlformats.org/drawingml/2006/main">
              <a:ext uri="{FF2B5EF4-FFF2-40B4-BE49-F238E27FC236}">
                <a16:creationId xmlns:a16="http://schemas.microsoft.com/office/drawing/2014/main" id="{A91B1F68-A5E4-4A3C-A827-B160842A0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847975"/>
            <a:ext cx="7810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balance and immutable offer status</a:t>
            </a:r>
          </a:p>
        </p:txBody>
      </p:sp>
      <p:sp>
        <p:nvSpPr>
          <p:cNvPr id="12" name="rule-88-352">
            <a:extLst xmlns:a="http://schemas.openxmlformats.org/drawingml/2006/main">
              <a:ext uri="{FF2B5EF4-FFF2-40B4-BE49-F238E27FC236}">
                <a16:creationId xmlns:a16="http://schemas.microsoft.com/office/drawing/2014/main" id="{8BEA7B6E-F216-452B-9D3D-BB905F505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528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3" name="gate-3">
            <a:extLst xmlns:a="http://schemas.openxmlformats.org/drawingml/2006/main">
              <a:ext uri="{FF2B5EF4-FFF2-40B4-BE49-F238E27FC236}">
                <a16:creationId xmlns:a16="http://schemas.microsoft.com/office/drawing/2014/main" id="{99175DD8-A79D-4054-90D0-C4750DAC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90925"/>
            <a:ext cx="1809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3333B2"/>
                </a:solidFill>
              </a:defRPr>
            </a:pPr>
            <a:r>
              <a:rPr sz="1650" b="1" i="0">
                <a:solidFill>
                  <a:srgbClr val="3333B2"/>
                </a:solidFill>
              </a:rPr>
              <a:t>MERGE</a:t>
            </a:r>
          </a:p>
        </p:txBody>
      </p:sp>
      <p:sp>
        <p:nvSpPr>
          <p:cNvPr id="14" name="gate-desc-3">
            <a:extLst xmlns:a="http://schemas.openxmlformats.org/drawingml/2006/main">
              <a:ext uri="{FF2B5EF4-FFF2-40B4-BE49-F238E27FC236}">
                <a16:creationId xmlns:a16="http://schemas.microsoft.com/office/drawing/2014/main" id="{8BA53778-A1B9-405B-B3D1-663B198DA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590925"/>
            <a:ext cx="7810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matched, unmatched, and duplicate records</a:t>
            </a:r>
          </a:p>
        </p:txBody>
      </p:sp>
      <p:sp>
        <p:nvSpPr>
          <p:cNvPr id="15" name="rule-88-430">
            <a:extLst xmlns:a="http://schemas.openxmlformats.org/drawingml/2006/main">
              <a:ext uri="{FF2B5EF4-FFF2-40B4-BE49-F238E27FC236}">
                <a16:creationId xmlns:a16="http://schemas.microsoft.com/office/drawing/2014/main" id="{B113CC5A-83D2-4E4F-B1CC-831D59060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6" name="gate-4">
            <a:extLst xmlns:a="http://schemas.openxmlformats.org/drawingml/2006/main">
              <a:ext uri="{FF2B5EF4-FFF2-40B4-BE49-F238E27FC236}">
                <a16:creationId xmlns:a16="http://schemas.microsoft.com/office/drawing/2014/main" id="{9A22FF64-D7C1-4DD8-9787-680CB136A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33875"/>
            <a:ext cx="1809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3333B2"/>
                </a:solidFill>
              </a:defRPr>
            </a:pPr>
            <a:r>
              <a:rPr sz="1650" b="1" i="0">
                <a:solidFill>
                  <a:srgbClr val="3333B2"/>
                </a:solidFill>
              </a:rPr>
              <a:t>OUTCOMES</a:t>
            </a:r>
          </a:p>
        </p:txBody>
      </p:sp>
      <p:sp>
        <p:nvSpPr>
          <p:cNvPr id="17" name="gate-desc-4">
            <a:extLst xmlns:a="http://schemas.openxmlformats.org/drawingml/2006/main">
              <a:ext uri="{FF2B5EF4-FFF2-40B4-BE49-F238E27FC236}">
                <a16:creationId xmlns:a16="http://schemas.microsoft.com/office/drawing/2014/main" id="{A50639A7-593C-4557-B19C-58685F7BE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333875"/>
            <a:ext cx="7810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definition, horizon, and missingness</a:t>
            </a:r>
          </a:p>
        </p:txBody>
      </p:sp>
      <p:sp>
        <p:nvSpPr>
          <p:cNvPr id="18" name="rule-88-508">
            <a:extLst xmlns:a="http://schemas.openxmlformats.org/drawingml/2006/main">
              <a:ext uri="{FF2B5EF4-FFF2-40B4-BE49-F238E27FC236}">
                <a16:creationId xmlns:a16="http://schemas.microsoft.com/office/drawing/2014/main" id="{E009DA9E-4ACD-48F0-8F00-B855866E3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387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9" name="gate-5">
            <a:extLst xmlns:a="http://schemas.openxmlformats.org/drawingml/2006/main">
              <a:ext uri="{FF2B5EF4-FFF2-40B4-BE49-F238E27FC236}">
                <a16:creationId xmlns:a16="http://schemas.microsoft.com/office/drawing/2014/main" id="{8C16D2CE-682B-4534-9AA0-B0E999BB7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76825"/>
            <a:ext cx="1809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3333B2"/>
                </a:solidFill>
              </a:defRPr>
            </a:pPr>
            <a:r>
              <a:rPr sz="1650" b="1" i="0">
                <a:solidFill>
                  <a:srgbClr val="3333B2"/>
                </a:solidFill>
              </a:rPr>
              <a:t>ESTIMAND</a:t>
            </a:r>
          </a:p>
        </p:txBody>
      </p:sp>
      <p:sp>
        <p:nvSpPr>
          <p:cNvPr id="20" name="gate-desc-5">
            <a:extLst xmlns:a="http://schemas.openxmlformats.org/drawingml/2006/main">
              <a:ext uri="{FF2B5EF4-FFF2-40B4-BE49-F238E27FC236}">
                <a16:creationId xmlns:a16="http://schemas.microsoft.com/office/drawing/2014/main" id="{DBA1AA26-7CB7-450A-99AC-C9E0352A9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5076825"/>
            <a:ext cx="7810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ITT matches the research question</a:t>
            </a:r>
          </a:p>
        </p:txBody>
      </p:sp>
    </p:spTree>
    <p:extLst>
      <p:ext uri="{BB962C8B-B14F-4D97-AF65-F5344CB8AC3E}">
        <p14:creationId xmlns:p14="http://schemas.microsoft.com/office/powerpoint/2010/main" val="56996356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B6AE96E-DEA3-41D5-A8FE-E370B9F77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Case A decision — approval is earned by evidence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7B74FEFF-A5C6-4F4D-ACE6-C4BFDBAD5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29B8F18-D14C-446E-A7EE-A398F766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16 / 25</a:t>
            </a:r>
          </a:p>
        </p:txBody>
      </p:sp>
      <p:sp>
        <p:nvSpPr>
          <p:cNvPr id="4" name="decision">
            <a:extLst xmlns:a="http://schemas.openxmlformats.org/drawingml/2006/main">
              <a:ext uri="{FF2B5EF4-FFF2-40B4-BE49-F238E27FC236}">
                <a16:creationId xmlns:a16="http://schemas.microsoft.com/office/drawing/2014/main" id="{C3931F8A-0170-4692-8967-628E81278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38300"/>
            <a:ext cx="4000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3333B2"/>
                </a:solidFill>
              </a:defRPr>
            </a:pPr>
            <a:r>
              <a:rPr sz="4200" b="1" i="0">
                <a:solidFill>
                  <a:srgbClr val="3333B2"/>
                </a:solidFill>
              </a:rPr>
              <a:t>APPROVE</a:t>
            </a:r>
          </a:p>
        </p:txBody>
      </p:sp>
      <p:sp>
        <p:nvSpPr>
          <p:cNvPr id="5" name="condition">
            <a:extLst xmlns:a="http://schemas.openxmlformats.org/drawingml/2006/main">
              <a:ext uri="{FF2B5EF4-FFF2-40B4-BE49-F238E27FC236}">
                <a16:creationId xmlns:a16="http://schemas.microsoft.com/office/drawing/2014/main" id="{9B662AF3-8248-43C9-851F-1B41E791F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43175"/>
            <a:ext cx="885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7171C"/>
                </a:solidFill>
              </a:defRPr>
            </a:pPr>
            <a:r>
              <a:rPr sz="2100" b="0" i="0">
                <a:solidFill>
                  <a:srgbClr val="17171C"/>
                </a:solidFill>
              </a:rPr>
              <a:t>only if the design contract and all six gates are supported.</a:t>
            </a:r>
          </a:p>
        </p:txBody>
      </p:sp>
      <p:sp>
        <p:nvSpPr>
          <p:cNvPr id="6" name="evidence1">
            <a:extLst xmlns:a="http://schemas.openxmlformats.org/drawingml/2006/main">
              <a:ext uri="{FF2B5EF4-FFF2-40B4-BE49-F238E27FC236}">
                <a16:creationId xmlns:a16="http://schemas.microsoft.com/office/drawing/2014/main" id="{ABE7E4E5-CD35-482F-B636-F92231853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38550"/>
            <a:ext cx="714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7171C"/>
                </a:solidFill>
              </a:defRPr>
            </a:pPr>
            <a:r>
              <a:rPr sz="1875" b="0" i="0">
                <a:solidFill>
                  <a:srgbClr val="17171C"/>
                </a:solidFill>
              </a:rPr>
              <a:t>✓ assignment remains the treatment</a:t>
            </a:r>
          </a:p>
        </p:txBody>
      </p:sp>
      <p:sp>
        <p:nvSpPr>
          <p:cNvPr id="7" name="evidence2">
            <a:extLst xmlns:a="http://schemas.openxmlformats.org/drawingml/2006/main">
              <a:ext uri="{FF2B5EF4-FFF2-40B4-BE49-F238E27FC236}">
                <a16:creationId xmlns:a16="http://schemas.microsoft.com/office/drawing/2014/main" id="{AE9AD008-63A9-4972-9F17-A4E765BF4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38625"/>
            <a:ext cx="714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7171C"/>
                </a:solidFill>
              </a:defRPr>
            </a:pPr>
            <a:r>
              <a:rPr sz="1875" b="0" i="0">
                <a:solidFill>
                  <a:srgbClr val="17171C"/>
                </a:solidFill>
              </a:rPr>
              <a:t>✓ applicant-level keys survive the merge</a:t>
            </a:r>
          </a:p>
        </p:txBody>
      </p:sp>
      <p:sp>
        <p:nvSpPr>
          <p:cNvPr id="8" name="evidence3">
            <a:extLst xmlns:a="http://schemas.openxmlformats.org/drawingml/2006/main">
              <a:ext uri="{FF2B5EF4-FFF2-40B4-BE49-F238E27FC236}">
                <a16:creationId xmlns:a16="http://schemas.microsoft.com/office/drawing/2014/main" id="{26EF2493-21F7-4CC6-B906-A9041172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38700"/>
            <a:ext cx="762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7171C"/>
                </a:solidFill>
              </a:defRPr>
            </a:pPr>
            <a:r>
              <a:rPr sz="1875" b="0" i="0">
                <a:solidFill>
                  <a:srgbClr val="17171C"/>
                </a:solidFill>
              </a:rPr>
              <a:t>✓ outcome and estimand match the contract</a:t>
            </a:r>
          </a:p>
        </p:txBody>
      </p:sp>
      <p:sp>
        <p:nvSpPr>
          <p:cNvPr id="9" name="debrief">
            <a:extLst xmlns:a="http://schemas.openxmlformats.org/drawingml/2006/main">
              <a:ext uri="{FF2B5EF4-FFF2-40B4-BE49-F238E27FC236}">
                <a16:creationId xmlns:a16="http://schemas.microsoft.com/office/drawing/2014/main" id="{71B7E2F2-0401-48F7-B119-F0226C6A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29275"/>
            <a:ext cx="781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BF0040"/>
                </a:solidFill>
              </a:defRPr>
            </a:pPr>
            <a:r>
              <a:rPr sz="1800" b="1" i="0">
                <a:solidFill>
                  <a:srgbClr val="BF0040"/>
                </a:solidFill>
              </a:rPr>
              <a:t>What evidence changed your confidence?</a:t>
            </a:r>
          </a:p>
        </p:txBody>
      </p:sp>
    </p:spTree>
    <p:extLst>
      <p:ext uri="{BB962C8B-B14F-4D97-AF65-F5344CB8AC3E}">
        <p14:creationId xmlns:p14="http://schemas.microsoft.com/office/powerpoint/2010/main" val="23458603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E5D216A-74CC-497A-AB9F-DF2B51065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17 / 25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13228F4-AD6C-48A8-A78E-3E1CA3BBC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335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3333B2"/>
                </a:solidFill>
              </a:defRPr>
            </a:pPr>
            <a:r>
              <a:rPr sz="1800" b="1" i="0">
                <a:solidFill>
                  <a:srgbClr val="3333B2"/>
                </a:solidFill>
              </a:rPr>
              <a:t>CASE B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D48D28-398A-4428-9C0E-820E6F4DD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857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17171C"/>
                </a:solidFill>
              </a:defRPr>
            </a:pPr>
            <a:r>
              <a:rPr sz="4350" b="1" i="0">
                <a:solidFill>
                  <a:srgbClr val="17171C"/>
                </a:solidFill>
              </a:rPr>
              <a:t>Inherited analysis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5B454E39-CBDA-4C86-9D7C-C45D7252B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528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BF0040"/>
                </a:solidFill>
              </a:defRPr>
            </a:pPr>
            <a:r>
              <a:rPr sz="2250" b="1" i="0">
                <a:solidFill>
                  <a:srgbClr val="BF0040"/>
                </a:solidFill>
              </a:rPr>
              <a:t>Reconstruct the experiment before trusting the output.</a:t>
            </a:r>
          </a:p>
        </p:txBody>
      </p:sp>
      <p:sp>
        <p:nvSpPr>
          <p:cNvPr id="5" name="rule-82-480">
            <a:extLst xmlns:a="http://schemas.openxmlformats.org/drawingml/2006/main">
              <a:ext uri="{FF2B5EF4-FFF2-40B4-BE49-F238E27FC236}">
                <a16:creationId xmlns:a16="http://schemas.microsoft.com/office/drawing/2014/main" id="{795CA1A7-7125-4370-8E51-57302472D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0"/>
            <a:ext cx="5905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3B2"/>
          </a:solidFill>
          <a:ln xmlns:a="http://schemas.openxmlformats.org/drawingml/2006/main" w="0">
            <a:solidFill>
              <a:srgbClr val="3333B2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4290697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728FC57-FFC0-4AF8-90DC-7BF7F7839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The inherited result is scheduled for tomorrow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548F5496-13F7-4F4D-B8C0-5E361E2CD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59CE047-31FD-4D60-9519-B7CE35493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18 / 25</a:t>
            </a:r>
          </a:p>
        </p:txBody>
      </p:sp>
      <p:sp>
        <p:nvSpPr>
          <p:cNvPr id="4" name="big-question">
            <a:extLst xmlns:a="http://schemas.openxmlformats.org/drawingml/2006/main">
              <a:ext uri="{FF2B5EF4-FFF2-40B4-BE49-F238E27FC236}">
                <a16:creationId xmlns:a16="http://schemas.microsoft.com/office/drawing/2014/main" id="{18EC235E-A92C-4518-823D-B4DA6457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952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FF0000"/>
                </a:solidFill>
              </a:defRPr>
            </a:pPr>
            <a:r>
              <a:rPr sz="4350" b="1" i="0">
                <a:solidFill>
                  <a:srgbClr val="FF0000"/>
                </a:solidFill>
              </a:rPr>
              <a:t>Would you sign off?</a:t>
            </a:r>
          </a:p>
        </p:txBody>
      </p:sp>
      <p:sp>
        <p:nvSpPr>
          <p:cNvPr id="5" name="context">
            <a:extLst xmlns:a="http://schemas.openxmlformats.org/drawingml/2006/main">
              <a:ext uri="{FF2B5EF4-FFF2-40B4-BE49-F238E27FC236}">
                <a16:creationId xmlns:a16="http://schemas.microsoft.com/office/drawing/2014/main" id="{E223CC58-F789-4EE4-9804-1F2B3A941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90875"/>
            <a:ext cx="10001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7171C"/>
                </a:solidFill>
              </a:defRPr>
            </a:pPr>
            <a:r>
              <a:rPr sz="2175" b="0" i="0">
                <a:solidFill>
                  <a:srgbClr val="17171C"/>
                </a:solidFill>
              </a:rPr>
              <a:t>Claim: training participation increased employment at six months.</a:t>
            </a:r>
          </a:p>
        </p:txBody>
      </p:sp>
      <p:sp>
        <p:nvSpPr>
          <p:cNvPr id="6" name="constraint">
            <a:extLst xmlns:a="http://schemas.openxmlformats.org/drawingml/2006/main">
              <a:ext uri="{FF2B5EF4-FFF2-40B4-BE49-F238E27FC236}">
                <a16:creationId xmlns:a16="http://schemas.microsoft.com/office/drawing/2014/main" id="{7904DA34-C190-436C-A37A-213F37D9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43375"/>
            <a:ext cx="914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BF0040"/>
                </a:solidFill>
              </a:defRPr>
            </a:pPr>
            <a:r>
              <a:rPr sz="2100" b="1" i="0">
                <a:solidFill>
                  <a:srgbClr val="BF0040"/>
                </a:solidFill>
              </a:rPr>
              <a:t>Your answer must be supported by repository evidence.</a:t>
            </a:r>
          </a:p>
        </p:txBody>
      </p:sp>
      <p:sp>
        <p:nvSpPr>
          <p:cNvPr id="7" name="warning">
            <a:extLst xmlns:a="http://schemas.openxmlformats.org/drawingml/2006/main">
              <a:ext uri="{FF2B5EF4-FFF2-40B4-BE49-F238E27FC236}">
                <a16:creationId xmlns:a16="http://schemas.microsoft.com/office/drawing/2014/main" id="{F0F89211-0D0F-475D-8BBD-646B7BBDA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0062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3333B2"/>
                </a:solidFill>
              </a:defRPr>
            </a:pPr>
            <a:r>
              <a:rPr sz="1800" b="1" i="0">
                <a:solidFill>
                  <a:srgbClr val="3333B2"/>
                </a:solidFill>
              </a:rPr>
              <a:t>Do not begin with the point estimate.</a:t>
            </a:r>
          </a:p>
        </p:txBody>
      </p:sp>
    </p:spTree>
    <p:extLst>
      <p:ext uri="{BB962C8B-B14F-4D97-AF65-F5344CB8AC3E}">
        <p14:creationId xmlns:p14="http://schemas.microsoft.com/office/powerpoint/2010/main" val="60042311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371DF37-AC93-4FEC-98DF-E4F3C97AC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Inherited files: assignment, behavior, and output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F3839DD3-6068-4996-9D29-F61D07538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514CBC4-AEE9-43B2-AFE7-E2F5CA2C9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19 / 25</a:t>
            </a:r>
          </a:p>
        </p:txBody>
      </p:sp>
      <p:sp>
        <p:nvSpPr>
          <p:cNvPr id="4" name="file-0">
            <a:extLst xmlns:a="http://schemas.openxmlformats.org/drawingml/2006/main">
              <a:ext uri="{FF2B5EF4-FFF2-40B4-BE49-F238E27FC236}">
                <a16:creationId xmlns:a16="http://schemas.microsoft.com/office/drawing/2014/main" id="{313D367B-1FBF-4ECA-AEEC-72BE2654C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52550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0000FF"/>
                </a:solidFill>
              </a:defRPr>
            </a:pPr>
            <a:r>
              <a:rPr sz="1725" b="1" i="0">
                <a:solidFill>
                  <a:srgbClr val="0000FF"/>
                </a:solidFill>
              </a:rPr>
              <a:t>data/baseline.csv</a:t>
            </a:r>
          </a:p>
        </p:txBody>
      </p:sp>
      <p:sp>
        <p:nvSpPr>
          <p:cNvPr id="5" name="file-desc-0">
            <a:extLst xmlns:a="http://schemas.openxmlformats.org/drawingml/2006/main">
              <a:ext uri="{FF2B5EF4-FFF2-40B4-BE49-F238E27FC236}">
                <a16:creationId xmlns:a16="http://schemas.microsoft.com/office/drawing/2014/main" id="{78E39C84-D11F-4B4B-92F8-9ED31AFE9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5255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applicant characteristics</a:t>
            </a:r>
          </a:p>
        </p:txBody>
      </p:sp>
      <p:sp>
        <p:nvSpPr>
          <p:cNvPr id="6" name="rule-84-197">
            <a:extLst xmlns:a="http://schemas.openxmlformats.org/drawingml/2006/main">
              <a:ext uri="{FF2B5EF4-FFF2-40B4-BE49-F238E27FC236}">
                <a16:creationId xmlns:a16="http://schemas.microsoft.com/office/drawing/2014/main" id="{24F75C1E-61D8-4A12-A66C-F119C3CF0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7" name="file-1">
            <a:extLst xmlns:a="http://schemas.openxmlformats.org/drawingml/2006/main">
              <a:ext uri="{FF2B5EF4-FFF2-40B4-BE49-F238E27FC236}">
                <a16:creationId xmlns:a16="http://schemas.microsoft.com/office/drawing/2014/main" id="{1BD536A9-67DD-4F36-8030-61C4EB87A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43125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0000FF"/>
                </a:solidFill>
              </a:defRPr>
            </a:pPr>
            <a:r>
              <a:rPr sz="1725" b="1" i="0">
                <a:solidFill>
                  <a:srgbClr val="0000FF"/>
                </a:solidFill>
              </a:rPr>
              <a:t>data/assignment.csv</a:t>
            </a:r>
          </a:p>
        </p:txBody>
      </p:sp>
      <p:sp>
        <p:nvSpPr>
          <p:cNvPr id="8" name="file-desc-1">
            <a:extLst xmlns:a="http://schemas.openxmlformats.org/drawingml/2006/main">
              <a:ext uri="{FF2B5EF4-FFF2-40B4-BE49-F238E27FC236}">
                <a16:creationId xmlns:a16="http://schemas.microsoft.com/office/drawing/2014/main" id="{58F52C52-AB7C-41AF-B100-D622B35C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43125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randomized offer</a:t>
            </a:r>
          </a:p>
        </p:txBody>
      </p:sp>
      <p:sp>
        <p:nvSpPr>
          <p:cNvPr id="9" name="rule-84-280">
            <a:extLst xmlns:a="http://schemas.openxmlformats.org/drawingml/2006/main">
              <a:ext uri="{FF2B5EF4-FFF2-40B4-BE49-F238E27FC236}">
                <a16:creationId xmlns:a16="http://schemas.microsoft.com/office/drawing/2014/main" id="{E3A09788-C9E9-4A79-BA22-920AE9346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0" name="file-2">
            <a:extLst xmlns:a="http://schemas.openxmlformats.org/drawingml/2006/main">
              <a:ext uri="{FF2B5EF4-FFF2-40B4-BE49-F238E27FC236}">
                <a16:creationId xmlns:a16="http://schemas.microsoft.com/office/drawing/2014/main" id="{DE1AD50B-AC81-4A4B-8368-0898043F0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0000FF"/>
                </a:solidFill>
              </a:defRPr>
            </a:pPr>
            <a:r>
              <a:rPr sz="1725" b="1" i="0">
                <a:solidFill>
                  <a:srgbClr val="0000FF"/>
                </a:solidFill>
              </a:rPr>
              <a:t>data/followup.csv</a:t>
            </a:r>
          </a:p>
        </p:txBody>
      </p:sp>
      <p:sp>
        <p:nvSpPr>
          <p:cNvPr id="11" name="file-desc-2">
            <a:extLst xmlns:a="http://schemas.openxmlformats.org/drawingml/2006/main">
              <a:ext uri="{FF2B5EF4-FFF2-40B4-BE49-F238E27FC236}">
                <a16:creationId xmlns:a16="http://schemas.microsoft.com/office/drawing/2014/main" id="{C99028BD-073D-4613-8AC2-09D63DE71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3370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six-month employment</a:t>
            </a:r>
          </a:p>
        </p:txBody>
      </p:sp>
      <p:sp>
        <p:nvSpPr>
          <p:cNvPr id="12" name="rule-84-363">
            <a:extLst xmlns:a="http://schemas.openxmlformats.org/drawingml/2006/main">
              <a:ext uri="{FF2B5EF4-FFF2-40B4-BE49-F238E27FC236}">
                <a16:creationId xmlns:a16="http://schemas.microsoft.com/office/drawing/2014/main" id="{A61B83AC-E929-41E2-922D-26925AF7A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57575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3" name="file-3">
            <a:extLst xmlns:a="http://schemas.openxmlformats.org/drawingml/2006/main">
              <a:ext uri="{FF2B5EF4-FFF2-40B4-BE49-F238E27FC236}">
                <a16:creationId xmlns:a16="http://schemas.microsoft.com/office/drawing/2014/main" id="{C1F4C40F-2A67-4F79-9042-471BC90EE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24275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0000FF"/>
                </a:solidFill>
              </a:defRPr>
            </a:pPr>
            <a:r>
              <a:rPr sz="1725" b="1" i="0">
                <a:solidFill>
                  <a:srgbClr val="0000FF"/>
                </a:solidFill>
              </a:rPr>
              <a:t>data/attendance_log.csv</a:t>
            </a:r>
          </a:p>
        </p:txBody>
      </p:sp>
      <p:sp>
        <p:nvSpPr>
          <p:cNvPr id="14" name="file-desc-3">
            <a:extLst xmlns:a="http://schemas.openxmlformats.org/drawingml/2006/main">
              <a:ext uri="{FF2B5EF4-FFF2-40B4-BE49-F238E27FC236}">
                <a16:creationId xmlns:a16="http://schemas.microsoft.com/office/drawing/2014/main" id="{C7D5D7EE-C35E-4DBC-A077-46510EBB9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24275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training attendance events</a:t>
            </a:r>
          </a:p>
        </p:txBody>
      </p:sp>
      <p:sp>
        <p:nvSpPr>
          <p:cNvPr id="15" name="rule-84-446">
            <a:extLst xmlns:a="http://schemas.openxmlformats.org/drawingml/2006/main">
              <a:ext uri="{FF2B5EF4-FFF2-40B4-BE49-F238E27FC236}">
                <a16:creationId xmlns:a16="http://schemas.microsoft.com/office/drawing/2014/main" id="{C5A8B8CE-CBEE-459C-9FC3-900582501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6" name="file-4">
            <a:extLst xmlns:a="http://schemas.openxmlformats.org/drawingml/2006/main">
              <a:ext uri="{FF2B5EF4-FFF2-40B4-BE49-F238E27FC236}">
                <a16:creationId xmlns:a16="http://schemas.microsoft.com/office/drawing/2014/main" id="{25A00B5F-59F9-4C4E-A41D-E5012FE97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0000FF"/>
                </a:solidFill>
              </a:defRPr>
            </a:pPr>
            <a:r>
              <a:rPr sz="1725" b="1" i="0">
                <a:solidFill>
                  <a:srgbClr val="0000FF"/>
                </a:solidFill>
              </a:rPr>
              <a:t>data/case_b_analysis_received.csv</a:t>
            </a:r>
          </a:p>
        </p:txBody>
      </p:sp>
      <p:sp>
        <p:nvSpPr>
          <p:cNvPr id="17" name="file-desc-4">
            <a:extLst xmlns:a="http://schemas.openxmlformats.org/drawingml/2006/main">
              <a:ext uri="{FF2B5EF4-FFF2-40B4-BE49-F238E27FC236}">
                <a16:creationId xmlns:a16="http://schemas.microsoft.com/office/drawing/2014/main" id="{C5B13071-164F-4198-B622-B2F1FC76E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51485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analysis received from prior researcher</a:t>
            </a:r>
          </a:p>
        </p:txBody>
      </p:sp>
      <p:sp>
        <p:nvSpPr>
          <p:cNvPr id="18" name="question">
            <a:extLst xmlns:a="http://schemas.openxmlformats.org/drawingml/2006/main">
              <a:ext uri="{FF2B5EF4-FFF2-40B4-BE49-F238E27FC236}">
                <a16:creationId xmlns:a16="http://schemas.microsoft.com/office/drawing/2014/main" id="{80DA5AAA-0FA5-4AF2-AAEF-4BB173C94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245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0000"/>
                </a:solidFill>
              </a:defRPr>
            </a:pPr>
            <a:r>
              <a:rPr sz="1800" b="1" i="0">
                <a:solidFill>
                  <a:srgbClr val="FF0000"/>
                </a:solidFill>
              </a:rPr>
              <a:t>Which file describes assignment—and which only records behavior after assignment?</a:t>
            </a:r>
          </a:p>
        </p:txBody>
      </p:sp>
    </p:spTree>
    <p:extLst>
      <p:ext uri="{BB962C8B-B14F-4D97-AF65-F5344CB8AC3E}">
        <p14:creationId xmlns:p14="http://schemas.microsoft.com/office/powerpoint/2010/main" val="163512654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F673B3D-3C48-4D78-98D5-4B13D6C06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Use StatsClaw as a forensic collaborator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40939A4C-AF64-4AEE-B41D-88C79F006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F4BBCB4-4098-4C78-BF6D-B5990D382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20 / 25</a:t>
            </a:r>
          </a:p>
        </p:txBody>
      </p:sp>
      <p:sp>
        <p:nvSpPr>
          <p:cNvPr id="4" name="prompt-rule">
            <a:extLst xmlns:a="http://schemas.openxmlformats.org/drawingml/2006/main">
              <a:ext uri="{FF2B5EF4-FFF2-40B4-BE49-F238E27FC236}">
                <a16:creationId xmlns:a16="http://schemas.microsoft.com/office/drawing/2014/main" id="{8EEDE77B-9247-474A-AEB2-2A46BB9AA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66675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3B2"/>
          </a:solidFill>
          <a:ln xmlns:a="http://schemas.openxmlformats.org/drawingml/2006/main" w="0">
            <a:solidFill>
              <a:srgbClr val="3333B2"/>
            </a:solidFill>
            <a:prstDash val="solid"/>
          </a:ln>
        </p:spPr>
      </p:sp>
      <p:sp>
        <p:nvSpPr>
          <p:cNvPr id="5" name="prompt">
            <a:extLst xmlns:a="http://schemas.openxmlformats.org/drawingml/2006/main">
              <a:ext uri="{FF2B5EF4-FFF2-40B4-BE49-F238E27FC236}">
                <a16:creationId xmlns:a16="http://schemas.microsoft.com/office/drawing/2014/main" id="{CAE3B937-D550-4CC9-B07D-C0252437B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428750"/>
            <a:ext cx="9810750" cy="3762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Inspect this inherited analysis without editing files.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Reconstruct the unit, treatment definition, outcome, sample, merge logic, estimand, and provenance of case_b_analysis_received.csv.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Trace every operation that could change row counts, keys, treatment status, or the comparison being estimated.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Report evidence, uncertainty, and the next check.</a:t>
            </a:r>
          </a:p>
        </p:txBody>
      </p:sp>
      <p:sp>
        <p:nvSpPr>
          <p:cNvPr id="6" name="instruction">
            <a:extLst xmlns:a="http://schemas.openxmlformats.org/drawingml/2006/main">
              <a:ext uri="{FF2B5EF4-FFF2-40B4-BE49-F238E27FC236}">
                <a16:creationId xmlns:a16="http://schemas.microsoft.com/office/drawing/2014/main" id="{D9E74859-BCD9-4149-925B-6192FCD3F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476875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F0040"/>
                </a:solidFill>
              </a:defRPr>
            </a:pPr>
            <a:r>
              <a:rPr sz="1650" b="1" i="0">
                <a:solidFill>
                  <a:srgbClr val="BF0040"/>
                </a:solidFill>
              </a:rPr>
              <a:t>Investigate broadly. Do not assume there is exactly one error.</a:t>
            </a:r>
          </a:p>
        </p:txBody>
      </p:sp>
    </p:spTree>
    <p:extLst>
      <p:ext uri="{BB962C8B-B14F-4D97-AF65-F5344CB8AC3E}">
        <p14:creationId xmlns:p14="http://schemas.microsoft.com/office/powerpoint/2010/main" val="140105859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598A519-18E8-4ADE-9902-43206B59E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Pause and make the investigation legible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3CAE7BF2-D356-494D-B790-10491D3B6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22CBAFF-BB7C-4CFB-AAD5-8536B11E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21 / 25</a:t>
            </a:r>
          </a:p>
        </p:txBody>
      </p:sp>
      <p:sp>
        <p:nvSpPr>
          <p:cNvPr id="4" name="qhead-0">
            <a:extLst xmlns:a="http://schemas.openxmlformats.org/drawingml/2006/main">
              <a:ext uri="{FF2B5EF4-FFF2-40B4-BE49-F238E27FC236}">
                <a16:creationId xmlns:a16="http://schemas.microsoft.com/office/drawing/2014/main" id="{EBB503A3-3F71-473F-9566-D75C662A5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287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CURRENT BELIEF</a:t>
            </a:r>
          </a:p>
        </p:txBody>
      </p:sp>
      <p:sp>
        <p:nvSpPr>
          <p:cNvPr id="5" name="qbody-0">
            <a:extLst xmlns:a="http://schemas.openxmlformats.org/drawingml/2006/main">
              <a:ext uri="{FF2B5EF4-FFF2-40B4-BE49-F238E27FC236}">
                <a16:creationId xmlns:a16="http://schemas.microsoft.com/office/drawing/2014/main" id="{3BAEC518-BC97-40F6-82D8-26E7D55F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4287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7171C"/>
                </a:solidFill>
              </a:defRPr>
            </a:pPr>
            <a:r>
              <a:rPr sz="1875" b="0" i="0">
                <a:solidFill>
                  <a:srgbClr val="17171C"/>
                </a:solidFill>
              </a:rPr>
              <a:t>What experiment do you think was run?</a:t>
            </a:r>
          </a:p>
        </p:txBody>
      </p:sp>
      <p:sp>
        <p:nvSpPr>
          <p:cNvPr id="6" name="qhead-1">
            <a:extLst xmlns:a="http://schemas.openxmlformats.org/drawingml/2006/main">
              <a:ext uri="{FF2B5EF4-FFF2-40B4-BE49-F238E27FC236}">
                <a16:creationId xmlns:a16="http://schemas.microsoft.com/office/drawing/2014/main" id="{91A24519-D217-49BC-B8A6-4196B290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955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BEST EVIDENCE</a:t>
            </a:r>
          </a:p>
        </p:txBody>
      </p:sp>
      <p:sp>
        <p:nvSpPr>
          <p:cNvPr id="7" name="qbody-1">
            <a:extLst xmlns:a="http://schemas.openxmlformats.org/drawingml/2006/main">
              <a:ext uri="{FF2B5EF4-FFF2-40B4-BE49-F238E27FC236}">
                <a16:creationId xmlns:a16="http://schemas.microsoft.com/office/drawing/2014/main" id="{389EE7AC-13A8-4A89-8685-259E87B0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955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7171C"/>
                </a:solidFill>
              </a:defRPr>
            </a:pPr>
            <a:r>
              <a:rPr sz="1875" b="0" i="0">
                <a:solidFill>
                  <a:srgbClr val="17171C"/>
                </a:solidFill>
              </a:rPr>
              <a:t>Which file, field, or history entry supports that belief?</a:t>
            </a:r>
          </a:p>
        </p:txBody>
      </p:sp>
      <p:sp>
        <p:nvSpPr>
          <p:cNvPr id="8" name="qhead-2">
            <a:extLst xmlns:a="http://schemas.openxmlformats.org/drawingml/2006/main">
              <a:ext uri="{FF2B5EF4-FFF2-40B4-BE49-F238E27FC236}">
                <a16:creationId xmlns:a16="http://schemas.microsoft.com/office/drawing/2014/main" id="{6BBCDE56-636E-4D8E-B431-38CF6A151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UNRESOLVED</a:t>
            </a:r>
          </a:p>
        </p:txBody>
      </p:sp>
      <p:sp>
        <p:nvSpPr>
          <p:cNvPr id="9" name="qbody-2">
            <a:extLst xmlns:a="http://schemas.openxmlformats.org/drawingml/2006/main">
              <a:ext uri="{FF2B5EF4-FFF2-40B4-BE49-F238E27FC236}">
                <a16:creationId xmlns:a16="http://schemas.microsoft.com/office/drawing/2014/main" id="{7F2A7476-530C-47D1-855E-A74F8C53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5623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7171C"/>
                </a:solidFill>
              </a:defRPr>
            </a:pPr>
            <a:r>
              <a:rPr sz="1875" b="0" i="0">
                <a:solidFill>
                  <a:srgbClr val="17171C"/>
                </a:solidFill>
              </a:rPr>
              <a:t>What could still overturn your conclusion?</a:t>
            </a:r>
          </a:p>
        </p:txBody>
      </p:sp>
      <p:sp>
        <p:nvSpPr>
          <p:cNvPr id="10" name="qhead-3">
            <a:extLst xmlns:a="http://schemas.openxmlformats.org/drawingml/2006/main">
              <a:ext uri="{FF2B5EF4-FFF2-40B4-BE49-F238E27FC236}">
                <a16:creationId xmlns:a16="http://schemas.microsoft.com/office/drawing/2014/main" id="{3C208501-4086-4AA1-905D-90499CB36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291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NEXT CHECK</a:t>
            </a:r>
          </a:p>
        </p:txBody>
      </p:sp>
      <p:sp>
        <p:nvSpPr>
          <p:cNvPr id="11" name="qbody-3">
            <a:extLst xmlns:a="http://schemas.openxmlformats.org/drawingml/2006/main">
              <a:ext uri="{FF2B5EF4-FFF2-40B4-BE49-F238E27FC236}">
                <a16:creationId xmlns:a16="http://schemas.microsoft.com/office/drawing/2014/main" id="{769C34ED-539B-489B-B5C9-291D3C9AB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6291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F0000"/>
                </a:solidFill>
              </a:defRPr>
            </a:pPr>
            <a:r>
              <a:rPr sz="1875" b="1" i="0">
                <a:solidFill>
                  <a:srgbClr val="FF0000"/>
                </a:solidFill>
              </a:rPr>
              <a:t>What will you inspect now—and why?</a:t>
            </a:r>
          </a:p>
        </p:txBody>
      </p:sp>
    </p:spTree>
    <p:extLst>
      <p:ext uri="{BB962C8B-B14F-4D97-AF65-F5344CB8AC3E}">
        <p14:creationId xmlns:p14="http://schemas.microsoft.com/office/powerpoint/2010/main" val="48987171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85F0009-A86A-4646-9104-37B3F7D6D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Git is part of the research record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D3B5AFB7-BDED-4E2B-9E4A-9BEA3620E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464CB4F-F01E-41AB-AD9C-FD038430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22 / 25</a:t>
            </a:r>
          </a:p>
        </p:txBody>
      </p:sp>
      <p:sp>
        <p:nvSpPr>
          <p:cNvPr id="4" name="cmd-155">
            <a:extLst xmlns:a="http://schemas.openxmlformats.org/drawingml/2006/main">
              <a:ext uri="{FF2B5EF4-FFF2-40B4-BE49-F238E27FC236}">
                <a16:creationId xmlns:a16="http://schemas.microsoft.com/office/drawing/2014/main" id="{22814B34-C825-4838-80D0-EDAE461CB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476375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git status</a:t>
            </a:r>
          </a:p>
        </p:txBody>
      </p:sp>
      <p:sp>
        <p:nvSpPr>
          <p:cNvPr id="5" name="cmd-218">
            <a:extLst xmlns:a="http://schemas.openxmlformats.org/drawingml/2006/main">
              <a:ext uri="{FF2B5EF4-FFF2-40B4-BE49-F238E27FC236}">
                <a16:creationId xmlns:a16="http://schemas.microsoft.com/office/drawing/2014/main" id="{A6E4F966-31FD-414F-8CFB-AFFFE2469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76450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git log --oneline --all --decorate</a:t>
            </a:r>
          </a:p>
        </p:txBody>
      </p:sp>
      <p:sp>
        <p:nvSpPr>
          <p:cNvPr id="6" name="cmd-281">
            <a:extLst xmlns:a="http://schemas.openxmlformats.org/drawingml/2006/main">
              <a:ext uri="{FF2B5EF4-FFF2-40B4-BE49-F238E27FC236}">
                <a16:creationId xmlns:a16="http://schemas.microsoft.com/office/drawing/2014/main" id="{4059BD61-C9C8-4597-93B7-7B032F1FA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76525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git diff</a:t>
            </a:r>
          </a:p>
        </p:txBody>
      </p:sp>
      <p:sp>
        <p:nvSpPr>
          <p:cNvPr id="7" name="cmd-344">
            <a:extLst xmlns:a="http://schemas.openxmlformats.org/drawingml/2006/main">
              <a:ext uri="{FF2B5EF4-FFF2-40B4-BE49-F238E27FC236}">
                <a16:creationId xmlns:a16="http://schemas.microsoft.com/office/drawing/2014/main" id="{103E52EA-5234-4FB5-847B-7159F2017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76600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git show &lt;commit&gt;</a:t>
            </a:r>
          </a:p>
        </p:txBody>
      </p:sp>
      <p:sp>
        <p:nvSpPr>
          <p:cNvPr id="8" name="cmd-407">
            <a:extLst xmlns:a="http://schemas.openxmlformats.org/drawingml/2006/main">
              <a:ext uri="{FF2B5EF4-FFF2-40B4-BE49-F238E27FC236}">
                <a16:creationId xmlns:a16="http://schemas.microsoft.com/office/drawing/2014/main" id="{B2477CDE-024B-41ED-9F00-44CECE653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76675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git blame &lt;file&gt;</a:t>
            </a:r>
          </a:p>
        </p:txBody>
      </p:sp>
      <p:sp>
        <p:nvSpPr>
          <p:cNvPr id="9" name="question">
            <a:extLst xmlns:a="http://schemas.openxmlformats.org/drawingml/2006/main">
              <a:ext uri="{FF2B5EF4-FFF2-40B4-BE49-F238E27FC236}">
                <a16:creationId xmlns:a16="http://schemas.microsoft.com/office/drawing/2014/main" id="{5FF6CA43-038D-4864-9018-49F3D14A9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5300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FF0000"/>
                </a:solidFill>
              </a:defRPr>
            </a:pPr>
            <a:r>
              <a:rPr sz="2325" b="1" i="0">
                <a:solidFill>
                  <a:srgbClr val="FF0000"/>
                </a:solidFill>
              </a:rPr>
              <a:t>What can history tell you that the current files cannot?</a:t>
            </a:r>
          </a:p>
        </p:txBody>
      </p:sp>
    </p:spTree>
    <p:extLst>
      <p:ext uri="{BB962C8B-B14F-4D97-AF65-F5344CB8AC3E}">
        <p14:creationId xmlns:p14="http://schemas.microsoft.com/office/powerpoint/2010/main" val="125041946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4EB1CC3-E7E2-46CA-8644-1C741B6EA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Choose a decision before seeing the instructor reveal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32AF36D2-B566-4CA1-9502-EE0ACD0E6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E79849D-7A46-4F9B-BFB8-851B9A6EC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23 / 25</a:t>
            </a:r>
          </a:p>
        </p:txBody>
      </p:sp>
      <p:sp>
        <p:nvSpPr>
          <p:cNvPr id="4" name="decision-0">
            <a:extLst xmlns:a="http://schemas.openxmlformats.org/drawingml/2006/main">
              <a:ext uri="{FF2B5EF4-FFF2-40B4-BE49-F238E27FC236}">
                <a16:creationId xmlns:a16="http://schemas.microsoft.com/office/drawing/2014/main" id="{EA6ACADB-6C4C-4571-82BF-1C879A5D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81125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3333B2"/>
                </a:solidFill>
              </a:defRPr>
            </a:pPr>
            <a:r>
              <a:rPr sz="2025" b="1" i="0">
                <a:solidFill>
                  <a:srgbClr val="3333B2"/>
                </a:solidFill>
              </a:rPr>
              <a:t>APPROVE</a:t>
            </a:r>
          </a:p>
        </p:txBody>
      </p:sp>
      <p:sp>
        <p:nvSpPr>
          <p:cNvPr id="5" name="decision-desc-0">
            <a:extLst xmlns:a="http://schemas.openxmlformats.org/drawingml/2006/main">
              <a:ext uri="{FF2B5EF4-FFF2-40B4-BE49-F238E27FC236}">
                <a16:creationId xmlns:a16="http://schemas.microsoft.com/office/drawing/2014/main" id="{527E9422-E98B-4E9F-858C-BF53B68BD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381125"/>
            <a:ext cx="700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design is intentional and supported</a:t>
            </a:r>
          </a:p>
        </p:txBody>
      </p:sp>
      <p:sp>
        <p:nvSpPr>
          <p:cNvPr id="6" name="decision-1">
            <a:extLst xmlns:a="http://schemas.openxmlformats.org/drawingml/2006/main">
              <a:ext uri="{FF2B5EF4-FFF2-40B4-BE49-F238E27FC236}">
                <a16:creationId xmlns:a16="http://schemas.microsoft.com/office/drawing/2014/main" id="{E64C4D00-034D-430D-81B7-C11D016F6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812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3333B2"/>
                </a:solidFill>
              </a:defRPr>
            </a:pPr>
            <a:r>
              <a:rPr sz="2025" b="1" i="0">
                <a:solidFill>
                  <a:srgbClr val="3333B2"/>
                </a:solidFill>
              </a:rPr>
              <a:t>REPAIR</a:t>
            </a:r>
          </a:p>
        </p:txBody>
      </p:sp>
      <p:sp>
        <p:nvSpPr>
          <p:cNvPr id="7" name="decision-desc-1">
            <a:extLst xmlns:a="http://schemas.openxmlformats.org/drawingml/2006/main">
              <a:ext uri="{FF2B5EF4-FFF2-40B4-BE49-F238E27FC236}">
                <a16:creationId xmlns:a16="http://schemas.microsoft.com/office/drawing/2014/main" id="{F515B043-8265-467C-9AE8-FD771317F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81250"/>
            <a:ext cx="700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a bounded implementation error can be corrected</a:t>
            </a:r>
          </a:p>
        </p:txBody>
      </p:sp>
      <p:sp>
        <p:nvSpPr>
          <p:cNvPr id="8" name="decision-2">
            <a:extLst xmlns:a="http://schemas.openxmlformats.org/drawingml/2006/main">
              <a:ext uri="{FF2B5EF4-FFF2-40B4-BE49-F238E27FC236}">
                <a16:creationId xmlns:a16="http://schemas.microsoft.com/office/drawing/2014/main" id="{0B7F52BD-FC20-41F6-9DB3-40013C912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81375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3333B2"/>
                </a:solidFill>
              </a:defRPr>
            </a:pPr>
            <a:r>
              <a:rPr sz="2025" b="1" i="0">
                <a:solidFill>
                  <a:srgbClr val="3333B2"/>
                </a:solidFill>
              </a:rPr>
              <a:t>BLOCK</a:t>
            </a:r>
          </a:p>
        </p:txBody>
      </p:sp>
      <p:sp>
        <p:nvSpPr>
          <p:cNvPr id="9" name="decision-desc-2">
            <a:extLst xmlns:a="http://schemas.openxmlformats.org/drawingml/2006/main">
              <a:ext uri="{FF2B5EF4-FFF2-40B4-BE49-F238E27FC236}">
                <a16:creationId xmlns:a16="http://schemas.microsoft.com/office/drawing/2014/main" id="{90F4ACAE-8926-4B99-B649-EB4C30404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381375"/>
            <a:ext cx="700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current result should not be presented</a:t>
            </a:r>
          </a:p>
        </p:txBody>
      </p:sp>
      <p:sp>
        <p:nvSpPr>
          <p:cNvPr id="10" name="decision-3">
            <a:extLst xmlns:a="http://schemas.openxmlformats.org/drawingml/2006/main">
              <a:ext uri="{FF2B5EF4-FFF2-40B4-BE49-F238E27FC236}">
                <a16:creationId xmlns:a16="http://schemas.microsoft.com/office/drawing/2014/main" id="{7429D7B7-1DD3-4553-A6A5-D89801FDE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3333B2"/>
                </a:solidFill>
              </a:defRPr>
            </a:pPr>
            <a:r>
              <a:rPr sz="2025" b="1" i="0">
                <a:solidFill>
                  <a:srgbClr val="3333B2"/>
                </a:solidFill>
              </a:rPr>
              <a:t>DESIGN REVIEW</a:t>
            </a:r>
          </a:p>
        </p:txBody>
      </p:sp>
      <p:sp>
        <p:nvSpPr>
          <p:cNvPr id="11" name="decision-desc-3">
            <a:extLst xmlns:a="http://schemas.openxmlformats.org/drawingml/2006/main">
              <a:ext uri="{FF2B5EF4-FFF2-40B4-BE49-F238E27FC236}">
                <a16:creationId xmlns:a16="http://schemas.microsoft.com/office/drawing/2014/main" id="{6D3B9ADB-34DE-4B83-AE07-D345F73F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381500"/>
            <a:ext cx="700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the intended experiment is unresolved</a:t>
            </a:r>
          </a:p>
        </p:txBody>
      </p:sp>
      <p:sp>
        <p:nvSpPr>
          <p:cNvPr id="12" name="sentence">
            <a:extLst xmlns:a="http://schemas.openxmlformats.org/drawingml/2006/main">
              <a:ext uri="{FF2B5EF4-FFF2-40B4-BE49-F238E27FC236}">
                <a16:creationId xmlns:a16="http://schemas.microsoft.com/office/drawing/2014/main" id="{D4BB47BF-D747-455B-BB7A-747B63343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7212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BF0040"/>
                </a:solidFill>
              </a:defRPr>
            </a:pPr>
            <a:r>
              <a:rPr sz="1875" b="1" i="0">
                <a:solidFill>
                  <a:srgbClr val="BF0040"/>
                </a:solidFill>
              </a:rPr>
              <a:t>We choose ______ because the decisive evidence is ______.</a:t>
            </a:r>
          </a:p>
        </p:txBody>
      </p:sp>
    </p:spTree>
    <p:extLst>
      <p:ext uri="{BB962C8B-B14F-4D97-AF65-F5344CB8AC3E}">
        <p14:creationId xmlns:p14="http://schemas.microsoft.com/office/powerpoint/2010/main" val="117371549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veal-band">
            <a:extLst xmlns:a="http://schemas.openxmlformats.org/drawingml/2006/main">
              <a:ext uri="{FF2B5EF4-FFF2-40B4-BE49-F238E27FC236}">
                <a16:creationId xmlns:a16="http://schemas.microsoft.com/office/drawing/2014/main" id="{E0F7B8F3-0C93-4748-9206-76DCD6FD8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0">
            <a:solidFill>
              <a:srgbClr val="FF0000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68FCBBC-6D75-4FBB-9C34-DE2C59896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FF0000"/>
                </a:solidFill>
              </a:defRPr>
            </a:pPr>
            <a:r>
              <a:rPr sz="2925" b="1" i="0">
                <a:solidFill>
                  <a:srgbClr val="FF0000"/>
                </a:solidFill>
              </a:rPr>
              <a:t>REVEAL — The inherited file changed the experiment</a:t>
            </a:r>
          </a:p>
        </p:txBody>
      </p:sp>
      <p:sp>
        <p:nvSpPr>
          <p:cNvPr id="3" name="rule-68-107">
            <a:extLst xmlns:a="http://schemas.openxmlformats.org/drawingml/2006/main">
              <a:ext uri="{FF2B5EF4-FFF2-40B4-BE49-F238E27FC236}">
                <a16:creationId xmlns:a16="http://schemas.microsoft.com/office/drawing/2014/main" id="{1A7E1215-A990-4102-B4AA-5402B3E46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76162C0-D5C9-4468-8158-E32071E7A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24 / 25</a:t>
            </a:r>
          </a:p>
        </p:txBody>
      </p:sp>
      <p:sp>
        <p:nvSpPr>
          <p:cNvPr id="5" name="reveal-bg">
            <a:extLst xmlns:a="http://schemas.openxmlformats.org/drawingml/2006/main">
              <a:ext uri="{FF2B5EF4-FFF2-40B4-BE49-F238E27FC236}">
                <a16:creationId xmlns:a16="http://schemas.microsoft.com/office/drawing/2014/main" id="{4F806341-5F0D-4A38-BB95-37CEF25D1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19200"/>
            <a:ext cx="10953750" cy="445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rows">
            <a:extLst xmlns:a="http://schemas.openxmlformats.org/drawingml/2006/main">
              <a:ext uri="{FF2B5EF4-FFF2-40B4-BE49-F238E27FC236}">
                <a16:creationId xmlns:a16="http://schemas.microsoft.com/office/drawing/2014/main" id="{E91D778E-1653-4255-AF2D-4BC70F9BB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66850"/>
            <a:ext cx="4000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FF0000"/>
                </a:solidFill>
              </a:defRPr>
            </a:pPr>
            <a:r>
              <a:rPr sz="2850" b="1" i="0">
                <a:solidFill>
                  <a:srgbClr val="FF0000"/>
                </a:solidFill>
              </a:rPr>
              <a:t>3,430 rows</a:t>
            </a:r>
          </a:p>
        </p:txBody>
      </p:sp>
      <p:sp>
        <p:nvSpPr>
          <p:cNvPr id="7" name="ids">
            <a:extLst xmlns:a="http://schemas.openxmlformats.org/drawingml/2006/main">
              <a:ext uri="{FF2B5EF4-FFF2-40B4-BE49-F238E27FC236}">
                <a16:creationId xmlns:a16="http://schemas.microsoft.com/office/drawing/2014/main" id="{4CCEE318-A490-4B5F-9048-714DCB5D8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430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7171C"/>
                </a:solidFill>
              </a:defRPr>
            </a:pPr>
            <a:r>
              <a:rPr sz="2175" b="1" i="0">
                <a:solidFill>
                  <a:srgbClr val="17171C"/>
                </a:solidFill>
              </a:rPr>
              <a:t>but only 3,000 applicant IDs</a:t>
            </a:r>
          </a:p>
        </p:txBody>
      </p:sp>
      <p:sp>
        <p:nvSpPr>
          <p:cNvPr id="8" name="dups">
            <a:extLst xmlns:a="http://schemas.openxmlformats.org/drawingml/2006/main">
              <a:ext uri="{FF2B5EF4-FFF2-40B4-BE49-F238E27FC236}">
                <a16:creationId xmlns:a16="http://schemas.microsoft.com/office/drawing/2014/main" id="{8391C2DC-3EBD-464A-93A6-D98E10826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885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17171C"/>
                </a:solidFill>
              </a:defRPr>
            </a:pPr>
            <a:r>
              <a:rPr sz="2025" b="0" i="0">
                <a:solidFill>
                  <a:srgbClr val="17171C"/>
                </a:solidFill>
              </a:rPr>
              <a:t>350 applicant IDs are duplicated.</a:t>
            </a:r>
          </a:p>
        </p:txBody>
      </p:sp>
      <p:sp>
        <p:nvSpPr>
          <p:cNvPr id="9" name="concentration">
            <a:extLst xmlns:a="http://schemas.openxmlformats.org/drawingml/2006/main">
              <a:ext uri="{FF2B5EF4-FFF2-40B4-BE49-F238E27FC236}">
                <a16:creationId xmlns:a16="http://schemas.microsoft.com/office/drawing/2014/main" id="{CBDD6EAC-DE24-449E-BDCF-550ED41CB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0350"/>
            <a:ext cx="990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17171C"/>
                </a:solidFill>
              </a:defRPr>
            </a:pPr>
            <a:r>
              <a:rPr sz="2025" b="0" i="0">
                <a:solidFill>
                  <a:srgbClr val="17171C"/>
                </a:solidFill>
              </a:rPr>
              <a:t>Duplicates are concentrated among applicants offered training.</a:t>
            </a:r>
          </a:p>
        </p:txBody>
      </p:sp>
      <p:sp>
        <p:nvSpPr>
          <p:cNvPr id="10" name="replacement">
            <a:extLst xmlns:a="http://schemas.openxmlformats.org/drawingml/2006/main">
              <a:ext uri="{FF2B5EF4-FFF2-40B4-BE49-F238E27FC236}">
                <a16:creationId xmlns:a16="http://schemas.microsoft.com/office/drawing/2014/main" id="{3FAAD6C2-92F9-47C2-A511-66CBEF7B4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1009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FF0000"/>
                </a:solidFill>
              </a:defRPr>
            </a:pPr>
            <a:r>
              <a:rPr sz="2025" b="1" i="0">
                <a:solidFill>
                  <a:srgbClr val="FF0000"/>
                </a:solidFill>
              </a:rPr>
              <a:t>The inherited analysis used program_participant as treatment instead of randomized offered_training.</a:t>
            </a:r>
          </a:p>
        </p:txBody>
      </p:sp>
      <p:sp>
        <p:nvSpPr>
          <p:cNvPr id="11" name="rule-92-436">
            <a:extLst xmlns:a="http://schemas.openxmlformats.org/drawingml/2006/main">
              <a:ext uri="{FF2B5EF4-FFF2-40B4-BE49-F238E27FC236}">
                <a16:creationId xmlns:a16="http://schemas.microsoft.com/office/drawing/2014/main" id="{5324CF48-AA91-4D06-868F-C754E6AC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52900"/>
            <a:ext cx="971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0">
            <a:solidFill>
              <a:srgbClr val="FF0000"/>
            </a:solidFill>
            <a:prstDash val="solid"/>
          </a:ln>
        </p:spPr>
      </p:sp>
      <p:sp>
        <p:nvSpPr>
          <p:cNvPr id="12" name="decision">
            <a:extLst xmlns:a="http://schemas.openxmlformats.org/drawingml/2006/main">
              <a:ext uri="{FF2B5EF4-FFF2-40B4-BE49-F238E27FC236}">
                <a16:creationId xmlns:a16="http://schemas.microsoft.com/office/drawing/2014/main" id="{FB3744ED-3CA8-471E-8433-0DDD82267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466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FF0000"/>
                </a:solidFill>
              </a:defRPr>
            </a:pPr>
            <a:r>
              <a:rPr sz="2700" b="1" i="0">
                <a:solidFill>
                  <a:srgbClr val="FF0000"/>
                </a:solidFill>
              </a:rPr>
              <a:t>Decision: BLOCK</a:t>
            </a:r>
          </a:p>
        </p:txBody>
      </p:sp>
      <p:sp>
        <p:nvSpPr>
          <p:cNvPr id="13" name="repair">
            <a:extLst xmlns:a="http://schemas.openxmlformats.org/drawingml/2006/main">
              <a:ext uri="{FF2B5EF4-FFF2-40B4-BE49-F238E27FC236}">
                <a16:creationId xmlns:a16="http://schemas.microsoft.com/office/drawing/2014/main" id="{A897B784-6FA5-4FAE-AD96-09E91C770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0150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7171C"/>
                </a:solidFill>
              </a:defRPr>
            </a:pPr>
            <a:r>
              <a:rPr sz="1650" b="1" i="0">
                <a:solidFill>
                  <a:srgbClr val="17171C"/>
                </a:solidFill>
              </a:rPr>
              <a:t>offered_training remains in the CSV. Repair at the applicant level: treat attendance as a diagnostic; keep offered_training as treatment.</a:t>
            </a:r>
          </a:p>
        </p:txBody>
      </p:sp>
    </p:spTree>
    <p:extLst>
      <p:ext uri="{BB962C8B-B14F-4D97-AF65-F5344CB8AC3E}">
        <p14:creationId xmlns:p14="http://schemas.microsoft.com/office/powerpoint/2010/main" val="101046359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2154CC1-5DFC-4E46-AA28-43F7CC8EA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Two workflows protect the same research standard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7BE3D9F5-04E9-4D64-B6F5-AA960FC34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9998D20-2221-48EF-ADE2-C4992589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25 / 25</a:t>
            </a:r>
          </a:p>
        </p:txBody>
      </p:sp>
      <p:sp>
        <p:nvSpPr>
          <p:cNvPr id="4" name="clean-head">
            <a:extLst xmlns:a="http://schemas.openxmlformats.org/drawingml/2006/main">
              <a:ext uri="{FF2B5EF4-FFF2-40B4-BE49-F238E27FC236}">
                <a16:creationId xmlns:a16="http://schemas.microsoft.com/office/drawing/2014/main" id="{DD55EBAB-B678-4AC7-9D16-41B003703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57325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3333B2"/>
                </a:solidFill>
              </a:defRPr>
            </a:pPr>
            <a:r>
              <a:rPr sz="1650" b="1" i="0">
                <a:solidFill>
                  <a:srgbClr val="3333B2"/>
                </a:solidFill>
              </a:rPr>
              <a:t>CLEAN WORKFLOW</a:t>
            </a:r>
          </a:p>
        </p:txBody>
      </p:sp>
      <p:sp>
        <p:nvSpPr>
          <p:cNvPr id="5" name="clean">
            <a:extLst xmlns:a="http://schemas.openxmlformats.org/drawingml/2006/main">
              <a:ext uri="{FF2B5EF4-FFF2-40B4-BE49-F238E27FC236}">
                <a16:creationId xmlns:a16="http://schemas.microsoft.com/office/drawing/2014/main" id="{FDED47BF-8A2C-491C-A399-E72BBDF7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431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7171C"/>
                </a:solidFill>
              </a:defRPr>
            </a:pPr>
            <a:r>
              <a:rPr sz="2175" b="1" i="0">
                <a:solidFill>
                  <a:srgbClr val="17171C"/>
                </a:solidFill>
              </a:rPr>
              <a:t>prevents drift by making the experiment explicit before analysis.</a:t>
            </a:r>
          </a:p>
        </p:txBody>
      </p:sp>
      <p:sp>
        <p:nvSpPr>
          <p:cNvPr id="6" name="rule-84-300">
            <a:extLst xmlns:a="http://schemas.openxmlformats.org/drawingml/2006/main">
              <a:ext uri="{FF2B5EF4-FFF2-40B4-BE49-F238E27FC236}">
                <a16:creationId xmlns:a16="http://schemas.microsoft.com/office/drawing/2014/main" id="{BBFF91F1-1812-4EEC-9F6C-CC7EC689A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7" name="forensic-head">
            <a:extLst xmlns:a="http://schemas.openxmlformats.org/drawingml/2006/main">
              <a:ext uri="{FF2B5EF4-FFF2-40B4-BE49-F238E27FC236}">
                <a16:creationId xmlns:a16="http://schemas.microsoft.com/office/drawing/2014/main" id="{1C86F930-EEDC-431B-940B-E4AE62C3B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7660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3333B2"/>
                </a:solidFill>
              </a:defRPr>
            </a:pPr>
            <a:r>
              <a:rPr sz="1650" b="1" i="0">
                <a:solidFill>
                  <a:srgbClr val="3333B2"/>
                </a:solidFill>
              </a:rPr>
              <a:t>FORENSIC WORKFLOW</a:t>
            </a:r>
          </a:p>
        </p:txBody>
      </p:sp>
      <p:sp>
        <p:nvSpPr>
          <p:cNvPr id="8" name="forensic">
            <a:extLst xmlns:a="http://schemas.openxmlformats.org/drawingml/2006/main">
              <a:ext uri="{FF2B5EF4-FFF2-40B4-BE49-F238E27FC236}">
                <a16:creationId xmlns:a16="http://schemas.microsoft.com/office/drawing/2014/main" id="{07B6A5F9-9406-4C42-8B84-01B3A4A15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62375"/>
            <a:ext cx="981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7171C"/>
                </a:solidFill>
              </a:defRPr>
            </a:pPr>
            <a:r>
              <a:rPr sz="2175" b="1" i="0">
                <a:solidFill>
                  <a:srgbClr val="17171C"/>
                </a:solidFill>
              </a:rPr>
              <a:t>reconstructs drift by tracing files, keys, transformations, and history.</a:t>
            </a:r>
          </a:p>
        </p:txBody>
      </p:sp>
      <p:sp>
        <p:nvSpPr>
          <p:cNvPr id="9" name="sequence">
            <a:extLst xmlns:a="http://schemas.openxmlformats.org/drawingml/2006/main">
              <a:ext uri="{FF2B5EF4-FFF2-40B4-BE49-F238E27FC236}">
                <a16:creationId xmlns:a16="http://schemas.microsoft.com/office/drawing/2014/main" id="{CED6B5C4-0616-421F-AB39-46DD06596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91125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BF0040"/>
                </a:solidFill>
              </a:defRPr>
            </a:pPr>
            <a:r>
              <a:rPr sz="2025" b="1" i="0">
                <a:solidFill>
                  <a:srgbClr val="BF0040"/>
                </a:solidFill>
              </a:rPr>
              <a:t>Inspect  →  Contract  →  Authorize  →  Diff  →  Review  →  Commit</a:t>
            </a:r>
          </a:p>
        </p:txBody>
      </p:sp>
    </p:spTree>
    <p:extLst>
      <p:ext uri="{BB962C8B-B14F-4D97-AF65-F5344CB8AC3E}">
        <p14:creationId xmlns:p14="http://schemas.microsoft.com/office/powerpoint/2010/main" val="17249052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2026-07-26T05:56:28.4810000Z</dcterms:created>
  <dcterms:modified xsi:type="dcterms:W3CDTF">2026-07-26T05:56:28.4810000Z</dcterms:modified>
</coreProperties>
</file>