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3b510ea84d4b87" /><Relationship Type="http://schemas.openxmlformats.org/officeDocument/2006/relationships/extended-properties" Target="/docProps/app.xml" Id="Rd714a0b99457401e" /><Relationship Type="http://schemas.openxmlformats.org/officeDocument/2006/relationships/officeDocument" Target="/ppt/presentation.xml" Id="R7e906c664aa545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4c6467534f427d"/>
  </p:sldMasterIdLst>
  <p:notesMasterIdLst>
    <p:notesMasterId xmlns:r="http://schemas.openxmlformats.org/officeDocument/2006/relationships" r:id="Rf9938091881145a6"/>
  </p:notesMasterIdLst>
  <p:sldIdLst>
    <p:sldId xmlns:r="http://schemas.openxmlformats.org/officeDocument/2006/relationships" id="256" r:id="R61b59eb174914700"/>
    <p:sldId xmlns:r="http://schemas.openxmlformats.org/officeDocument/2006/relationships" id="257" r:id="R00c67151fc2e4ac1"/>
    <p:sldId xmlns:r="http://schemas.openxmlformats.org/officeDocument/2006/relationships" id="258" r:id="Re3581f0996784a8a"/>
    <p:sldId xmlns:r="http://schemas.openxmlformats.org/officeDocument/2006/relationships" id="259" r:id="R1274873e163143c2"/>
    <p:sldId xmlns:r="http://schemas.openxmlformats.org/officeDocument/2006/relationships" id="260" r:id="R3634477ae5be40f1"/>
    <p:sldId xmlns:r="http://schemas.openxmlformats.org/officeDocument/2006/relationships" id="261" r:id="Raaf72da71b9749b4"/>
    <p:sldId xmlns:r="http://schemas.openxmlformats.org/officeDocument/2006/relationships" id="262" r:id="Re55b2a9923944caa"/>
    <p:sldId xmlns:r="http://schemas.openxmlformats.org/officeDocument/2006/relationships" id="263" r:id="R5c5f4120874c4f8d"/>
    <p:sldId xmlns:r="http://schemas.openxmlformats.org/officeDocument/2006/relationships" id="264" r:id="R16af1634f08d48a7"/>
    <p:sldId xmlns:r="http://schemas.openxmlformats.org/officeDocument/2006/relationships" id="265" r:id="R3761426f33f145b6"/>
    <p:sldId xmlns:r="http://schemas.openxmlformats.org/officeDocument/2006/relationships" id="266" r:id="Rb2053419f35943f8"/>
    <p:sldId xmlns:r="http://schemas.openxmlformats.org/officeDocument/2006/relationships" id="267" r:id="R3d0bfc62044646c4"/>
    <p:sldId xmlns:r="http://schemas.openxmlformats.org/officeDocument/2006/relationships" id="268" r:id="R42c819fe9b404af6"/>
    <p:sldId xmlns:r="http://schemas.openxmlformats.org/officeDocument/2006/relationships" id="269" r:id="R9cf716f210454750"/>
    <p:sldId xmlns:r="http://schemas.openxmlformats.org/officeDocument/2006/relationships" id="270" r:id="Rbac0bc9989954358"/>
    <p:sldId xmlns:r="http://schemas.openxmlformats.org/officeDocument/2006/relationships" id="271" r:id="Rd45ff55525814c06"/>
    <p:sldId xmlns:r="http://schemas.openxmlformats.org/officeDocument/2006/relationships" id="272" r:id="Rdaf737bcf78a49c4"/>
    <p:sldId xmlns:r="http://schemas.openxmlformats.org/officeDocument/2006/relationships" id="273" r:id="Ra1234b0e9c464f3f"/>
    <p:sldId xmlns:r="http://schemas.openxmlformats.org/officeDocument/2006/relationships" id="274" r:id="R6d9a06d91c1a4612"/>
    <p:sldId xmlns:r="http://schemas.openxmlformats.org/officeDocument/2006/relationships" id="275" r:id="Rc3e6147cca0a4a28"/>
    <p:sldId xmlns:r="http://schemas.openxmlformats.org/officeDocument/2006/relationships" id="276" r:id="R847d3a93675a4888"/>
    <p:sldId xmlns:r="http://schemas.openxmlformats.org/officeDocument/2006/relationships" id="277" r:id="R0bcb7cfa850847e3"/>
    <p:sldId xmlns:r="http://schemas.openxmlformats.org/officeDocument/2006/relationships" id="278" r:id="Rb4d7a0f1faf843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dfabed87c44095" /><Relationship Type="http://schemas.openxmlformats.org/officeDocument/2006/relationships/slideMaster" Target="/ppt/slideMasters/slideMaster1.xml" Id="Rd44c6467534f427d" /><Relationship Type="http://schemas.openxmlformats.org/officeDocument/2006/relationships/notesMaster" Target="/ppt/notesMasters/notesMaster1.xml" Id="Rf9938091881145a6" /><Relationship Type="http://schemas.openxmlformats.org/officeDocument/2006/relationships/presProps" Target="/ppt/presProps.xml" Id="R1bcd69fc7b184909" /><Relationship Type="http://schemas.openxmlformats.org/officeDocument/2006/relationships/tableStyles" Target="/ppt/tableStyles.xml" Id="R4bf01e24e36f4825" /><Relationship Type="http://schemas.openxmlformats.org/officeDocument/2006/relationships/slide" Target="/ppt/slides/slide1.xml" Id="R61b59eb174914700" /><Relationship Type="http://schemas.openxmlformats.org/officeDocument/2006/relationships/slide" Target="/ppt/slides/slide2.xml" Id="R00c67151fc2e4ac1" /><Relationship Type="http://schemas.openxmlformats.org/officeDocument/2006/relationships/slide" Target="/ppt/slides/slide3.xml" Id="Re3581f0996784a8a" /><Relationship Type="http://schemas.openxmlformats.org/officeDocument/2006/relationships/slide" Target="/ppt/slides/slide4.xml" Id="R1274873e163143c2" /><Relationship Type="http://schemas.openxmlformats.org/officeDocument/2006/relationships/slide" Target="/ppt/slides/slide5.xml" Id="R3634477ae5be40f1" /><Relationship Type="http://schemas.openxmlformats.org/officeDocument/2006/relationships/slide" Target="/ppt/slides/slide6.xml" Id="Raaf72da71b9749b4" /><Relationship Type="http://schemas.openxmlformats.org/officeDocument/2006/relationships/slide" Target="/ppt/slides/slide7.xml" Id="Re55b2a9923944caa" /><Relationship Type="http://schemas.openxmlformats.org/officeDocument/2006/relationships/slide" Target="/ppt/slides/slide8.xml" Id="R5c5f4120874c4f8d" /><Relationship Type="http://schemas.openxmlformats.org/officeDocument/2006/relationships/slide" Target="/ppt/slides/slide9.xml" Id="R16af1634f08d48a7" /><Relationship Type="http://schemas.openxmlformats.org/officeDocument/2006/relationships/slide" Target="/ppt/slides/slide10.xml" Id="R3761426f33f145b6" /><Relationship Type="http://schemas.openxmlformats.org/officeDocument/2006/relationships/slide" Target="/ppt/slides/slide11.xml" Id="Rb2053419f35943f8" /><Relationship Type="http://schemas.openxmlformats.org/officeDocument/2006/relationships/slide" Target="/ppt/slides/slide12.xml" Id="R3d0bfc62044646c4" /><Relationship Type="http://schemas.openxmlformats.org/officeDocument/2006/relationships/slide" Target="/ppt/slides/slide13.xml" Id="R42c819fe9b404af6" /><Relationship Type="http://schemas.openxmlformats.org/officeDocument/2006/relationships/slide" Target="/ppt/slides/slide14.xml" Id="R9cf716f210454750" /><Relationship Type="http://schemas.openxmlformats.org/officeDocument/2006/relationships/slide" Target="/ppt/slides/slide15.xml" Id="Rbac0bc9989954358" /><Relationship Type="http://schemas.openxmlformats.org/officeDocument/2006/relationships/slide" Target="/ppt/slides/slide16.xml" Id="Rd45ff55525814c06" /><Relationship Type="http://schemas.openxmlformats.org/officeDocument/2006/relationships/slide" Target="/ppt/slides/slide17.xml" Id="Rdaf737bcf78a49c4" /><Relationship Type="http://schemas.openxmlformats.org/officeDocument/2006/relationships/slide" Target="/ppt/slides/slide18.xml" Id="Ra1234b0e9c464f3f" /><Relationship Type="http://schemas.openxmlformats.org/officeDocument/2006/relationships/slide" Target="/ppt/slides/slide19.xml" Id="R6d9a06d91c1a4612" /><Relationship Type="http://schemas.openxmlformats.org/officeDocument/2006/relationships/slide" Target="/ppt/slides/slide20.xml" Id="Rc3e6147cca0a4a28" /><Relationship Type="http://schemas.openxmlformats.org/officeDocument/2006/relationships/slide" Target="/ppt/slides/slide21.xml" Id="R847d3a93675a4888" /><Relationship Type="http://schemas.openxmlformats.org/officeDocument/2006/relationships/slide" Target="/ppt/slides/slide22.xml" Id="R0bcb7cfa850847e3" /><Relationship Type="http://schemas.openxmlformats.org/officeDocument/2006/relationships/slide" Target="/ppt/slides/slide23.xml" Id="Rb4d7a0f1faf843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9c4042c6a843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52a50141614790" /><Relationship Type="http://schemas.openxmlformats.org/officeDocument/2006/relationships/notesMaster" Target="/ppt/notesMasters/notesMaster1.xml" Id="R7f9a7c92b9504c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8dd71b79114513" /><Relationship Type="http://schemas.openxmlformats.org/officeDocument/2006/relationships/notesMaster" Target="/ppt/notesMasters/notesMaster1.xml" Id="R0835996292ff43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becfa62b7543a3" /><Relationship Type="http://schemas.openxmlformats.org/officeDocument/2006/relationships/notesMaster" Target="/ppt/notesMasters/notesMaster1.xml" Id="Rb59b61d4d7bb4a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26b2d0ad854bdb" /><Relationship Type="http://schemas.openxmlformats.org/officeDocument/2006/relationships/notesMaster" Target="/ppt/notesMasters/notesMaster1.xml" Id="R6da5d3367af841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293e6f46444de5" /><Relationship Type="http://schemas.openxmlformats.org/officeDocument/2006/relationships/notesMaster" Target="/ppt/notesMasters/notesMaster1.xml" Id="R066e8f6b72bb4d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8af5bbc2734cf1" /><Relationship Type="http://schemas.openxmlformats.org/officeDocument/2006/relationships/notesMaster" Target="/ppt/notesMasters/notesMaster1.xml" Id="R90bfb0d5f88047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a1fdeba80e406a" /><Relationship Type="http://schemas.openxmlformats.org/officeDocument/2006/relationships/notesMaster" Target="/ppt/notesMasters/notesMaster1.xml" Id="Ra7d69fb1e7b346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88ebf5a533430b" /><Relationship Type="http://schemas.openxmlformats.org/officeDocument/2006/relationships/notesMaster" Target="/ppt/notesMasters/notesMaster1.xml" Id="R211ef4f5ecc443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66495759d540fc" /><Relationship Type="http://schemas.openxmlformats.org/officeDocument/2006/relationships/notesMaster" Target="/ppt/notesMasters/notesMaster1.xml" Id="R13e6dc99f1b44d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e31e9f7a72408f" /><Relationship Type="http://schemas.openxmlformats.org/officeDocument/2006/relationships/notesMaster" Target="/ppt/notesMasters/notesMaster1.xml" Id="R77cda972a85046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787b2b69de400e" /><Relationship Type="http://schemas.openxmlformats.org/officeDocument/2006/relationships/notesMaster" Target="/ppt/notesMasters/notesMaster1.xml" Id="R505af3542f5f49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065acce69b4163" /><Relationship Type="http://schemas.openxmlformats.org/officeDocument/2006/relationships/notesMaster" Target="/ppt/notesMasters/notesMaster1.xml" Id="R5de5a2f49ded488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dbd6deaabc424c" /><Relationship Type="http://schemas.openxmlformats.org/officeDocument/2006/relationships/notesMaster" Target="/ppt/notesMasters/notesMaster1.xml" Id="R69762cd58e004f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41f9e165d634a80" /><Relationship Type="http://schemas.openxmlformats.org/officeDocument/2006/relationships/notesMaster" Target="/ppt/notesMasters/notesMaster1.xml" Id="R310f1906826e471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b0973addde94bd1" /><Relationship Type="http://schemas.openxmlformats.org/officeDocument/2006/relationships/notesMaster" Target="/ppt/notesMasters/notesMaster1.xml" Id="Rc5f878dbe29d42a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1545cf6462445ee" /><Relationship Type="http://schemas.openxmlformats.org/officeDocument/2006/relationships/notesMaster" Target="/ppt/notesMasters/notesMaster1.xml" Id="R334a384952004e3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cf9d5caff36408c" /><Relationship Type="http://schemas.openxmlformats.org/officeDocument/2006/relationships/notesMaster" Target="/ppt/notesMasters/notesMaster1.xml" Id="Rb640f1cdf1ae4e5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c4d2253c4fe40a3" /><Relationship Type="http://schemas.openxmlformats.org/officeDocument/2006/relationships/notesMaster" Target="/ppt/notesMasters/notesMaster1.xml" Id="R435455233757441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06343a3aecb4369" /><Relationship Type="http://schemas.openxmlformats.org/officeDocument/2006/relationships/notesMaster" Target="/ppt/notesMasters/notesMaster1.xml" Id="R596df8c61ff844c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5933d461b3346a9" /><Relationship Type="http://schemas.openxmlformats.org/officeDocument/2006/relationships/notesMaster" Target="/ppt/notesMasters/notesMaster1.xml" Id="R5120ca502a204cc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7f7796d903542e3" /><Relationship Type="http://schemas.openxmlformats.org/officeDocument/2006/relationships/notesMaster" Target="/ppt/notesMasters/notesMaster1.xml" Id="R8302dfc35b2f427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96806d59d974d7b" /><Relationship Type="http://schemas.openxmlformats.org/officeDocument/2006/relationships/notesMaster" Target="/ppt/notesMasters/notesMaster1.xml" Id="R2f811db78cc34bc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56e96b057c7495f" /><Relationship Type="http://schemas.openxmlformats.org/officeDocument/2006/relationships/notesMaster" Target="/ppt/notesMasters/notesMaster1.xml" Id="R2253fb1a259c45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 Frame the afternoon as two complementary missions. Do not preview the inherited-analysis failure.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teaching data designed for this lab;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 Students install only the option for their operating system, verify the executable, and configure commit identity.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https://git-scm.com/downloads</a:t>
            </a:r>
          </a:p>
          <a:p xmlns:a="http://schemas.openxmlformats.org/drawingml/2006/main">
            <a:r>
              <a:t>https://git-scm.com/install/linux</a:t>
            </a:r>
          </a:p>
          <a:p xmlns:a="http://schemas.openxmlformats.org/drawingml/2006/main">
            <a:r>
              <a:t>https://formulae.brew.sh/formula/git</a:t>
            </a:r>
          </a:p>
          <a:p xmlns:a="http://schemas.openxmlformats.org/drawingml/2006/main">
            <a:r>
              <a:t>https://learn.microsoft.com/windows/package-manager/winget/</a:t>
            </a:r>
          </a:p>
          <a:p xmlns:a="http://schemas.openxmlformats.org/drawingml/2006/main">
            <a:r>
              <a:t>https://git-scm.com/book/en/v2/Getting-Started-First-Time-Git-Setup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6 minutes. Students choose one install method, run the two checks, then launch Claude Code once from the lab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https://github.com/anthropics/claude-code</a:t>
            </a:r>
          </a:p>
          <a:p xmlns:a="http://schemas.openxmlformats.org/drawingml/2006/main">
            <a:r>
              <a:t>https://code.claude.com/docs/en/setup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6 minutes. Students choose one installation path, verify the CLI version, and launch Codex from the lab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https://github.com/openai/codex</a:t>
            </a:r>
          </a:p>
          <a:p xmlns:a="http://schemas.openxmlformats.org/drawingml/2006/main">
            <a:r>
              <a:t>https://github.com/openai/codex/blob/main/README.md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7 minutes. Install from the official project only. On first launch, import existing configs, add or select the intended provider, Enable it, then restart the relevant CLI if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https://github.com/farion1231/cc-switch</a:t>
            </a:r>
          </a:p>
          <a:p xmlns:a="http://schemas.openxmlformats.org/drawingml/2006/main">
            <a:r>
              <a:t>https://github.com/farion1231/cc-switch/releases</a:t>
            </a:r>
          </a:p>
          <a:p xmlns:a="http://schemas.openxmlformats.org/drawingml/2006/main">
            <a:r>
              <a:t>https://ccswitch.io</a:t>
            </a:r>
          </a:p>
          <a:p xmlns:a="http://schemas.openxmlformats.org/drawingml/2006/main">
            <a:r>
              <a:t>https://docs.github.com/en/authentication/keeping-your-account-and-data-secure/removing-sensitive-data-from-a-repository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90 seconds after installation. Run the checklist as a class; pair students across operating systems for quick troubleshooting.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https://git-scm.com/downloads</a:t>
            </a:r>
          </a:p>
          <a:p xmlns:a="http://schemas.openxmlformats.org/drawingml/2006/main">
            <a:r>
              <a:t>https://code.claude.com/docs/en/setup</a:t>
            </a:r>
          </a:p>
          <a:p xmlns:a="http://schemas.openxmlformats.org/drawingml/2006/main">
            <a:r>
              <a:t>https://github.com/openai/codex</a:t>
            </a:r>
          </a:p>
          <a:p xmlns:a="http://schemas.openxmlformats.org/drawingml/2006/main">
            <a:r>
              <a:t>https://github.com/farion1231/cc-switch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 Ask students what evidence they would want for each mission. Keep answers at the level of design and provenance.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teaching data designed for this lab;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 Have students restate treatment, unit, outcome, horizon, and estimand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teaching data designed for this lab;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 Let students name checks for row counts, uniqueness, missing keys, and file provenance.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teaching data designed for this lab;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 Students submit the prompt and inspect the response. Ask them to challenge any unsupported inference.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teaching data designed for this lab;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7 minutes. Students draft the contract in plain language. Emphasize that a stop condition is an explicit decision rule, not a vague concern.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teaching data designed for this lab;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6 minutes. Walk through the sequence once. Authorization means the proposed change has been explained and accepted before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teaching data designed for this lab;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 Teams verify each gate against the supplied clean data. Require a file, field, or diagnostic for every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teaching data designed for this lab;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6 minutes. Each team gives one approval claim and its supporting evidence. Do not discuss whether the estimate is attractive.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teaching data designed for this lab;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 Transition from prevention to forensics. Do not preview the nature or magnitude of the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teaching data designed for this lab;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 Take an initial vote without discussion. Record it for comparison with the final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teaching data designed for this lab;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 Ask teams to rank files by authority for treatment assignment, outcome construction, and provenance.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teaching data designed for this lab;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minutes. Let teams choose what to inspect next. Ask them to verify agent claims directly against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teaching data designed for this lab;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 Collect competing hypotheses without resolving them. Require the next check to discriminate between alternatives.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teaching data designed for this lab;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 Students use Git history to connect changes with stated reasons. Avoid explaining every command before they choose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teaching data designed for this lab;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7 minutes. Require a decision, decisive evidence, and one remaining uncertainty from every team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teaching data designed for this lab;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 Reveal one line at a time. Ask which design-contract gate each fact violates. The inherited analysis used program_participant even though offered_training remains available. The repair preserves the randomized ITT experiment and uses attendance only to diagnose take-up.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teaching data designed for this lab;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 Return to the opening two missions. Ask students which step they are most likely to skip in their own work and how they will make it routine.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teaching data designed for this lab;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27f508841d46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2944556e064cf7" /><Relationship Type="http://schemas.openxmlformats.org/officeDocument/2006/relationships/slideLayout" Target="/ppt/slideLayouts/slideLayout1.xml" Id="R34274bd533fe4f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274bd533fe4f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c349e368b411f" /><Relationship Type="http://schemas.openxmlformats.org/officeDocument/2006/relationships/notesSlide" Target="/ppt/notesSlides/notesSlide1.xml" Id="Rdb2bc076b9644f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e937d8776456f" /><Relationship Type="http://schemas.openxmlformats.org/officeDocument/2006/relationships/notesSlide" Target="/ppt/notesSlides/notesSlide2.xml" Id="Rd4da9143986849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7e2dcec5a41bb" /><Relationship Type="http://schemas.openxmlformats.org/officeDocument/2006/relationships/notesSlide" Target="/ppt/notesSlides/notesSlide3.xml" Id="Rd008ef4b7beb48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46cea682f4590" /><Relationship Type="http://schemas.openxmlformats.org/officeDocument/2006/relationships/notesSlide" Target="/ppt/notesSlides/notesSlide4.xml" Id="Rcf15b7fbc1a246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531fada9b4a4e" /><Relationship Type="http://schemas.openxmlformats.org/officeDocument/2006/relationships/notesSlide" Target="/ppt/notesSlides/notesSlide5.xml" Id="R48c4a975fcb641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b437fd02c4f14" /><Relationship Type="http://schemas.openxmlformats.org/officeDocument/2006/relationships/notesSlide" Target="/ppt/notesSlides/notesSlide6.xml" Id="R2802f5412d9a43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866d824304a3b" /><Relationship Type="http://schemas.openxmlformats.org/officeDocument/2006/relationships/notesSlide" Target="/ppt/notesSlides/notesSlide7.xml" Id="R8b882739d02a46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8debd3e344ef8" /><Relationship Type="http://schemas.openxmlformats.org/officeDocument/2006/relationships/notesSlide" Target="/ppt/notesSlides/notesSlide8.xml" Id="Rccfff718bb4640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987143a8d4bba" /><Relationship Type="http://schemas.openxmlformats.org/officeDocument/2006/relationships/notesSlide" Target="/ppt/notesSlides/notesSlide9.xml" Id="R2ab9172632e64b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4c32550ab4cae" /><Relationship Type="http://schemas.openxmlformats.org/officeDocument/2006/relationships/notesSlide" Target="/ppt/notesSlides/notesSlide10.xml" Id="R6aee91bb1dc14b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3f0fdc6a9f402e" /><Relationship Type="http://schemas.openxmlformats.org/officeDocument/2006/relationships/notesSlide" Target="/ppt/notesSlides/notesSlide11.xml" Id="Rff5cb0f1564d48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fa308a9dc41b1" /><Relationship Type="http://schemas.openxmlformats.org/officeDocument/2006/relationships/notesSlide" Target="/ppt/notesSlides/notesSlide12.xml" Id="Rc433b18554074c7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80bf21de4415e" /><Relationship Type="http://schemas.openxmlformats.org/officeDocument/2006/relationships/notesSlide" Target="/ppt/notesSlides/notesSlide13.xml" Id="Re2d9a697477440d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3e58054c8468f" /><Relationship Type="http://schemas.openxmlformats.org/officeDocument/2006/relationships/notesSlide" Target="/ppt/notesSlides/notesSlide14.xml" Id="Rdfd75c95236942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5242c251d43cd" /><Relationship Type="http://schemas.openxmlformats.org/officeDocument/2006/relationships/notesSlide" Target="/ppt/notesSlides/notesSlide15.xml" Id="R69bcc240ce4046e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a623b2dac4194" /><Relationship Type="http://schemas.openxmlformats.org/officeDocument/2006/relationships/notesSlide" Target="/ppt/notesSlides/notesSlide16.xml" Id="Rb5a2194e2b7d404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e67ed67034247" /><Relationship Type="http://schemas.openxmlformats.org/officeDocument/2006/relationships/notesSlide" Target="/ppt/notesSlides/notesSlide17.xml" Id="R62161a0111ef477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ae47327944a24" /><Relationship Type="http://schemas.openxmlformats.org/officeDocument/2006/relationships/notesSlide" Target="/ppt/notesSlides/notesSlide18.xml" Id="R25a68d5be9a443d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5ebe894ee4a6b" /><Relationship Type="http://schemas.openxmlformats.org/officeDocument/2006/relationships/notesSlide" Target="/ppt/notesSlides/notesSlide19.xml" Id="R9c04e7050011430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cb43dabd94976" /><Relationship Type="http://schemas.openxmlformats.org/officeDocument/2006/relationships/notesSlide" Target="/ppt/notesSlides/notesSlide20.xml" Id="Recb79c9284874c7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98563d5ca498b" /><Relationship Type="http://schemas.openxmlformats.org/officeDocument/2006/relationships/notesSlide" Target="/ppt/notesSlides/notesSlide21.xml" Id="R62ad5039882746e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d7a2e816a4eba" /><Relationship Type="http://schemas.openxmlformats.org/officeDocument/2006/relationships/notesSlide" Target="/ppt/notesSlides/notesSlide22.xml" Id="R24f8d172c67e455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9dbee43254bc9" /><Relationship Type="http://schemas.openxmlformats.org/officeDocument/2006/relationships/notesSlide" Target="/ppt/notesSlides/notesSlide23.xml" Id="R8fb669afd9d343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FBBEB1D-915A-4FE4-85A4-3990F8A4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C5C69"/>
                </a:solidFill>
              </a:defRPr>
            </a:pPr>
            <a:r>
              <a:rPr sz="825" b="0" i="0">
                <a:solidFill>
                  <a:srgbClr val="5C5C69"/>
                </a:solidFill>
              </a:rPr>
              <a:t>1 / 23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7E80BD3-C183-4D48-BB54-FAFA59F1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952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B2"/>
          </a:solidFill>
          <a:ln xmlns:a="http://schemas.openxmlformats.org/drawingml/2006/main" w="0">
            <a:solidFill>
              <a:srgbClr val="3333B2"/>
            </a:solidFill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E04F48-F20E-4398-B8B6-AE4FF5E4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4300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3333B2"/>
                </a:solidFill>
              </a:defRPr>
            </a:pPr>
            <a:r>
              <a:rPr sz="4350" b="1" i="0">
                <a:solidFill>
                  <a:srgbClr val="3333B2"/>
                </a:solidFill>
              </a:rPr>
              <a:t>Research Handoff Lab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C3DFF67A-3E4A-491C-812A-783D8B69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17171C"/>
                </a:solidFill>
              </a:defRPr>
            </a:pPr>
            <a:r>
              <a:rPr sz="2850" b="0" i="0">
                <a:solidFill>
                  <a:srgbClr val="17171C"/>
                </a:solidFill>
              </a:rPr>
              <a:t>StatsClaw + Git</a:t>
            </a:r>
          </a:p>
        </p:txBody>
      </p:sp>
      <p:sp>
        <p:nvSpPr>
          <p:cNvPr id="5" name="tagline">
            <a:extLst xmlns:a="http://schemas.openxmlformats.org/drawingml/2006/main">
              <a:ext uri="{FF2B5EF4-FFF2-40B4-BE49-F238E27FC236}">
                <a16:creationId xmlns:a16="http://schemas.microsoft.com/office/drawing/2014/main" id="{80B800B2-9029-4978-A84C-A90D9B19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BF0040"/>
                </a:solidFill>
              </a:defRPr>
            </a:pPr>
            <a:r>
              <a:rPr sz="1950" b="1" i="0">
                <a:solidFill>
                  <a:srgbClr val="BF0040"/>
                </a:solidFill>
              </a:rPr>
              <a:t>Build a clean analysis. Then audit one that drifted.</a:t>
            </a:r>
          </a:p>
        </p:txBody>
      </p:sp>
    </p:spTree>
    <p:extLst>
      <p:ext uri="{BB962C8B-B14F-4D97-AF65-F5344CB8AC3E}">
        <p14:creationId xmlns:p14="http://schemas.microsoft.com/office/powerpoint/2010/main" val="5812348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D5F2C0-15BC-4985-9708-B791F5D6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3333B2"/>
                </a:solidFill>
              </a:defRPr>
            </a:pPr>
            <a:r>
              <a:rPr sz="2925" b="1" i="0">
                <a:solidFill>
                  <a:srgbClr val="3333B2"/>
                </a:solidFill>
              </a:rPr>
              <a:t>Git first: install and identify yourself</a:t>
            </a:r>
          </a:p>
        </p:txBody>
      </p:sp>
      <p:sp>
        <p:nvSpPr>
          <p:cNvPr id="2" name="rule-68-107">
            <a:extLst xmlns:a="http://schemas.openxmlformats.org/drawingml/2006/main">
              <a:ext uri="{FF2B5EF4-FFF2-40B4-BE49-F238E27FC236}">
                <a16:creationId xmlns:a16="http://schemas.microsoft.com/office/drawing/2014/main" id="{F7904BDC-A3DB-43D6-897C-19969267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19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EB51FE6-1C35-4E9A-ADCE-82997B14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C5C69"/>
                </a:solidFill>
              </a:defRPr>
            </a:pPr>
            <a:r>
              <a:rPr sz="825" b="0" i="0">
                <a:solidFill>
                  <a:srgbClr val="5C5C69"/>
                </a:solidFill>
              </a:rPr>
              <a:t>2 / 23</a:t>
            </a:r>
          </a:p>
        </p:txBody>
      </p:sp>
      <p:sp>
        <p:nvSpPr>
          <p:cNvPr id="4" name="mac-label">
            <a:extLst xmlns:a="http://schemas.openxmlformats.org/drawingml/2006/main">
              <a:ext uri="{FF2B5EF4-FFF2-40B4-BE49-F238E27FC236}">
                <a16:creationId xmlns:a16="http://schemas.microsoft.com/office/drawing/2014/main" id="{F9580442-E044-46E8-BAC3-EB563931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333B2"/>
                </a:solidFill>
              </a:defRPr>
            </a:pPr>
            <a:r>
              <a:rPr sz="1500" b="1" i="0">
                <a:solidFill>
                  <a:srgbClr val="3333B2"/>
                </a:solidFill>
              </a:rPr>
              <a:t>macOS</a:t>
            </a:r>
          </a:p>
        </p:txBody>
      </p:sp>
      <p:sp>
        <p:nvSpPr>
          <p:cNvPr id="5" name="cmd-181">
            <a:extLst xmlns:a="http://schemas.openxmlformats.org/drawingml/2006/main">
              <a:ext uri="{FF2B5EF4-FFF2-40B4-BE49-F238E27FC236}">
                <a16:creationId xmlns:a16="http://schemas.microsoft.com/office/drawing/2014/main" id="{D9D48DDC-A2C5-4C35-8F2D-FA9892B9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24025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FF"/>
                </a:solidFill>
              </a:defRPr>
            </a:pPr>
            <a:r>
              <a:rPr sz="1650" b="0" i="0">
                <a:solidFill>
                  <a:srgbClr val="0000FF"/>
                </a:solidFill>
              </a:rPr>
              <a:t>brew install git</a:t>
            </a:r>
          </a:p>
        </p:txBody>
      </p:sp>
      <p:sp>
        <p:nvSpPr>
          <p:cNvPr id="6" name="win-label">
            <a:extLst xmlns:a="http://schemas.openxmlformats.org/drawingml/2006/main">
              <a:ext uri="{FF2B5EF4-FFF2-40B4-BE49-F238E27FC236}">
                <a16:creationId xmlns:a16="http://schemas.microsoft.com/office/drawing/2014/main" id="{298168EC-639C-4EE8-AC97-240D6DE8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525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333B2"/>
                </a:solidFill>
              </a:defRPr>
            </a:pPr>
            <a:r>
              <a:rPr sz="1500" b="1" i="0">
                <a:solidFill>
                  <a:srgbClr val="3333B2"/>
                </a:solidFill>
              </a:rPr>
              <a:t>Windows</a:t>
            </a:r>
          </a:p>
        </p:txBody>
      </p:sp>
      <p:sp>
        <p:nvSpPr>
          <p:cNvPr id="7" name="win-note">
            <a:extLst xmlns:a="http://schemas.openxmlformats.org/drawingml/2006/main">
              <a:ext uri="{FF2B5EF4-FFF2-40B4-BE49-F238E27FC236}">
                <a16:creationId xmlns:a16="http://schemas.microsoft.com/office/drawing/2014/main" id="{7767A553-B8F2-43EC-87E5-A6A78253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171C"/>
                </a:solidFill>
              </a:defRPr>
            </a:pPr>
            <a:r>
              <a:rPr sz="1350" b="0" i="0">
                <a:solidFill>
                  <a:srgbClr val="17171C"/>
                </a:solidFill>
              </a:rPr>
              <a:t>Git for Windows, or:</a:t>
            </a:r>
          </a:p>
        </p:txBody>
      </p:sp>
      <p:sp>
        <p:nvSpPr>
          <p:cNvPr id="8" name="win-command">
            <a:extLst xmlns:a="http://schemas.openxmlformats.org/drawingml/2006/main">
              <a:ext uri="{FF2B5EF4-FFF2-40B4-BE49-F238E27FC236}">
                <a16:creationId xmlns:a16="http://schemas.microsoft.com/office/drawing/2014/main" id="{B474377B-52E8-49D1-9278-F08ED96A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66925"/>
            <a:ext cx="419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000FF"/>
                </a:solidFill>
              </a:defRPr>
            </a:pPr>
            <a:r>
              <a:rPr sz="1425" b="0" i="0">
                <a:solidFill>
                  <a:srgbClr val="0000FF"/>
                </a:solidFill>
              </a:rPr>
              <a:t>winget install --id Git.Git -e</a:t>
            </a:r>
          </a:p>
          <a:p xmlns:a="http://schemas.openxmlformats.org/drawingml/2006/main">
            <a:pPr algn="l">
              <a:defRPr sz="1425" b="0" i="0">
                <a:solidFill>
                  <a:srgbClr val="0000FF"/>
                </a:solidFill>
              </a:defRPr>
            </a:pPr>
            <a:r>
              <a:rPr sz="1425" b="0" i="0">
                <a:solidFill>
                  <a:srgbClr val="0000FF"/>
                </a:solidFill>
              </a:rPr>
              <a:t>--source winget</a:t>
            </a:r>
          </a:p>
        </p:txBody>
      </p:sp>
      <p:sp>
        <p:nvSpPr>
          <p:cNvPr id="9" name="linux-label">
            <a:extLst xmlns:a="http://schemas.openxmlformats.org/drawingml/2006/main">
              <a:ext uri="{FF2B5EF4-FFF2-40B4-BE49-F238E27FC236}">
                <a16:creationId xmlns:a16="http://schemas.microsoft.com/office/drawing/2014/main" id="{FFA1F136-322F-4188-A7E4-CFC3E1C9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3525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333B2"/>
                </a:solidFill>
              </a:defRPr>
            </a:pPr>
            <a:r>
              <a:rPr sz="1500" b="1" i="0">
                <a:solidFill>
                  <a:srgbClr val="3333B2"/>
                </a:solidFill>
              </a:rPr>
              <a:t>Linux</a:t>
            </a:r>
          </a:p>
        </p:txBody>
      </p:sp>
      <p:sp>
        <p:nvSpPr>
          <p:cNvPr id="10" name="linux-command">
            <a:extLst xmlns:a="http://schemas.openxmlformats.org/drawingml/2006/main">
              <a:ext uri="{FF2B5EF4-FFF2-40B4-BE49-F238E27FC236}">
                <a16:creationId xmlns:a16="http://schemas.microsoft.com/office/drawing/2014/main" id="{A84AE804-5D2F-4F70-B54A-D10AC951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24025"/>
            <a:ext cx="2714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000FF"/>
                </a:solidFill>
              </a:defRPr>
            </a:pPr>
            <a:r>
              <a:rPr sz="1425" b="0" i="0">
                <a:solidFill>
                  <a:srgbClr val="0000FF"/>
                </a:solidFill>
              </a:rPr>
              <a:t>sudo apt install git</a:t>
            </a:r>
          </a:p>
          <a:p xmlns:a="http://schemas.openxmlformats.org/drawingml/2006/main">
            <a:pPr algn="l">
              <a:defRPr sz="1425" b="0" i="0">
                <a:solidFill>
                  <a:srgbClr val="0000FF"/>
                </a:solidFill>
              </a:defRPr>
            </a:pPr>
            <a:r>
              <a:rPr sz="1425" b="0" i="0">
                <a:solidFill>
                  <a:srgbClr val="0000FF"/>
                </a:solidFill>
              </a:rPr>
              <a:t>or</a:t>
            </a:r>
          </a:p>
          <a:p xmlns:a="http://schemas.openxmlformats.org/drawingml/2006/main">
            <a:pPr algn="l">
              <a:defRPr sz="1425" b="0" i="0">
                <a:solidFill>
                  <a:srgbClr val="0000FF"/>
                </a:solidFill>
              </a:defRPr>
            </a:pPr>
            <a:r>
              <a:rPr sz="1425" b="0" i="0">
                <a:solidFill>
                  <a:srgbClr val="0000FF"/>
                </a:solidFill>
              </a:rPr>
              <a:t>sudo dnf install git</a:t>
            </a:r>
          </a:p>
        </p:txBody>
      </p:sp>
      <p:sp>
        <p:nvSpPr>
          <p:cNvPr id="11" name="rule-78-310">
            <a:extLst xmlns:a="http://schemas.openxmlformats.org/drawingml/2006/main">
              <a:ext uri="{FF2B5EF4-FFF2-40B4-BE49-F238E27FC236}">
                <a16:creationId xmlns:a16="http://schemas.microsoft.com/office/drawing/2014/main" id="{A16FA317-469D-48BE-B36C-935E2162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12" name="verify-label">
            <a:extLst xmlns:a="http://schemas.openxmlformats.org/drawingml/2006/main">
              <a:ext uri="{FF2B5EF4-FFF2-40B4-BE49-F238E27FC236}">
                <a16:creationId xmlns:a16="http://schemas.microsoft.com/office/drawing/2014/main" id="{48F0CEF2-A199-4CDE-9092-877DB664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333B2"/>
                </a:solidFill>
              </a:defRPr>
            </a:pPr>
            <a:r>
              <a:rPr sz="1500" b="1" i="0">
                <a:solidFill>
                  <a:srgbClr val="3333B2"/>
                </a:solidFill>
              </a:rPr>
              <a:t>VERIFY</a:t>
            </a:r>
          </a:p>
        </p:txBody>
      </p:sp>
      <p:sp>
        <p:nvSpPr>
          <p:cNvPr id="13" name="cmd-380">
            <a:extLst xmlns:a="http://schemas.openxmlformats.org/drawingml/2006/main">
              <a:ext uri="{FF2B5EF4-FFF2-40B4-BE49-F238E27FC236}">
                <a16:creationId xmlns:a16="http://schemas.microsoft.com/office/drawing/2014/main" id="{2CA3B46B-8B3A-4BC4-8180-5C7B1618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342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FF"/>
                </a:solidFill>
              </a:defRPr>
            </a:pPr>
            <a:r>
              <a:rPr sz="1650" b="0" i="0">
                <a:solidFill>
                  <a:srgbClr val="0000FF"/>
                </a:solidFill>
              </a:rPr>
              <a:t>git --version</a:t>
            </a:r>
          </a:p>
        </p:txBody>
      </p:sp>
      <p:sp>
        <p:nvSpPr>
          <p:cNvPr id="14" name="identity-label">
            <a:extLst xmlns:a="http://schemas.openxmlformats.org/drawingml/2006/main">
              <a:ext uri="{FF2B5EF4-FFF2-40B4-BE49-F238E27FC236}">
                <a16:creationId xmlns:a16="http://schemas.microsoft.com/office/drawing/2014/main" id="{F41E4231-E3A0-4899-8D41-CA94F21B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433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333B2"/>
                </a:solidFill>
              </a:defRPr>
            </a:pPr>
            <a:r>
              <a:rPr sz="1500" b="1" i="0">
                <a:solidFill>
                  <a:srgbClr val="3333B2"/>
                </a:solidFill>
              </a:rPr>
              <a:t>IDENTIFY YOUR COMMITS</a:t>
            </a:r>
          </a:p>
        </p:txBody>
      </p:sp>
      <p:sp>
        <p:nvSpPr>
          <p:cNvPr id="15" name="cmd-478">
            <a:extLst xmlns:a="http://schemas.openxmlformats.org/drawingml/2006/main">
              <a:ext uri="{FF2B5EF4-FFF2-40B4-BE49-F238E27FC236}">
                <a16:creationId xmlns:a16="http://schemas.microsoft.com/office/drawing/2014/main" id="{CAA83998-5B19-4699-9A2F-0579DCF5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8572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FF"/>
                </a:solidFill>
              </a:defRPr>
            </a:pPr>
            <a:r>
              <a:rPr sz="1650" b="0" i="0">
                <a:solidFill>
                  <a:srgbClr val="0000FF"/>
                </a:solidFill>
              </a:rPr>
              <a:t>git config --global user.name "Your Name"</a:t>
            </a:r>
          </a:p>
        </p:txBody>
      </p:sp>
      <p:sp>
        <p:nvSpPr>
          <p:cNvPr id="16" name="cmd-525">
            <a:extLst xmlns:a="http://schemas.openxmlformats.org/drawingml/2006/main">
              <a:ext uri="{FF2B5EF4-FFF2-40B4-BE49-F238E27FC236}">
                <a16:creationId xmlns:a16="http://schemas.microsoft.com/office/drawing/2014/main" id="{E11F0CD6-5A9A-445E-AFB4-E0E74165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00625"/>
            <a:ext cx="8572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FF"/>
                </a:solidFill>
              </a:defRPr>
            </a:pPr>
            <a:r>
              <a:rPr sz="1650" b="0" i="0">
                <a:solidFill>
                  <a:srgbClr val="0000FF"/>
                </a:solidFill>
              </a:rPr>
              <a:t>git config --global user.email "you@example.com"</a:t>
            </a:r>
          </a:p>
        </p:txBody>
      </p:sp>
      <p:sp>
        <p:nvSpPr>
          <p:cNvPr id="17" name="takeaway">
            <a:extLst xmlns:a="http://schemas.openxmlformats.org/drawingml/2006/main">
              <a:ext uri="{FF2B5EF4-FFF2-40B4-BE49-F238E27FC236}">
                <a16:creationId xmlns:a16="http://schemas.microsoft.com/office/drawing/2014/main" id="{0733AC76-7D59-4FBA-BDCF-34D61960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BF0040"/>
                </a:solidFill>
              </a:defRPr>
            </a:pPr>
            <a:r>
              <a:rPr sz="1725" b="1" i="0">
                <a:solidFill>
                  <a:srgbClr val="BF0040"/>
                </a:solidFill>
              </a:rPr>
              <a:t>Use the name and email you want attached to research history.</a:t>
            </a:r>
          </a:p>
        </p:txBody>
      </p:sp>
    </p:spTree>
    <p:extLst>
      <p:ext uri="{BB962C8B-B14F-4D97-AF65-F5344CB8AC3E}">
        <p14:creationId xmlns:p14="http://schemas.microsoft.com/office/powerpoint/2010/main" val="3155750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3028795-C509-4F37-B0D3-344F6220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3333B2"/>
                </a:solidFill>
              </a:defRPr>
            </a:pPr>
            <a:r>
              <a:rPr sz="2925" b="1" i="0">
                <a:solidFill>
                  <a:srgbClr val="3333B2"/>
                </a:solidFill>
              </a:rPr>
              <a:t>Install Claude Code, then check the environment</a:t>
            </a:r>
          </a:p>
        </p:txBody>
      </p:sp>
      <p:sp>
        <p:nvSpPr>
          <p:cNvPr id="2" name="rule-68-107">
            <a:extLst xmlns:a="http://schemas.openxmlformats.org/drawingml/2006/main">
              <a:ext uri="{FF2B5EF4-FFF2-40B4-BE49-F238E27FC236}">
                <a16:creationId xmlns:a16="http://schemas.microsoft.com/office/drawing/2014/main" id="{5E91872E-EB25-43FC-92D4-B2629EE6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19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9308D60-3181-43E5-969A-86C000BB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C5C69"/>
                </a:solidFill>
              </a:defRPr>
            </a:pPr>
            <a:r>
              <a:rPr sz="825" b="0" i="0">
                <a:solidFill>
                  <a:srgbClr val="5C5C69"/>
                </a:solidFill>
              </a:rPr>
              <a:t>3 / 23</a:t>
            </a:r>
          </a:p>
        </p:txBody>
      </p:sp>
      <p:sp>
        <p:nvSpPr>
          <p:cNvPr id="4" name="native-label">
            <a:extLst xmlns:a="http://schemas.openxmlformats.org/drawingml/2006/main">
              <a:ext uri="{FF2B5EF4-FFF2-40B4-BE49-F238E27FC236}">
                <a16:creationId xmlns:a16="http://schemas.microsoft.com/office/drawing/2014/main" id="{E28AEDD1-79B8-4329-AB7C-D158BE09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333B2"/>
                </a:solidFill>
              </a:defRPr>
            </a:pPr>
            <a:r>
              <a:rPr sz="1500" b="1" i="0">
                <a:solidFill>
                  <a:srgbClr val="3333B2"/>
                </a:solidFill>
              </a:rPr>
              <a:t>macOS / Linux / WSL — native installer</a:t>
            </a:r>
          </a:p>
        </p:txBody>
      </p:sp>
      <p:sp>
        <p:nvSpPr>
          <p:cNvPr id="5" name="native-command">
            <a:extLst xmlns:a="http://schemas.openxmlformats.org/drawingml/2006/main">
              <a:ext uri="{FF2B5EF4-FFF2-40B4-BE49-F238E27FC236}">
                <a16:creationId xmlns:a16="http://schemas.microsoft.com/office/drawing/2014/main" id="{002F61B5-6827-4FB2-82B9-2C8DA780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000FF"/>
                </a:solidFill>
              </a:defRPr>
            </a:pPr>
            <a:r>
              <a:rPr sz="1425" b="0" i="0">
                <a:solidFill>
                  <a:srgbClr val="0000FF"/>
                </a:solidFill>
              </a:rPr>
              <a:t>curl -fsSL https://claude.ai/install.sh | bash</a:t>
            </a:r>
          </a:p>
        </p:txBody>
      </p:sp>
      <p:sp>
        <p:nvSpPr>
          <p:cNvPr id="6" name="brew-label">
            <a:extLst xmlns:a="http://schemas.openxmlformats.org/drawingml/2006/main">
              <a:ext uri="{FF2B5EF4-FFF2-40B4-BE49-F238E27FC236}">
                <a16:creationId xmlns:a16="http://schemas.microsoft.com/office/drawing/2014/main" id="{7FF4EBED-5762-4D86-AC53-7AA167E4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333B2"/>
                </a:solidFill>
              </a:defRPr>
            </a:pPr>
            <a:r>
              <a:rPr sz="1500" b="1" i="0">
                <a:solidFill>
                  <a:srgbClr val="3333B2"/>
                </a:solidFill>
              </a:rPr>
              <a:t>macOS — Homebrew alternative</a:t>
            </a:r>
          </a:p>
        </p:txBody>
      </p:sp>
      <p:sp>
        <p:nvSpPr>
          <p:cNvPr id="7" name="brew-command">
            <a:extLst xmlns:a="http://schemas.openxmlformats.org/drawingml/2006/main">
              <a:ext uri="{FF2B5EF4-FFF2-40B4-BE49-F238E27FC236}">
                <a16:creationId xmlns:a16="http://schemas.microsoft.com/office/drawing/2014/main" id="{103639C5-3D58-409B-8B7A-05A3D9CD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000FF"/>
                </a:solidFill>
              </a:defRPr>
            </a:pPr>
            <a:r>
              <a:rPr sz="1425" b="0" i="0">
                <a:solidFill>
                  <a:srgbClr val="0000FF"/>
                </a:solidFill>
              </a:rPr>
              <a:t>brew install --cask claude-code</a:t>
            </a:r>
          </a:p>
        </p:txBody>
      </p:sp>
      <p:sp>
        <p:nvSpPr>
          <p:cNvPr id="8" name="windows-label">
            <a:extLst xmlns:a="http://schemas.openxmlformats.org/drawingml/2006/main">
              <a:ext uri="{FF2B5EF4-FFF2-40B4-BE49-F238E27FC236}">
                <a16:creationId xmlns:a16="http://schemas.microsoft.com/office/drawing/2014/main" id="{E12B4BBB-C3EE-423A-B28C-8C4EDB38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00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333B2"/>
                </a:solidFill>
              </a:defRPr>
            </a:pPr>
            <a:r>
              <a:rPr sz="1500" b="1" i="0">
                <a:solidFill>
                  <a:srgbClr val="3333B2"/>
                </a:solidFill>
              </a:rPr>
              <a:t>Windows — WinGet</a:t>
            </a:r>
          </a:p>
        </p:txBody>
      </p:sp>
      <p:sp>
        <p:nvSpPr>
          <p:cNvPr id="9" name="windows-command">
            <a:extLst xmlns:a="http://schemas.openxmlformats.org/drawingml/2006/main">
              <a:ext uri="{FF2B5EF4-FFF2-40B4-BE49-F238E27FC236}">
                <a16:creationId xmlns:a16="http://schemas.microsoft.com/office/drawing/2014/main" id="{E4379F6C-D60C-4359-8DE4-D6861C7D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00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000FF"/>
                </a:solidFill>
              </a:defRPr>
            </a:pPr>
            <a:r>
              <a:rPr sz="1350" b="0" i="0">
                <a:solidFill>
                  <a:srgbClr val="0000FF"/>
                </a:solidFill>
              </a:rPr>
              <a:t>winget install Anthropic.ClaudeCode</a:t>
            </a:r>
          </a:p>
        </p:txBody>
      </p:sp>
      <p:sp>
        <p:nvSpPr>
          <p:cNvPr id="10" name="rule-78-363">
            <a:extLst xmlns:a="http://schemas.openxmlformats.org/drawingml/2006/main">
              <a:ext uri="{FF2B5EF4-FFF2-40B4-BE49-F238E27FC236}">
                <a16:creationId xmlns:a16="http://schemas.microsoft.com/office/drawing/2014/main" id="{4374BEF5-4094-4371-A3B1-08BF3418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11" name="verify-label">
            <a:extLst xmlns:a="http://schemas.openxmlformats.org/drawingml/2006/main">
              <a:ext uri="{FF2B5EF4-FFF2-40B4-BE49-F238E27FC236}">
                <a16:creationId xmlns:a16="http://schemas.microsoft.com/office/drawing/2014/main" id="{0B4DCDCF-F156-429E-A87A-839B49A9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433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333B2"/>
                </a:solidFill>
              </a:defRPr>
            </a:pPr>
            <a:r>
              <a:rPr sz="1500" b="1" i="0">
                <a:solidFill>
                  <a:srgbClr val="3333B2"/>
                </a:solidFill>
              </a:rPr>
              <a:t>VERIFY + START</a:t>
            </a:r>
          </a:p>
        </p:txBody>
      </p:sp>
      <p:sp>
        <p:nvSpPr>
          <p:cNvPr id="12" name="verify-command">
            <a:extLst xmlns:a="http://schemas.openxmlformats.org/drawingml/2006/main">
              <a:ext uri="{FF2B5EF4-FFF2-40B4-BE49-F238E27FC236}">
                <a16:creationId xmlns:a16="http://schemas.microsoft.com/office/drawing/2014/main" id="{2BF365C9-6496-4C1B-B9BA-A36CE70E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FF"/>
                </a:solidFill>
              </a:defRPr>
            </a:pPr>
            <a:r>
              <a:rPr sz="1650" b="0" i="0">
                <a:solidFill>
                  <a:srgbClr val="0000FF"/>
                </a:solidFill>
              </a:rPr>
              <a:t>claude --version     claude doctor     claude</a:t>
            </a:r>
          </a:p>
        </p:txBody>
      </p:sp>
      <p:sp>
        <p:nvSpPr>
          <p:cNvPr id="13" name="windows-note">
            <a:extLst xmlns:a="http://schemas.openxmlformats.org/drawingml/2006/main">
              <a:ext uri="{FF2B5EF4-FFF2-40B4-BE49-F238E27FC236}">
                <a16:creationId xmlns:a16="http://schemas.microsoft.com/office/drawing/2014/main" id="{DF24109B-34DA-4407-A483-18D9D0C0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7171C"/>
                </a:solidFill>
              </a:defRPr>
            </a:pPr>
            <a:r>
              <a:rPr sz="1725" b="0" i="0">
                <a:solidFill>
                  <a:srgbClr val="17171C"/>
                </a:solidFill>
              </a:rPr>
              <a:t>On Windows, use native Windows with Git for Windows—or run Claude Code inside WSL.</a:t>
            </a:r>
          </a:p>
        </p:txBody>
      </p:sp>
      <p:sp>
        <p:nvSpPr>
          <p:cNvPr id="14" name="takeaway">
            <a:extLst xmlns:a="http://schemas.openxmlformats.org/drawingml/2006/main">
              <a:ext uri="{FF2B5EF4-FFF2-40B4-BE49-F238E27FC236}">
                <a16:creationId xmlns:a16="http://schemas.microsoft.com/office/drawing/2014/main" id="{F0B9257A-28ED-4F95-98CA-92913549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BF0040"/>
                </a:solidFill>
              </a:defRPr>
            </a:pPr>
            <a:r>
              <a:rPr sz="1725" b="1" i="0">
                <a:solidFill>
                  <a:srgbClr val="BF0040"/>
                </a:solidFill>
              </a:rPr>
              <a:t>Launch from the project directory.</a:t>
            </a:r>
          </a:p>
        </p:txBody>
      </p:sp>
    </p:spTree>
    <p:extLst>
      <p:ext uri="{BB962C8B-B14F-4D97-AF65-F5344CB8AC3E}">
        <p14:creationId xmlns:p14="http://schemas.microsoft.com/office/powerpoint/2010/main" val="18107491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6C44B3-A0B9-434C-BBE2-99B02760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3333B2"/>
                </a:solidFill>
              </a:defRPr>
            </a:pPr>
            <a:r>
              <a:rPr sz="2925" b="1" i="0">
                <a:solidFill>
                  <a:srgbClr val="3333B2"/>
                </a:solidFill>
              </a:rPr>
              <a:t>Install Codex CLI, then launch it in the project</a:t>
            </a:r>
          </a:p>
        </p:txBody>
      </p:sp>
      <p:sp>
        <p:nvSpPr>
          <p:cNvPr id="2" name="rule-68-107">
            <a:extLst xmlns:a="http://schemas.openxmlformats.org/drawingml/2006/main">
              <a:ext uri="{FF2B5EF4-FFF2-40B4-BE49-F238E27FC236}">
                <a16:creationId xmlns:a16="http://schemas.microsoft.com/office/drawing/2014/main" id="{60206B62-DD77-433B-926B-C7E2B93C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19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14ECAE3-FF41-47E4-B527-60002444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C5C69"/>
                </a:solidFill>
              </a:defRPr>
            </a:pPr>
            <a:r>
              <a:rPr sz="825" b="0" i="0">
                <a:solidFill>
                  <a:srgbClr val="5C5C69"/>
                </a:solidFill>
              </a:rPr>
              <a:t>4 / 23</a:t>
            </a:r>
          </a:p>
        </p:txBody>
      </p:sp>
      <p:sp>
        <p:nvSpPr>
          <p:cNvPr id="4" name="unix-label">
            <a:extLst xmlns:a="http://schemas.openxmlformats.org/drawingml/2006/main">
              <a:ext uri="{FF2B5EF4-FFF2-40B4-BE49-F238E27FC236}">
                <a16:creationId xmlns:a16="http://schemas.microsoft.com/office/drawing/2014/main" id="{AAA0BCDE-A144-4A8B-B253-6B021360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333B2"/>
                </a:solidFill>
              </a:defRPr>
            </a:pPr>
            <a:r>
              <a:rPr sz="1500" b="1" i="0">
                <a:solidFill>
                  <a:srgbClr val="3333B2"/>
                </a:solidFill>
              </a:rPr>
              <a:t>macOS / Linux — standalone installer</a:t>
            </a:r>
          </a:p>
        </p:txBody>
      </p:sp>
      <p:sp>
        <p:nvSpPr>
          <p:cNvPr id="5" name="unix-command">
            <a:extLst xmlns:a="http://schemas.openxmlformats.org/drawingml/2006/main">
              <a:ext uri="{FF2B5EF4-FFF2-40B4-BE49-F238E27FC236}">
                <a16:creationId xmlns:a16="http://schemas.microsoft.com/office/drawing/2014/main" id="{FDC28678-D0B6-48C9-84DC-5402434D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000FF"/>
                </a:solidFill>
              </a:defRPr>
            </a:pPr>
            <a:r>
              <a:rPr sz="1425" b="0" i="0">
                <a:solidFill>
                  <a:srgbClr val="0000FF"/>
                </a:solidFill>
              </a:rPr>
              <a:t>curl -fsSL https://chatgpt.com/codex/install.sh | sh</a:t>
            </a:r>
          </a:p>
        </p:txBody>
      </p:sp>
      <p:sp>
        <p:nvSpPr>
          <p:cNvPr id="6" name="windows-label">
            <a:extLst xmlns:a="http://schemas.openxmlformats.org/drawingml/2006/main">
              <a:ext uri="{FF2B5EF4-FFF2-40B4-BE49-F238E27FC236}">
                <a16:creationId xmlns:a16="http://schemas.microsoft.com/office/drawing/2014/main" id="{86C84884-484E-4626-97B4-20A4A64F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333B2"/>
                </a:solidFill>
              </a:defRPr>
            </a:pPr>
            <a:r>
              <a:rPr sz="1500" b="1" i="0">
                <a:solidFill>
                  <a:srgbClr val="3333B2"/>
                </a:solidFill>
              </a:rPr>
              <a:t>Windows PowerShell</a:t>
            </a:r>
          </a:p>
        </p:txBody>
      </p:sp>
      <p:sp>
        <p:nvSpPr>
          <p:cNvPr id="7" name="windows-command">
            <a:extLst xmlns:a="http://schemas.openxmlformats.org/drawingml/2006/main">
              <a:ext uri="{FF2B5EF4-FFF2-40B4-BE49-F238E27FC236}">
                <a16:creationId xmlns:a16="http://schemas.microsoft.com/office/drawing/2014/main" id="{53BB4EE5-3500-48D5-AE11-F9951E3D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FF"/>
                </a:solidFill>
              </a:defRPr>
            </a:pPr>
            <a:r>
              <a:rPr sz="1275" b="0" i="0">
                <a:solidFill>
                  <a:srgbClr val="0000FF"/>
                </a:solidFill>
              </a:rPr>
              <a:t>powershell -ExecutionPolicy ByPass -c "irm https://chatgpt.com/codex/install.ps1 | iex"</a:t>
            </a:r>
          </a:p>
        </p:txBody>
      </p:sp>
      <p:sp>
        <p:nvSpPr>
          <p:cNvPr id="8" name="rule-78-363">
            <a:extLst xmlns:a="http://schemas.openxmlformats.org/drawingml/2006/main">
              <a:ext uri="{FF2B5EF4-FFF2-40B4-BE49-F238E27FC236}">
                <a16:creationId xmlns:a16="http://schemas.microsoft.com/office/drawing/2014/main" id="{CD2D1E70-97C5-41DC-B672-1E414E48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9" name="alternatives-label">
            <a:extLst xmlns:a="http://schemas.openxmlformats.org/drawingml/2006/main">
              <a:ext uri="{FF2B5EF4-FFF2-40B4-BE49-F238E27FC236}">
                <a16:creationId xmlns:a16="http://schemas.microsoft.com/office/drawing/2014/main" id="{15BDDFD4-A23F-4631-A1D2-2C61CA9C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433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333B2"/>
                </a:solidFill>
              </a:defRPr>
            </a:pPr>
            <a:r>
              <a:rPr sz="1500" b="1" i="0">
                <a:solidFill>
                  <a:srgbClr val="3333B2"/>
                </a:solidFill>
              </a:rPr>
              <a:t>PACKAGE-MANAGER ALTERNATIVES</a:t>
            </a:r>
          </a:p>
        </p:txBody>
      </p:sp>
      <p:sp>
        <p:nvSpPr>
          <p:cNvPr id="10" name="npm-command">
            <a:extLst xmlns:a="http://schemas.openxmlformats.org/drawingml/2006/main">
              <a:ext uri="{FF2B5EF4-FFF2-40B4-BE49-F238E27FC236}">
                <a16:creationId xmlns:a16="http://schemas.microsoft.com/office/drawing/2014/main" id="{AB054AF8-9342-44E7-8F7D-4302820F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43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000FF"/>
                </a:solidFill>
              </a:defRPr>
            </a:pPr>
            <a:r>
              <a:rPr sz="1425" b="0" i="0">
                <a:solidFill>
                  <a:srgbClr val="0000FF"/>
                </a:solidFill>
              </a:rPr>
              <a:t>npm install -g @openai/codex</a:t>
            </a:r>
          </a:p>
        </p:txBody>
      </p:sp>
      <p:sp>
        <p:nvSpPr>
          <p:cNvPr id="11" name="brew-command">
            <a:extLst xmlns:a="http://schemas.openxmlformats.org/drawingml/2006/main">
              <a:ext uri="{FF2B5EF4-FFF2-40B4-BE49-F238E27FC236}">
                <a16:creationId xmlns:a16="http://schemas.microsoft.com/office/drawing/2014/main" id="{E5009DE0-F3BB-4991-AAF3-CB2802AE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433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000FF"/>
                </a:solidFill>
              </a:defRPr>
            </a:pPr>
            <a:r>
              <a:rPr sz="1425" b="0" i="0">
                <a:solidFill>
                  <a:srgbClr val="0000FF"/>
                </a:solidFill>
              </a:rPr>
              <a:t>brew install --cask codex</a:t>
            </a:r>
          </a:p>
        </p:txBody>
      </p:sp>
      <p:sp>
        <p:nvSpPr>
          <p:cNvPr id="12" name="verify-label">
            <a:extLst xmlns:a="http://schemas.openxmlformats.org/drawingml/2006/main">
              <a:ext uri="{FF2B5EF4-FFF2-40B4-BE49-F238E27FC236}">
                <a16:creationId xmlns:a16="http://schemas.microsoft.com/office/drawing/2014/main" id="{2A41856C-7D1B-41B5-8D48-24473801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333B2"/>
                </a:solidFill>
              </a:defRPr>
            </a:pPr>
            <a:r>
              <a:rPr sz="1500" b="1" i="0">
                <a:solidFill>
                  <a:srgbClr val="3333B2"/>
                </a:solidFill>
              </a:rPr>
              <a:t>VERIFY + START</a:t>
            </a:r>
          </a:p>
        </p:txBody>
      </p:sp>
      <p:sp>
        <p:nvSpPr>
          <p:cNvPr id="13" name="verify-command">
            <a:extLst xmlns:a="http://schemas.openxmlformats.org/drawingml/2006/main">
              <a:ext uri="{FF2B5EF4-FFF2-40B4-BE49-F238E27FC236}">
                <a16:creationId xmlns:a16="http://schemas.microsoft.com/office/drawing/2014/main" id="{C3AE13F2-6E15-4836-890F-645DECD3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FF"/>
                </a:solidFill>
              </a:defRPr>
            </a:pPr>
            <a:r>
              <a:rPr sz="1650" b="0" i="0">
                <a:solidFill>
                  <a:srgbClr val="0000FF"/>
                </a:solidFill>
              </a:rPr>
              <a:t>codex --version          codex</a:t>
            </a:r>
          </a:p>
        </p:txBody>
      </p:sp>
      <p:sp>
        <p:nvSpPr>
          <p:cNvPr id="14" name="takeaway">
            <a:extLst xmlns:a="http://schemas.openxmlformats.org/drawingml/2006/main">
              <a:ext uri="{FF2B5EF4-FFF2-40B4-BE49-F238E27FC236}">
                <a16:creationId xmlns:a16="http://schemas.microsoft.com/office/drawing/2014/main" id="{F3A7B1E9-493F-4334-B895-B12017C3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674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BF0040"/>
                </a:solidFill>
              </a:defRPr>
            </a:pPr>
            <a:r>
              <a:rPr sz="1650" b="1" i="0">
                <a:solidFill>
                  <a:srgbClr val="BF0040"/>
                </a:solidFill>
              </a:rPr>
              <a:t>Use one installation path; duplicate installs can make PATH ambiguous.</a:t>
            </a:r>
          </a:p>
        </p:txBody>
      </p:sp>
    </p:spTree>
    <p:extLst>
      <p:ext uri="{BB962C8B-B14F-4D97-AF65-F5344CB8AC3E}">
        <p14:creationId xmlns:p14="http://schemas.microsoft.com/office/powerpoint/2010/main" val="16822479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C6C77B-DC06-49C9-BE71-4A9DD53A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3333B2"/>
                </a:solidFill>
              </a:defRPr>
            </a:pPr>
            <a:r>
              <a:rPr sz="2925" b="1" i="0">
                <a:solidFill>
                  <a:srgbClr val="3333B2"/>
                </a:solidFill>
              </a:rPr>
              <a:t>CC Switch: configure providers safely</a:t>
            </a:r>
          </a:p>
        </p:txBody>
      </p:sp>
      <p:sp>
        <p:nvSpPr>
          <p:cNvPr id="2" name="rule-68-107">
            <a:extLst xmlns:a="http://schemas.openxmlformats.org/drawingml/2006/main">
              <a:ext uri="{FF2B5EF4-FFF2-40B4-BE49-F238E27FC236}">
                <a16:creationId xmlns:a16="http://schemas.microsoft.com/office/drawing/2014/main" id="{4C433157-D44D-4E6E-9FD1-65E64C86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19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CD5DF10-BDED-43ED-8A3D-80CDFD2B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C5C69"/>
                </a:solidFill>
              </a:defRPr>
            </a:pPr>
            <a:r>
              <a:rPr sz="825" b="0" i="0">
                <a:solidFill>
                  <a:srgbClr val="5C5C69"/>
                </a:solidFill>
              </a:rPr>
              <a:t>5 / 23</a:t>
            </a:r>
          </a:p>
        </p:txBody>
      </p:sp>
      <p:sp>
        <p:nvSpPr>
          <p:cNvPr id="4" name="mac-label">
            <a:extLst xmlns:a="http://schemas.openxmlformats.org/drawingml/2006/main">
              <a:ext uri="{FF2B5EF4-FFF2-40B4-BE49-F238E27FC236}">
                <a16:creationId xmlns:a16="http://schemas.microsoft.com/office/drawing/2014/main" id="{5B0988DD-A7BB-45D6-8471-122F4AF7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33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333B2"/>
                </a:solidFill>
              </a:defRPr>
            </a:pPr>
            <a:r>
              <a:rPr sz="1500" b="1" i="0">
                <a:solidFill>
                  <a:srgbClr val="3333B2"/>
                </a:solidFill>
              </a:rPr>
              <a:t>macOS</a:t>
            </a:r>
          </a:p>
        </p:txBody>
      </p:sp>
      <p:sp>
        <p:nvSpPr>
          <p:cNvPr id="5" name="mac-command">
            <a:extLst xmlns:a="http://schemas.openxmlformats.org/drawingml/2006/main">
              <a:ext uri="{FF2B5EF4-FFF2-40B4-BE49-F238E27FC236}">
                <a16:creationId xmlns:a16="http://schemas.microsoft.com/office/drawing/2014/main" id="{78C3D104-9B3C-484F-B20D-CC6311F7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000FF"/>
                </a:solidFill>
              </a:defRPr>
            </a:pPr>
            <a:r>
              <a:rPr sz="1350" b="0" i="0">
                <a:solidFill>
                  <a:srgbClr val="0000FF"/>
                </a:solidFill>
              </a:rPr>
              <a:t>brew install --cask cc-switch</a:t>
            </a:r>
          </a:p>
        </p:txBody>
      </p:sp>
      <p:sp>
        <p:nvSpPr>
          <p:cNvPr id="6" name="win-label">
            <a:extLst xmlns:a="http://schemas.openxmlformats.org/drawingml/2006/main">
              <a:ext uri="{FF2B5EF4-FFF2-40B4-BE49-F238E27FC236}">
                <a16:creationId xmlns:a16="http://schemas.microsoft.com/office/drawing/2014/main" id="{858ED958-7261-4F12-9762-3DCBF991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33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333B2"/>
                </a:solidFill>
              </a:defRPr>
            </a:pPr>
            <a:r>
              <a:rPr sz="1500" b="1" i="0">
                <a:solidFill>
                  <a:srgbClr val="3333B2"/>
                </a:solidFill>
              </a:rPr>
              <a:t>Windows</a:t>
            </a:r>
          </a:p>
        </p:txBody>
      </p:sp>
      <p:sp>
        <p:nvSpPr>
          <p:cNvPr id="7" name="win-copy">
            <a:extLst xmlns:a="http://schemas.openxmlformats.org/drawingml/2006/main">
              <a:ext uri="{FF2B5EF4-FFF2-40B4-BE49-F238E27FC236}">
                <a16:creationId xmlns:a16="http://schemas.microsoft.com/office/drawing/2014/main" id="{F36D0999-5AE7-480A-99AF-9BE2409B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240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171C"/>
                </a:solidFill>
              </a:defRPr>
            </a:pPr>
            <a:r>
              <a:rPr sz="1500" b="0" i="0">
                <a:solidFill>
                  <a:srgbClr val="17171C"/>
                </a:solidFill>
              </a:rPr>
              <a:t>MSI or Portable ZIP from Releases</a:t>
            </a:r>
          </a:p>
        </p:txBody>
      </p:sp>
      <p:sp>
        <p:nvSpPr>
          <p:cNvPr id="8" name="linux-label">
            <a:extLst xmlns:a="http://schemas.openxmlformats.org/drawingml/2006/main">
              <a:ext uri="{FF2B5EF4-FFF2-40B4-BE49-F238E27FC236}">
                <a16:creationId xmlns:a16="http://schemas.microsoft.com/office/drawing/2014/main" id="{E49DBF96-2C75-47E4-A094-E3CDFAE8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33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333B2"/>
                </a:solidFill>
              </a:defRPr>
            </a:pPr>
            <a:r>
              <a:rPr sz="1500" b="1" i="0">
                <a:solidFill>
                  <a:srgbClr val="3333B2"/>
                </a:solidFill>
              </a:rPr>
              <a:t>Linux</a:t>
            </a:r>
          </a:p>
        </p:txBody>
      </p:sp>
      <p:sp>
        <p:nvSpPr>
          <p:cNvPr id="9" name="linux-copy">
            <a:extLst xmlns:a="http://schemas.openxmlformats.org/drawingml/2006/main">
              <a:ext uri="{FF2B5EF4-FFF2-40B4-BE49-F238E27FC236}">
                <a16:creationId xmlns:a16="http://schemas.microsoft.com/office/drawing/2014/main" id="{06D2E332-D26C-4FBD-9206-951E87B1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240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171C"/>
                </a:solidFill>
              </a:defRPr>
            </a:pPr>
            <a:r>
              <a:rPr sz="1500" b="0" i="0">
                <a:solidFill>
                  <a:srgbClr val="17171C"/>
                </a:solidFill>
              </a:rPr>
              <a:t>.deb / .rpm / AppImage</a:t>
            </a:r>
          </a:p>
        </p:txBody>
      </p:sp>
      <p:sp>
        <p:nvSpPr>
          <p:cNvPr id="10" name="rule-78-242">
            <a:extLst xmlns:a="http://schemas.openxmlformats.org/drawingml/2006/main">
              <a:ext uri="{FF2B5EF4-FFF2-40B4-BE49-F238E27FC236}">
                <a16:creationId xmlns:a16="http://schemas.microsoft.com/office/drawing/2014/main" id="{530FCAD8-AA02-4B7E-B3CD-376A4694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11" name="workflow-label">
            <a:extLst xmlns:a="http://schemas.openxmlformats.org/drawingml/2006/main">
              <a:ext uri="{FF2B5EF4-FFF2-40B4-BE49-F238E27FC236}">
                <a16:creationId xmlns:a16="http://schemas.microsoft.com/office/drawing/2014/main" id="{66024096-0210-438E-A172-19223C4C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333B2"/>
                </a:solidFill>
              </a:defRPr>
            </a:pPr>
            <a:r>
              <a:rPr sz="1500" b="1" i="0">
                <a:solidFill>
                  <a:srgbClr val="3333B2"/>
                </a:solidFill>
              </a:rPr>
              <a:t>FIRST LAUNCH</a:t>
            </a:r>
          </a:p>
        </p:txBody>
      </p:sp>
      <p:sp>
        <p:nvSpPr>
          <p:cNvPr id="12" name="workflow">
            <a:extLst xmlns:a="http://schemas.openxmlformats.org/drawingml/2006/main">
              <a:ext uri="{FF2B5EF4-FFF2-40B4-BE49-F238E27FC236}">
                <a16:creationId xmlns:a16="http://schemas.microsoft.com/office/drawing/2014/main" id="{0DD180E5-1F90-40B9-B2B2-F9408E33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171C"/>
                </a:solidFill>
              </a:defRPr>
            </a:pPr>
            <a:r>
              <a:rPr sz="1800" b="1" i="0">
                <a:solidFill>
                  <a:srgbClr val="17171C"/>
                </a:solidFill>
              </a:rPr>
              <a:t>Import existing configs   →   Add provider   →   Enable   →   Restart the relevant CLI</a:t>
            </a:r>
          </a:p>
        </p:txBody>
      </p:sp>
      <p:sp>
        <p:nvSpPr>
          <p:cNvPr id="13" name="restart-note">
            <a:extLst xmlns:a="http://schemas.openxmlformats.org/drawingml/2006/main">
              <a:ext uri="{FF2B5EF4-FFF2-40B4-BE49-F238E27FC236}">
                <a16:creationId xmlns:a16="http://schemas.microsoft.com/office/drawing/2014/main" id="{449D23D9-F542-49E2-90CD-61954E43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C5C69"/>
                </a:solidFill>
              </a:defRPr>
            </a:pPr>
            <a:r>
              <a:rPr sz="1575" b="0" i="0">
                <a:solidFill>
                  <a:srgbClr val="5C5C69"/>
                </a:solidFill>
              </a:rPr>
              <a:t>Claude Code can hot-switch; restart other relevant CLI tools when prompted.</a:t>
            </a:r>
          </a:p>
        </p:txBody>
      </p:sp>
      <p:sp>
        <p:nvSpPr>
          <p:cNvPr id="14" name="safety-band">
            <a:extLst xmlns:a="http://schemas.openxmlformats.org/drawingml/2006/main">
              <a:ext uri="{FF2B5EF4-FFF2-40B4-BE49-F238E27FC236}">
                <a16:creationId xmlns:a16="http://schemas.microsoft.com/office/drawing/2014/main" id="{D3C366F1-B6E5-43B3-9FDE-9807FE24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106489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afety-title">
            <a:extLst xmlns:a="http://schemas.openxmlformats.org/drawingml/2006/main">
              <a:ext uri="{FF2B5EF4-FFF2-40B4-BE49-F238E27FC236}">
                <a16:creationId xmlns:a16="http://schemas.microsoft.com/office/drawing/2014/main" id="{6DA6F8AA-04B8-4965-A3F8-D30283B0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0057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0000"/>
                </a:solidFill>
              </a:defRPr>
            </a:pPr>
            <a:r>
              <a:rPr sz="1575" b="1" i="0">
                <a:solidFill>
                  <a:srgbClr val="FF0000"/>
                </a:solidFill>
              </a:rPr>
              <a:t>INSTALL ONLY FROM OFFICIAL CHANNELS</a:t>
            </a:r>
          </a:p>
        </p:txBody>
      </p:sp>
      <p:sp>
        <p:nvSpPr>
          <p:cNvPr id="16" name="official">
            <a:extLst xmlns:a="http://schemas.openxmlformats.org/drawingml/2006/main">
              <a:ext uri="{FF2B5EF4-FFF2-40B4-BE49-F238E27FC236}">
                <a16:creationId xmlns:a16="http://schemas.microsoft.com/office/drawing/2014/main" id="{6F601FE2-3767-47C2-B060-4C8421E6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81575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FF"/>
                </a:solidFill>
              </a:defRPr>
            </a:pPr>
            <a:r>
              <a:rPr sz="1650" b="0" i="0">
                <a:solidFill>
                  <a:srgbClr val="0000FF"/>
                </a:solidFill>
              </a:rPr>
              <a:t>github.com/farion1231/cc-switch   •   ccswitch.io</a:t>
            </a:r>
          </a:p>
        </p:txBody>
      </p:sp>
      <p:sp>
        <p:nvSpPr>
          <p:cNvPr id="17" name="keys">
            <a:extLst xmlns:a="http://schemas.openxmlformats.org/drawingml/2006/main">
              <a:ext uri="{FF2B5EF4-FFF2-40B4-BE49-F238E27FC236}">
                <a16:creationId xmlns:a16="http://schemas.microsoft.com/office/drawing/2014/main" id="{86F29001-8FE1-4CC7-ADA9-424F64A1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530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0000"/>
                </a:solidFill>
              </a:defRPr>
            </a:pPr>
            <a:r>
              <a:rPr sz="1650" b="1" i="0">
                <a:solidFill>
                  <a:srgbClr val="FF0000"/>
                </a:solidFill>
              </a:rPr>
              <a:t>Never commit API keys or provider credentials.</a:t>
            </a:r>
          </a:p>
        </p:txBody>
      </p:sp>
    </p:spTree>
    <p:extLst>
      <p:ext uri="{BB962C8B-B14F-4D97-AF65-F5344CB8AC3E}">
        <p14:creationId xmlns:p14="http://schemas.microsoft.com/office/powerpoint/2010/main" val="7809001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2920B8-8C52-423A-991E-7B366ACA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3333B2"/>
                </a:solidFill>
              </a:defRPr>
            </a:pPr>
            <a:r>
              <a:rPr sz="2925" b="1" i="0">
                <a:solidFill>
                  <a:srgbClr val="3333B2"/>
                </a:solidFill>
              </a:rPr>
              <a:t>A 90-second setup check before the lab</a:t>
            </a:r>
          </a:p>
        </p:txBody>
      </p:sp>
      <p:sp>
        <p:nvSpPr>
          <p:cNvPr id="2" name="rule-68-107">
            <a:extLst xmlns:a="http://schemas.openxmlformats.org/drawingml/2006/main">
              <a:ext uri="{FF2B5EF4-FFF2-40B4-BE49-F238E27FC236}">
                <a16:creationId xmlns:a16="http://schemas.microsoft.com/office/drawing/2014/main" id="{9E0D445F-1CC6-4367-A826-BE41DDA2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19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60F79F4-2231-440F-BEAA-C4BA55E9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C5C69"/>
                </a:solidFill>
              </a:defRPr>
            </a:pPr>
            <a:r>
              <a:rPr sz="825" b="0" i="0">
                <a:solidFill>
                  <a:srgbClr val="5C5C69"/>
                </a:solidFill>
              </a:rPr>
              <a:t>6 / 23</a:t>
            </a:r>
          </a:p>
        </p:txBody>
      </p:sp>
      <p:sp>
        <p:nvSpPr>
          <p:cNvPr id="4" name="check1">
            <a:extLst xmlns:a="http://schemas.openxmlformats.org/drawingml/2006/main">
              <a:ext uri="{FF2B5EF4-FFF2-40B4-BE49-F238E27FC236}">
                <a16:creationId xmlns:a16="http://schemas.microsoft.com/office/drawing/2014/main" id="{63EAE862-4456-459A-8206-A90DEF93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525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3333B2"/>
                </a:solidFill>
              </a:defRPr>
            </a:pPr>
            <a:r>
              <a:rPr sz="2400" b="1" i="0">
                <a:solidFill>
                  <a:srgbClr val="3333B2"/>
                </a:solidFill>
              </a:rPr>
              <a:t>1</a:t>
            </a:r>
          </a:p>
        </p:txBody>
      </p:sp>
      <p:sp>
        <p:nvSpPr>
          <p:cNvPr id="5" name="check1-command">
            <a:extLst xmlns:a="http://schemas.openxmlformats.org/drawingml/2006/main">
              <a:ext uri="{FF2B5EF4-FFF2-40B4-BE49-F238E27FC236}">
                <a16:creationId xmlns:a16="http://schemas.microsoft.com/office/drawing/2014/main" id="{952A5BCC-8319-43E4-B90D-C83F0B8A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381125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000FF"/>
                </a:solidFill>
              </a:defRPr>
            </a:pPr>
            <a:r>
              <a:rPr sz="1575" b="0" i="0">
                <a:solidFill>
                  <a:srgbClr val="0000FF"/>
                </a:solidFill>
              </a:rPr>
              <a:t>git --version    claude --version    codex --version</a:t>
            </a:r>
          </a:p>
        </p:txBody>
      </p:sp>
      <p:sp>
        <p:nvSpPr>
          <p:cNvPr id="6" name="check2">
            <a:extLst xmlns:a="http://schemas.openxmlformats.org/drawingml/2006/main">
              <a:ext uri="{FF2B5EF4-FFF2-40B4-BE49-F238E27FC236}">
                <a16:creationId xmlns:a16="http://schemas.microsoft.com/office/drawing/2014/main" id="{4C4C70D9-AC06-48BE-B7A5-E9354609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3333B2"/>
                </a:solidFill>
              </a:defRPr>
            </a:pPr>
            <a:r>
              <a:rPr sz="2400" b="1" i="0">
                <a:solidFill>
                  <a:srgbClr val="3333B2"/>
                </a:solidFill>
              </a:rPr>
              <a:t>2</a:t>
            </a:r>
          </a:p>
        </p:txBody>
      </p:sp>
      <p:sp>
        <p:nvSpPr>
          <p:cNvPr id="7" name="check2-command">
            <a:extLst xmlns:a="http://schemas.openxmlformats.org/drawingml/2006/main">
              <a:ext uri="{FF2B5EF4-FFF2-40B4-BE49-F238E27FC236}">
                <a16:creationId xmlns:a16="http://schemas.microsoft.com/office/drawing/2014/main" id="{1C995867-BEE7-4163-BD9C-E06887B7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717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000FF"/>
                </a:solidFill>
              </a:defRPr>
            </a:pPr>
            <a:r>
              <a:rPr sz="1575" b="0" i="0">
                <a:solidFill>
                  <a:srgbClr val="0000FF"/>
                </a:solidFill>
              </a:rPr>
              <a:t>claude doctor</a:t>
            </a:r>
          </a:p>
        </p:txBody>
      </p:sp>
      <p:sp>
        <p:nvSpPr>
          <p:cNvPr id="8" name="check3">
            <a:extLst xmlns:a="http://schemas.openxmlformats.org/drawingml/2006/main">
              <a:ext uri="{FF2B5EF4-FFF2-40B4-BE49-F238E27FC236}">
                <a16:creationId xmlns:a16="http://schemas.microsoft.com/office/drawing/2014/main" id="{360C5FDB-47CF-4845-A4EE-EF4B3243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3333B2"/>
                </a:solidFill>
              </a:defRPr>
            </a:pPr>
            <a:r>
              <a:rPr sz="2400" b="1" i="0">
                <a:solidFill>
                  <a:srgbClr val="3333B2"/>
                </a:solidFill>
              </a:rPr>
              <a:t>3</a:t>
            </a:r>
          </a:p>
        </p:txBody>
      </p:sp>
      <p:sp>
        <p:nvSpPr>
          <p:cNvPr id="9" name="check3-copy">
            <a:extLst xmlns:a="http://schemas.openxmlformats.org/drawingml/2006/main">
              <a:ext uri="{FF2B5EF4-FFF2-40B4-BE49-F238E27FC236}">
                <a16:creationId xmlns:a16="http://schemas.microsoft.com/office/drawing/2014/main" id="{5D23C6B0-5B37-40A6-BA91-F8F55879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62275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171C"/>
                </a:solidFill>
              </a:defRPr>
            </a:pPr>
            <a:r>
              <a:rPr sz="1800" b="0" i="0">
                <a:solidFill>
                  <a:srgbClr val="17171C"/>
                </a:solidFill>
              </a:rPr>
              <a:t>Open the lab project; launch claude and codex there.</a:t>
            </a:r>
          </a:p>
        </p:txBody>
      </p:sp>
      <p:sp>
        <p:nvSpPr>
          <p:cNvPr id="10" name="check4">
            <a:extLst xmlns:a="http://schemas.openxmlformats.org/drawingml/2006/main">
              <a:ext uri="{FF2B5EF4-FFF2-40B4-BE49-F238E27FC236}">
                <a16:creationId xmlns:a16="http://schemas.microsoft.com/office/drawing/2014/main" id="{9BC883C0-5F4E-40D9-B089-1C0B446C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242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3333B2"/>
                </a:solidFill>
              </a:defRPr>
            </a:pPr>
            <a:r>
              <a:rPr sz="2400" b="1" i="0">
                <a:solidFill>
                  <a:srgbClr val="3333B2"/>
                </a:solidFill>
              </a:rPr>
              <a:t>4</a:t>
            </a:r>
          </a:p>
        </p:txBody>
      </p:sp>
      <p:sp>
        <p:nvSpPr>
          <p:cNvPr id="11" name="check4-copy">
            <a:extLst xmlns:a="http://schemas.openxmlformats.org/drawingml/2006/main">
              <a:ext uri="{FF2B5EF4-FFF2-40B4-BE49-F238E27FC236}">
                <a16:creationId xmlns:a16="http://schemas.microsoft.com/office/drawing/2014/main" id="{ED0DB78E-9CE5-45B1-8215-BD675E53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528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171C"/>
                </a:solidFill>
              </a:defRPr>
            </a:pPr>
            <a:r>
              <a:rPr sz="1800" b="0" i="0">
                <a:solidFill>
                  <a:srgbClr val="17171C"/>
                </a:solidFill>
              </a:rPr>
              <a:t>Confirm CC Switch shows the provider you intend to use.</a:t>
            </a:r>
          </a:p>
        </p:txBody>
      </p:sp>
      <p:sp>
        <p:nvSpPr>
          <p:cNvPr id="12" name="check5">
            <a:extLst xmlns:a="http://schemas.openxmlformats.org/drawingml/2006/main">
              <a:ext uri="{FF2B5EF4-FFF2-40B4-BE49-F238E27FC236}">
                <a16:creationId xmlns:a16="http://schemas.microsoft.com/office/drawing/2014/main" id="{FCC8AFA0-E659-4A96-9ADD-3AD0FAEA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3333B2"/>
                </a:solidFill>
              </a:defRPr>
            </a:pPr>
            <a:r>
              <a:rPr sz="2400" b="1" i="0">
                <a:solidFill>
                  <a:srgbClr val="3333B2"/>
                </a:solidFill>
              </a:rPr>
              <a:t>5</a:t>
            </a:r>
          </a:p>
        </p:txBody>
      </p:sp>
      <p:sp>
        <p:nvSpPr>
          <p:cNvPr id="13" name="check5-copy">
            <a:extLst xmlns:a="http://schemas.openxmlformats.org/drawingml/2006/main">
              <a:ext uri="{FF2B5EF4-FFF2-40B4-BE49-F238E27FC236}">
                <a16:creationId xmlns:a16="http://schemas.microsoft.com/office/drawing/2014/main" id="{C49390CA-DBE2-4E71-9B3E-CCB7A711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43425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0000"/>
                </a:solidFill>
              </a:defRPr>
            </a:pPr>
            <a:r>
              <a:rPr sz="1800" b="1" i="0">
                <a:solidFill>
                  <a:srgbClr val="FF0000"/>
                </a:solidFill>
              </a:rPr>
              <a:t>Keep credentials local—never add them to the repository.</a:t>
            </a:r>
          </a:p>
        </p:txBody>
      </p:sp>
      <p:sp>
        <p:nvSpPr>
          <p:cNvPr id="14" name="takeaway">
            <a:extLst xmlns:a="http://schemas.openxmlformats.org/drawingml/2006/main">
              <a:ext uri="{FF2B5EF4-FFF2-40B4-BE49-F238E27FC236}">
                <a16:creationId xmlns:a16="http://schemas.microsoft.com/office/drawing/2014/main" id="{0D80C2AE-B333-4462-87A2-B8A6E605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4832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BF0040"/>
                </a:solidFill>
              </a:defRPr>
            </a:pPr>
            <a:r>
              <a:rPr sz="2025" b="1" i="0">
                <a:solidFill>
                  <a:srgbClr val="BF0040"/>
                </a:solidFill>
              </a:rPr>
              <a:t>If any check fails, stop here and ask for help.</a:t>
            </a:r>
          </a:p>
        </p:txBody>
      </p:sp>
    </p:spTree>
    <p:extLst>
      <p:ext uri="{BB962C8B-B14F-4D97-AF65-F5344CB8AC3E}">
        <p14:creationId xmlns:p14="http://schemas.microsoft.com/office/powerpoint/2010/main" val="12858455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2EDFF9-D466-447B-A086-BE9D0A71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3333B2"/>
                </a:solidFill>
              </a:defRPr>
            </a:pPr>
            <a:r>
              <a:rPr sz="2925" b="1" i="0">
                <a:solidFill>
                  <a:srgbClr val="3333B2"/>
                </a:solidFill>
              </a:rPr>
              <a:t>Two missions, one standard of evidence</a:t>
            </a:r>
          </a:p>
        </p:txBody>
      </p:sp>
      <p:sp>
        <p:nvSpPr>
          <p:cNvPr id="2" name="rule-68-107">
            <a:extLst xmlns:a="http://schemas.openxmlformats.org/drawingml/2006/main">
              <a:ext uri="{FF2B5EF4-FFF2-40B4-BE49-F238E27FC236}">
                <a16:creationId xmlns:a16="http://schemas.microsoft.com/office/drawing/2014/main" id="{772B56F5-F9B0-49E9-A470-D7D03C81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19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BBB4FE3-D161-4C99-A4EB-6E1B8657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C5C69"/>
                </a:solidFill>
              </a:defRPr>
            </a:pPr>
            <a:r>
              <a:rPr sz="825" b="0" i="0">
                <a:solidFill>
                  <a:srgbClr val="5C5C69"/>
                </a:solidFill>
              </a:rPr>
              <a:t>7 / 23</a:t>
            </a:r>
          </a:p>
        </p:txBody>
      </p:sp>
      <p:sp>
        <p:nvSpPr>
          <p:cNvPr id="4" name="one">
            <a:extLst xmlns:a="http://schemas.openxmlformats.org/drawingml/2006/main">
              <a:ext uri="{FF2B5EF4-FFF2-40B4-BE49-F238E27FC236}">
                <a16:creationId xmlns:a16="http://schemas.microsoft.com/office/drawing/2014/main" id="{3A076C5B-A27B-4D42-8F51-CE164497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3333B2"/>
                </a:solidFill>
              </a:defRPr>
            </a:pPr>
            <a:r>
              <a:rPr sz="5250" b="1" i="0">
                <a:solidFill>
                  <a:srgbClr val="3333B2"/>
                </a:solidFill>
              </a:rPr>
              <a:t>1</a:t>
            </a:r>
          </a:p>
        </p:txBody>
      </p:sp>
      <p:sp>
        <p:nvSpPr>
          <p:cNvPr id="5" name="mission-one">
            <a:extLst xmlns:a="http://schemas.openxmlformats.org/drawingml/2006/main">
              <a:ext uri="{FF2B5EF4-FFF2-40B4-BE49-F238E27FC236}">
                <a16:creationId xmlns:a16="http://schemas.microsoft.com/office/drawing/2014/main" id="{CB3C61BC-EAAA-4D53-B635-6CBBD143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66875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171C"/>
                </a:solidFill>
              </a:defRPr>
            </a:pPr>
            <a:r>
              <a:rPr sz="2550" b="1" i="0">
                <a:solidFill>
                  <a:srgbClr val="17171C"/>
                </a:solidFill>
              </a:rPr>
              <a:t>Build a clean workflow</a:t>
            </a:r>
          </a:p>
        </p:txBody>
      </p:sp>
      <p:sp>
        <p:nvSpPr>
          <p:cNvPr id="6" name="mission-one-detail">
            <a:extLst xmlns:a="http://schemas.openxmlformats.org/drawingml/2006/main">
              <a:ext uri="{FF2B5EF4-FFF2-40B4-BE49-F238E27FC236}">
                <a16:creationId xmlns:a16="http://schemas.microsoft.com/office/drawing/2014/main" id="{D1C5E883-2751-4610-AE25-6F46DEA1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1932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C5C69"/>
                </a:solidFill>
              </a:defRPr>
            </a:pPr>
            <a:r>
              <a:rPr sz="1725" b="0" i="0">
                <a:solidFill>
                  <a:srgbClr val="5C5C69"/>
                </a:solidFill>
              </a:rPr>
              <a:t>Make the design explicit before results exist.</a:t>
            </a:r>
          </a:p>
        </p:txBody>
      </p:sp>
      <p:sp>
        <p:nvSpPr>
          <p:cNvPr id="7" name="rule-88-320">
            <a:extLst xmlns:a="http://schemas.openxmlformats.org/drawingml/2006/main">
              <a:ext uri="{FF2B5EF4-FFF2-40B4-BE49-F238E27FC236}">
                <a16:creationId xmlns:a16="http://schemas.microsoft.com/office/drawing/2014/main" id="{7AAFBBF8-3DAD-481F-972A-8FDBDA19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8" name="two">
            <a:extLst xmlns:a="http://schemas.openxmlformats.org/drawingml/2006/main">
              <a:ext uri="{FF2B5EF4-FFF2-40B4-BE49-F238E27FC236}">
                <a16:creationId xmlns:a16="http://schemas.microsoft.com/office/drawing/2014/main" id="{74687DE1-2A04-486F-8398-796B8117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3333B2"/>
                </a:solidFill>
              </a:defRPr>
            </a:pPr>
            <a:r>
              <a:rPr sz="5250" b="1" i="0">
                <a:solidFill>
                  <a:srgbClr val="3333B2"/>
                </a:solidFill>
              </a:rPr>
              <a:t>2</a:t>
            </a:r>
          </a:p>
        </p:txBody>
      </p:sp>
      <p:sp>
        <p:nvSpPr>
          <p:cNvPr id="9" name="mission-two">
            <a:extLst xmlns:a="http://schemas.openxmlformats.org/drawingml/2006/main">
              <a:ext uri="{FF2B5EF4-FFF2-40B4-BE49-F238E27FC236}">
                <a16:creationId xmlns:a16="http://schemas.microsoft.com/office/drawing/2014/main" id="{1B9328DD-02A6-4C9F-91FB-5282C895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71875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171C"/>
                </a:solidFill>
              </a:defRPr>
            </a:pPr>
            <a:r>
              <a:rPr sz="2550" b="1" i="0">
                <a:solidFill>
                  <a:srgbClr val="17171C"/>
                </a:solidFill>
              </a:rPr>
              <a:t>Audit an inherited analysis</a:t>
            </a:r>
          </a:p>
        </p:txBody>
      </p:sp>
      <p:sp>
        <p:nvSpPr>
          <p:cNvPr id="10" name="mission-two-detail">
            <a:extLst xmlns:a="http://schemas.openxmlformats.org/drawingml/2006/main">
              <a:ext uri="{FF2B5EF4-FFF2-40B4-BE49-F238E27FC236}">
                <a16:creationId xmlns:a16="http://schemas.microsoft.com/office/drawing/2014/main" id="{A3783B51-22EA-4C47-A5CF-854F4BC5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2432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C5C69"/>
                </a:solidFill>
              </a:defRPr>
            </a:pPr>
            <a:r>
              <a:rPr sz="1725" b="0" i="0">
                <a:solidFill>
                  <a:srgbClr val="5C5C69"/>
                </a:solidFill>
              </a:rPr>
              <a:t>Reconstruct what changed and decide whether to sign off.</a:t>
            </a:r>
          </a:p>
        </p:txBody>
      </p:sp>
      <p:sp>
        <p:nvSpPr>
          <p:cNvPr id="11" name="takeaway">
            <a:extLst xmlns:a="http://schemas.openxmlformats.org/drawingml/2006/main">
              <a:ext uri="{FF2B5EF4-FFF2-40B4-BE49-F238E27FC236}">
                <a16:creationId xmlns:a16="http://schemas.microsoft.com/office/drawing/2014/main" id="{D2E46D4F-6242-4131-9CC4-45FFF3AF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BF0040"/>
                </a:solidFill>
              </a:defRPr>
            </a:pPr>
            <a:r>
              <a:rPr sz="2100" b="1" i="0">
                <a:solidFill>
                  <a:srgbClr val="BF0040"/>
                </a:solidFill>
              </a:rPr>
              <a:t>Design before results.</a:t>
            </a:r>
          </a:p>
        </p:txBody>
      </p:sp>
    </p:spTree>
    <p:extLst>
      <p:ext uri="{BB962C8B-B14F-4D97-AF65-F5344CB8AC3E}">
        <p14:creationId xmlns:p14="http://schemas.microsoft.com/office/powerpoint/2010/main" val="5516529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821A49-9C24-4645-8887-682B9840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3333B2"/>
                </a:solidFill>
              </a:defRPr>
            </a:pPr>
            <a:r>
              <a:rPr sz="2925" b="1" i="0">
                <a:solidFill>
                  <a:srgbClr val="3333B2"/>
                </a:solidFill>
              </a:rPr>
              <a:t>Case A — A clean handoff starts with the estimand</a:t>
            </a:r>
          </a:p>
        </p:txBody>
      </p:sp>
      <p:sp>
        <p:nvSpPr>
          <p:cNvPr id="2" name="rule-68-107">
            <a:extLst xmlns:a="http://schemas.openxmlformats.org/drawingml/2006/main">
              <a:ext uri="{FF2B5EF4-FFF2-40B4-BE49-F238E27FC236}">
                <a16:creationId xmlns:a16="http://schemas.microsoft.com/office/drawing/2014/main" id="{EE494148-26F7-43A0-BD1A-2F3D74C3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19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136E864-669A-402F-85A9-3881095C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C5C69"/>
                </a:solidFill>
              </a:defRPr>
            </a:pPr>
            <a:r>
              <a:rPr sz="825" b="0" i="0">
                <a:solidFill>
                  <a:srgbClr val="5C5C69"/>
                </a:solidFill>
              </a:rPr>
              <a:t>8 / 23</a:t>
            </a:r>
          </a:p>
        </p:txBody>
      </p:sp>
      <p:sp>
        <p:nvSpPr>
          <p:cNvPr id="4" name="case-label">
            <a:extLst xmlns:a="http://schemas.openxmlformats.org/drawingml/2006/main">
              <a:ext uri="{FF2B5EF4-FFF2-40B4-BE49-F238E27FC236}">
                <a16:creationId xmlns:a16="http://schemas.microsoft.com/office/drawing/2014/main" id="{85DD4297-D05C-4AC6-89AC-05B417F6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811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333B2"/>
                </a:solidFill>
              </a:defRPr>
            </a:pPr>
            <a:r>
              <a:rPr sz="1350" b="1" i="0">
                <a:solidFill>
                  <a:srgbClr val="3333B2"/>
                </a:solidFill>
              </a:rPr>
              <a:t>RANDOMIZED JOB-TRAINING OFFER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E9F9CA87-5DA4-45F1-BCE2-132047CB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9525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0000"/>
                </a:solidFill>
              </a:defRPr>
            </a:pPr>
            <a:r>
              <a:rPr sz="2850" b="1" i="0">
                <a:solidFill>
                  <a:srgbClr val="FF0000"/>
                </a:solidFill>
              </a:rPr>
              <a:t>What is the effect of being offered training</a:t>
            </a:r>
          </a:p>
          <a:p xmlns:a="http://schemas.openxmlformats.org/drawingml/2006/main">
            <a:pPr algn="l">
              <a:defRPr sz="2850" b="1" i="0">
                <a:solidFill>
                  <a:srgbClr val="FF0000"/>
                </a:solidFill>
              </a:defRPr>
            </a:pPr>
            <a:r>
              <a:rPr sz="2850" b="1" i="0">
                <a:solidFill>
                  <a:srgbClr val="FF0000"/>
                </a:solidFill>
              </a:rPr>
              <a:t>on employment six months later?</a:t>
            </a:r>
          </a:p>
        </p:txBody>
      </p:sp>
      <p:sp>
        <p:nvSpPr>
          <p:cNvPr id="6" name="design">
            <a:extLst xmlns:a="http://schemas.openxmlformats.org/drawingml/2006/main">
              <a:ext uri="{FF2B5EF4-FFF2-40B4-BE49-F238E27FC236}">
                <a16:creationId xmlns:a16="http://schemas.microsoft.com/office/drawing/2014/main" id="{68102787-7F9C-4890-B06F-832D6E4A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71C"/>
                </a:solidFill>
              </a:defRPr>
            </a:pPr>
            <a:r>
              <a:rPr sz="1875" b="0" i="0">
                <a:solidFill>
                  <a:srgbClr val="17171C"/>
                </a:solidFill>
              </a:rPr>
              <a:t>Assignment is randomized.</a:t>
            </a:r>
          </a:p>
        </p:txBody>
      </p:sp>
      <p:sp>
        <p:nvSpPr>
          <p:cNvPr id="7" name="estimand">
            <a:extLst xmlns:a="http://schemas.openxmlformats.org/drawingml/2006/main">
              <a:ext uri="{FF2B5EF4-FFF2-40B4-BE49-F238E27FC236}">
                <a16:creationId xmlns:a16="http://schemas.microsoft.com/office/drawing/2014/main" id="{8C03F8FA-F45B-4044-81E9-942164E8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57675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333B2"/>
                </a:solidFill>
              </a:defRPr>
            </a:pPr>
            <a:r>
              <a:rPr sz="1875" b="1" i="0">
                <a:solidFill>
                  <a:srgbClr val="3333B2"/>
                </a:solidFill>
              </a:rPr>
              <a:t>Primary estimand: intention to treat (ITT).</a:t>
            </a:r>
          </a:p>
        </p:txBody>
      </p:sp>
      <p:sp>
        <p:nvSpPr>
          <p:cNvPr id="8" name="unit">
            <a:extLst xmlns:a="http://schemas.openxmlformats.org/drawingml/2006/main">
              <a:ext uri="{FF2B5EF4-FFF2-40B4-BE49-F238E27FC236}">
                <a16:creationId xmlns:a16="http://schemas.microsoft.com/office/drawing/2014/main" id="{60225973-D017-4DA1-854E-20946413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71C"/>
                </a:solidFill>
              </a:defRPr>
            </a:pPr>
            <a:r>
              <a:rPr sz="1875" b="0" i="0">
                <a:solidFill>
                  <a:srgbClr val="17171C"/>
                </a:solidFill>
              </a:rPr>
              <a:t>Unit: applicant.</a:t>
            </a:r>
          </a:p>
        </p:txBody>
      </p:sp>
    </p:spTree>
    <p:extLst>
      <p:ext uri="{BB962C8B-B14F-4D97-AF65-F5344CB8AC3E}">
        <p14:creationId xmlns:p14="http://schemas.microsoft.com/office/powerpoint/2010/main" val="12899758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C322E5-0C9A-441A-B21C-8115FA10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3333B2"/>
                </a:solidFill>
              </a:defRPr>
            </a:pPr>
            <a:r>
              <a:rPr sz="2925" b="1" i="0">
                <a:solidFill>
                  <a:srgbClr val="3333B2"/>
                </a:solidFill>
              </a:rPr>
              <a:t>Case A — Minimal file inventory</a:t>
            </a:r>
          </a:p>
        </p:txBody>
      </p:sp>
      <p:sp>
        <p:nvSpPr>
          <p:cNvPr id="2" name="rule-68-107">
            <a:extLst xmlns:a="http://schemas.openxmlformats.org/drawingml/2006/main">
              <a:ext uri="{FF2B5EF4-FFF2-40B4-BE49-F238E27FC236}">
                <a16:creationId xmlns:a16="http://schemas.microsoft.com/office/drawing/2014/main" id="{03B31FDD-2DC7-4379-9E55-F5F8B0B6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19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FE39941-A91F-4804-B7F7-9F9B25F4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C5C69"/>
                </a:solidFill>
              </a:defRPr>
            </a:pPr>
            <a:r>
              <a:rPr sz="825" b="0" i="0">
                <a:solidFill>
                  <a:srgbClr val="5C5C69"/>
                </a:solidFill>
              </a:rPr>
              <a:t>9 / 23</a:t>
            </a:r>
          </a:p>
        </p:txBody>
      </p:sp>
      <p:sp>
        <p:nvSpPr>
          <p:cNvPr id="4" name="path1">
            <a:extLst xmlns:a="http://schemas.openxmlformats.org/drawingml/2006/main">
              <a:ext uri="{FF2B5EF4-FFF2-40B4-BE49-F238E27FC236}">
                <a16:creationId xmlns:a16="http://schemas.microsoft.com/office/drawing/2014/main" id="{B996F635-48CF-4AD6-A5C1-408E7104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FF"/>
                </a:solidFill>
              </a:defRPr>
            </a:pPr>
            <a:r>
              <a:rPr sz="1875" b="1" i="0">
                <a:solidFill>
                  <a:srgbClr val="0000FF"/>
                </a:solidFill>
              </a:rPr>
              <a:t>data/baseline.csv</a:t>
            </a:r>
          </a:p>
        </p:txBody>
      </p:sp>
      <p:sp>
        <p:nvSpPr>
          <p:cNvPr id="5" name="desc1">
            <a:extLst xmlns:a="http://schemas.openxmlformats.org/drawingml/2006/main">
              <a:ext uri="{FF2B5EF4-FFF2-40B4-BE49-F238E27FC236}">
                <a16:creationId xmlns:a16="http://schemas.microsoft.com/office/drawing/2014/main" id="{E4FB34DF-6B07-46B1-A474-A1C8F26A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171C"/>
                </a:solidFill>
              </a:defRPr>
            </a:pPr>
            <a:r>
              <a:rPr sz="1650" b="0" i="0">
                <a:solidFill>
                  <a:srgbClr val="17171C"/>
                </a:solidFill>
              </a:rPr>
              <a:t>one row per applicant; pre-treatment attributes</a:t>
            </a:r>
          </a:p>
        </p:txBody>
      </p:sp>
      <p:sp>
        <p:nvSpPr>
          <p:cNvPr id="6" name="rule-96-217">
            <a:extLst xmlns:a="http://schemas.openxmlformats.org/drawingml/2006/main">
              <a:ext uri="{FF2B5EF4-FFF2-40B4-BE49-F238E27FC236}">
                <a16:creationId xmlns:a16="http://schemas.microsoft.com/office/drawing/2014/main" id="{D1E598E1-5591-4306-B7B9-28DBC5A0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7" name="path2">
            <a:extLst xmlns:a="http://schemas.openxmlformats.org/drawingml/2006/main">
              <a:ext uri="{FF2B5EF4-FFF2-40B4-BE49-F238E27FC236}">
                <a16:creationId xmlns:a16="http://schemas.microsoft.com/office/drawing/2014/main" id="{D3137495-0F6C-4706-BE40-9BC77CFE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88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FF"/>
                </a:solidFill>
              </a:defRPr>
            </a:pPr>
            <a:r>
              <a:rPr sz="1875" b="1" i="0">
                <a:solidFill>
                  <a:srgbClr val="0000FF"/>
                </a:solidFill>
              </a:rPr>
              <a:t>data/assignment.csv</a:t>
            </a:r>
          </a:p>
        </p:txBody>
      </p:sp>
      <p:sp>
        <p:nvSpPr>
          <p:cNvPr id="8" name="desc2">
            <a:extLst xmlns:a="http://schemas.openxmlformats.org/drawingml/2006/main">
              <a:ext uri="{FF2B5EF4-FFF2-40B4-BE49-F238E27FC236}">
                <a16:creationId xmlns:a16="http://schemas.microsoft.com/office/drawing/2014/main" id="{A179D118-E588-499F-8AD6-163BC1BC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288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171C"/>
                </a:solidFill>
              </a:defRPr>
            </a:pPr>
            <a:r>
              <a:rPr sz="1650" b="0" i="0">
                <a:solidFill>
                  <a:srgbClr val="17171C"/>
                </a:solidFill>
              </a:rPr>
              <a:t>randomized offer status</a:t>
            </a:r>
          </a:p>
        </p:txBody>
      </p:sp>
      <p:sp>
        <p:nvSpPr>
          <p:cNvPr id="9" name="rule-96-312">
            <a:extLst xmlns:a="http://schemas.openxmlformats.org/drawingml/2006/main">
              <a:ext uri="{FF2B5EF4-FFF2-40B4-BE49-F238E27FC236}">
                <a16:creationId xmlns:a16="http://schemas.microsoft.com/office/drawing/2014/main" id="{D47C74F7-F472-441B-A37A-180CC8B0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10" name="path3">
            <a:extLst xmlns:a="http://schemas.openxmlformats.org/drawingml/2006/main">
              <a:ext uri="{FF2B5EF4-FFF2-40B4-BE49-F238E27FC236}">
                <a16:creationId xmlns:a16="http://schemas.microsoft.com/office/drawing/2014/main" id="{27D23D57-AF4D-4989-95EC-12EB0D17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FF"/>
                </a:solidFill>
              </a:defRPr>
            </a:pPr>
            <a:r>
              <a:rPr sz="1875" b="1" i="0">
                <a:solidFill>
                  <a:srgbClr val="0000FF"/>
                </a:solidFill>
              </a:rPr>
              <a:t>data/followup.csv</a:t>
            </a:r>
          </a:p>
        </p:txBody>
      </p:sp>
      <p:sp>
        <p:nvSpPr>
          <p:cNvPr id="11" name="desc3">
            <a:extLst xmlns:a="http://schemas.openxmlformats.org/drawingml/2006/main">
              <a:ext uri="{FF2B5EF4-FFF2-40B4-BE49-F238E27FC236}">
                <a16:creationId xmlns:a16="http://schemas.microsoft.com/office/drawing/2014/main" id="{14226E53-2C77-4AE3-B5BD-08ABDC18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171C"/>
                </a:solidFill>
              </a:defRPr>
            </a:pPr>
            <a:r>
              <a:rPr sz="1650" b="0" i="0">
                <a:solidFill>
                  <a:srgbClr val="17171C"/>
                </a:solidFill>
              </a:rPr>
              <a:t>six-month employment outcome</a:t>
            </a:r>
          </a:p>
        </p:txBody>
      </p:sp>
      <p:sp>
        <p:nvSpPr>
          <p:cNvPr id="12" name="question">
            <a:extLst xmlns:a="http://schemas.openxmlformats.org/drawingml/2006/main">
              <a:ext uri="{FF2B5EF4-FFF2-40B4-BE49-F238E27FC236}">
                <a16:creationId xmlns:a16="http://schemas.microsoft.com/office/drawing/2014/main" id="{7672E351-C66F-4320-A3E5-FD90180C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0000"/>
                </a:solidFill>
              </a:defRPr>
            </a:pPr>
            <a:r>
              <a:rPr sz="2250" b="1" i="0">
                <a:solidFill>
                  <a:srgbClr val="FF0000"/>
                </a:solidFill>
              </a:rPr>
              <a:t>Before merging: what must be true of applicant_id?</a:t>
            </a:r>
          </a:p>
        </p:txBody>
      </p:sp>
    </p:spTree>
    <p:extLst>
      <p:ext uri="{BB962C8B-B14F-4D97-AF65-F5344CB8AC3E}">
        <p14:creationId xmlns:p14="http://schemas.microsoft.com/office/powerpoint/2010/main" val="11569035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9B7E7B-28C6-42BB-BEBD-408B852E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3333B2"/>
                </a:solidFill>
              </a:defRPr>
            </a:pPr>
            <a:r>
              <a:rPr sz="2925" b="1" i="0">
                <a:solidFill>
                  <a:srgbClr val="3333B2"/>
                </a:solidFill>
              </a:rPr>
              <a:t>Ask StatsClaw to inspect—without changing anything</a:t>
            </a:r>
          </a:p>
        </p:txBody>
      </p:sp>
      <p:sp>
        <p:nvSpPr>
          <p:cNvPr id="2" name="rule-68-107">
            <a:extLst xmlns:a="http://schemas.openxmlformats.org/drawingml/2006/main">
              <a:ext uri="{FF2B5EF4-FFF2-40B4-BE49-F238E27FC236}">
                <a16:creationId xmlns:a16="http://schemas.microsoft.com/office/drawing/2014/main" id="{37F562EE-3DEC-4EAD-8BC6-CC6B649E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19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1332050-4D62-4F5B-BD75-89580539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C5C69"/>
                </a:solidFill>
              </a:defRPr>
            </a:pPr>
            <a:r>
              <a:rPr sz="825" b="0" i="0">
                <a:solidFill>
                  <a:srgbClr val="5C5C69"/>
                </a:solidFill>
              </a:rPr>
              <a:t>10 / 23</a:t>
            </a:r>
          </a:p>
        </p:txBody>
      </p:sp>
      <p:sp>
        <p:nvSpPr>
          <p:cNvPr id="4" name="prompt-rule">
            <a:extLst xmlns:a="http://schemas.openxmlformats.org/drawingml/2006/main">
              <a:ext uri="{FF2B5EF4-FFF2-40B4-BE49-F238E27FC236}">
                <a16:creationId xmlns:a16="http://schemas.microsoft.com/office/drawing/2014/main" id="{8EBD4D30-3E04-4E51-9231-94F01042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6667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B2"/>
          </a:solidFill>
          <a:ln xmlns:a="http://schemas.openxmlformats.org/drawingml/2006/main" w="0">
            <a:solidFill>
              <a:srgbClr val="3333B2"/>
            </a:solidFill>
            <a:prstDash val="solid"/>
          </a:ln>
        </p:spPr>
      </p:sp>
      <p:sp>
        <p:nvSpPr>
          <p:cNvPr id="5" name="prompt">
            <a:extLst xmlns:a="http://schemas.openxmlformats.org/drawingml/2006/main">
              <a:ext uri="{FF2B5EF4-FFF2-40B4-BE49-F238E27FC236}">
                <a16:creationId xmlns:a16="http://schemas.microsoft.com/office/drawing/2014/main" id="{96E862DB-27AD-4C7F-8736-24933CBC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28750"/>
            <a:ext cx="971550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71C"/>
                </a:solidFill>
              </a:defRPr>
            </a:pPr>
            <a:r>
              <a:rPr sz="1875" b="0" i="0">
                <a:solidFill>
                  <a:srgbClr val="17171C"/>
                </a:solidFill>
              </a:rPr>
              <a:t>Inspect this project as a research collaborator.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 i="0">
                <a:solidFill>
                  <a:srgbClr val="17171C"/>
                </a:solidFill>
              </a:defRPr>
            </a:pPr>
            <a:r>
              <a:rPr sz="1875" b="0" i="0">
                <a:solidFill>
                  <a:srgbClr val="17171C"/>
                </a:solidFill>
              </a:rPr>
              <a:t>Do not edit files or run estimation yet.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 i="0">
                <a:solidFill>
                  <a:srgbClr val="17171C"/>
                </a:solidFill>
              </a:defRPr>
            </a:pPr>
            <a:r>
              <a:rPr sz="1875" b="0" i="0">
                <a:solidFill>
                  <a:srgbClr val="17171C"/>
                </a:solidFill>
              </a:rPr>
              <a:t>Reconstruct the research question, unit, treatment assignment, outcome, estimand, key structure, merge plan, and execution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 i="0">
                <a:solidFill>
                  <a:srgbClr val="17171C"/>
                </a:solidFill>
              </a:defRPr>
            </a:pPr>
            <a:r>
              <a:rPr sz="1875" b="0" i="0">
                <a:solidFill>
                  <a:srgbClr val="17171C"/>
                </a:solidFill>
              </a:rPr>
              <a:t>List what must be verified before any analysis is authorized.</a:t>
            </a:r>
          </a:p>
        </p:txBody>
      </p:sp>
      <p:sp>
        <p:nvSpPr>
          <p:cNvPr id="6" name="instruction">
            <a:extLst xmlns:a="http://schemas.openxmlformats.org/drawingml/2006/main">
              <a:ext uri="{FF2B5EF4-FFF2-40B4-BE49-F238E27FC236}">
                <a16:creationId xmlns:a16="http://schemas.microsoft.com/office/drawing/2014/main" id="{FEE22502-6592-4BC2-90A7-6E7B3970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9592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BF0040"/>
                </a:solidFill>
              </a:defRPr>
            </a:pPr>
            <a:r>
              <a:rPr sz="1650" b="1" i="0">
                <a:solidFill>
                  <a:srgbClr val="BF0040"/>
                </a:solidFill>
              </a:rPr>
              <a:t>Open prompt. No request to “find the bug.”</a:t>
            </a:r>
          </a:p>
        </p:txBody>
      </p:sp>
    </p:spTree>
    <p:extLst>
      <p:ext uri="{BB962C8B-B14F-4D97-AF65-F5344CB8AC3E}">
        <p14:creationId xmlns:p14="http://schemas.microsoft.com/office/powerpoint/2010/main" val="13692975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ED9A91-177C-4C7E-A88E-F9514157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3333B2"/>
                </a:solidFill>
              </a:defRPr>
            </a:pPr>
            <a:r>
              <a:rPr sz="2925" b="1" i="0">
                <a:solidFill>
                  <a:srgbClr val="3333B2"/>
                </a:solidFill>
              </a:rPr>
              <a:t>Write a data-and-design contract before analysis</a:t>
            </a:r>
          </a:p>
        </p:txBody>
      </p:sp>
      <p:sp>
        <p:nvSpPr>
          <p:cNvPr id="2" name="rule-68-107">
            <a:extLst xmlns:a="http://schemas.openxmlformats.org/drawingml/2006/main">
              <a:ext uri="{FF2B5EF4-FFF2-40B4-BE49-F238E27FC236}">
                <a16:creationId xmlns:a16="http://schemas.microsoft.com/office/drawing/2014/main" id="{E21FD5DE-38F0-4719-BB05-5420BD3B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19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01091A6-F09D-4A6F-A280-0B50E5EC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C5C69"/>
                </a:solidFill>
              </a:defRPr>
            </a:pPr>
            <a:r>
              <a:rPr sz="825" b="0" i="0">
                <a:solidFill>
                  <a:srgbClr val="5C5C69"/>
                </a:solidFill>
              </a:rPr>
              <a:t>11 / 23</a:t>
            </a:r>
          </a:p>
        </p:txBody>
      </p:sp>
      <p:sp>
        <p:nvSpPr>
          <p:cNvPr id="4" name="bullet-145">
            <a:extLst xmlns:a="http://schemas.openxmlformats.org/drawingml/2006/main">
              <a:ext uri="{FF2B5EF4-FFF2-40B4-BE49-F238E27FC236}">
                <a16:creationId xmlns:a16="http://schemas.microsoft.com/office/drawing/2014/main" id="{5D40B30A-0225-4F6B-A77A-740BD0F8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62075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333B2"/>
                </a:solidFill>
              </a:defRPr>
            </a:pPr>
            <a:r>
              <a:rPr sz="2325" b="1" i="0">
                <a:solidFill>
                  <a:srgbClr val="3333B2"/>
                </a:solidFill>
              </a:rPr>
              <a:t>•</a:t>
            </a:r>
          </a:p>
        </p:txBody>
      </p:sp>
      <p:sp>
        <p:nvSpPr>
          <p:cNvPr id="5" name="bullet-label-145">
            <a:extLst xmlns:a="http://schemas.openxmlformats.org/drawingml/2006/main">
              <a:ext uri="{FF2B5EF4-FFF2-40B4-BE49-F238E27FC236}">
                <a16:creationId xmlns:a16="http://schemas.microsoft.com/office/drawing/2014/main" id="{90DB8FC3-E884-4BE5-A97D-83C91E4B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811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333B2"/>
                </a:solidFill>
              </a:defRPr>
            </a:pPr>
            <a:r>
              <a:rPr sz="2025" b="1" i="0">
                <a:solidFill>
                  <a:srgbClr val="3333B2"/>
                </a:solidFill>
              </a:rPr>
              <a:t>Unit and keys</a:t>
            </a:r>
          </a:p>
        </p:txBody>
      </p:sp>
      <p:sp>
        <p:nvSpPr>
          <p:cNvPr id="6" name="bullet-detail-145">
            <a:extLst xmlns:a="http://schemas.openxmlformats.org/drawingml/2006/main">
              <a:ext uri="{FF2B5EF4-FFF2-40B4-BE49-F238E27FC236}">
                <a16:creationId xmlns:a16="http://schemas.microsoft.com/office/drawing/2014/main" id="{76D57408-F27D-4DE9-8B33-686AC62A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171C"/>
                </a:solidFill>
              </a:defRPr>
            </a:pPr>
            <a:r>
              <a:rPr sz="1500" b="0" i="0">
                <a:solidFill>
                  <a:srgbClr val="17171C"/>
                </a:solidFill>
              </a:rPr>
              <a:t>One applicant per analysis row; applicant_id is unique where expected.</a:t>
            </a:r>
          </a:p>
        </p:txBody>
      </p:sp>
      <p:sp>
        <p:nvSpPr>
          <p:cNvPr id="7" name="bullet-235">
            <a:extLst xmlns:a="http://schemas.openxmlformats.org/drawingml/2006/main">
              <a:ext uri="{FF2B5EF4-FFF2-40B4-BE49-F238E27FC236}">
                <a16:creationId xmlns:a16="http://schemas.microsoft.com/office/drawing/2014/main" id="{3AFD4BCA-D3C9-4C88-9298-132AED6B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19325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333B2"/>
                </a:solidFill>
              </a:defRPr>
            </a:pPr>
            <a:r>
              <a:rPr sz="2325" b="1" i="0">
                <a:solidFill>
                  <a:srgbClr val="3333B2"/>
                </a:solidFill>
              </a:rPr>
              <a:t>•</a:t>
            </a:r>
          </a:p>
        </p:txBody>
      </p:sp>
      <p:sp>
        <p:nvSpPr>
          <p:cNvPr id="8" name="bullet-label-235">
            <a:extLst xmlns:a="http://schemas.openxmlformats.org/drawingml/2006/main">
              <a:ext uri="{FF2B5EF4-FFF2-40B4-BE49-F238E27FC236}">
                <a16:creationId xmlns:a16="http://schemas.microsoft.com/office/drawing/2014/main" id="{59000B66-405C-4441-B082-94C1F5BD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3837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333B2"/>
                </a:solidFill>
              </a:defRPr>
            </a:pPr>
            <a:r>
              <a:rPr sz="2025" b="1" i="0">
                <a:solidFill>
                  <a:srgbClr val="3333B2"/>
                </a:solidFill>
              </a:rPr>
              <a:t>Treatment and timing</a:t>
            </a:r>
          </a:p>
        </p:txBody>
      </p:sp>
      <p:sp>
        <p:nvSpPr>
          <p:cNvPr id="9" name="bullet-detail-235">
            <a:extLst xmlns:a="http://schemas.openxmlformats.org/drawingml/2006/main">
              <a:ext uri="{FF2B5EF4-FFF2-40B4-BE49-F238E27FC236}">
                <a16:creationId xmlns:a16="http://schemas.microsoft.com/office/drawing/2014/main" id="{1176226C-42B7-448B-BA13-C6EF61D9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171C"/>
                </a:solidFill>
              </a:defRPr>
            </a:pPr>
            <a:r>
              <a:rPr sz="1500" b="0" i="0">
                <a:solidFill>
                  <a:srgbClr val="17171C"/>
                </a:solidFill>
              </a:rPr>
              <a:t>offered_training is assigned before outcomes; assignment is immutable.</a:t>
            </a:r>
          </a:p>
        </p:txBody>
      </p:sp>
      <p:sp>
        <p:nvSpPr>
          <p:cNvPr id="10" name="bullet-325">
            <a:extLst xmlns:a="http://schemas.openxmlformats.org/drawingml/2006/main">
              <a:ext uri="{FF2B5EF4-FFF2-40B4-BE49-F238E27FC236}">
                <a16:creationId xmlns:a16="http://schemas.microsoft.com/office/drawing/2014/main" id="{DE273EA9-65D6-46C4-AD08-66A316AD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333B2"/>
                </a:solidFill>
              </a:defRPr>
            </a:pPr>
            <a:r>
              <a:rPr sz="2325" b="1" i="0">
                <a:solidFill>
                  <a:srgbClr val="3333B2"/>
                </a:solidFill>
              </a:rPr>
              <a:t>•</a:t>
            </a:r>
          </a:p>
        </p:txBody>
      </p:sp>
      <p:sp>
        <p:nvSpPr>
          <p:cNvPr id="11" name="bullet-label-325">
            <a:extLst xmlns:a="http://schemas.openxmlformats.org/drawingml/2006/main">
              <a:ext uri="{FF2B5EF4-FFF2-40B4-BE49-F238E27FC236}">
                <a16:creationId xmlns:a16="http://schemas.microsoft.com/office/drawing/2014/main" id="{EDD190FD-9CD1-4CE6-B6E8-D0E2BA14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956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333B2"/>
                </a:solidFill>
              </a:defRPr>
            </a:pPr>
            <a:r>
              <a:rPr sz="2025" b="1" i="0">
                <a:solidFill>
                  <a:srgbClr val="3333B2"/>
                </a:solidFill>
              </a:rPr>
              <a:t>Outcome and horizon</a:t>
            </a:r>
          </a:p>
        </p:txBody>
      </p:sp>
      <p:sp>
        <p:nvSpPr>
          <p:cNvPr id="12" name="bullet-detail-325">
            <a:extLst xmlns:a="http://schemas.openxmlformats.org/drawingml/2006/main">
              <a:ext uri="{FF2B5EF4-FFF2-40B4-BE49-F238E27FC236}">
                <a16:creationId xmlns:a16="http://schemas.microsoft.com/office/drawing/2014/main" id="{CD23D0B5-A90B-4079-8B68-3DB30369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671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171C"/>
                </a:solidFill>
              </a:defRPr>
            </a:pPr>
            <a:r>
              <a:rPr sz="1500" b="0" i="0">
                <a:solidFill>
                  <a:srgbClr val="17171C"/>
                </a:solidFill>
              </a:rPr>
              <a:t>employed_6m is defined consistently for all applicants.</a:t>
            </a:r>
          </a:p>
        </p:txBody>
      </p:sp>
      <p:sp>
        <p:nvSpPr>
          <p:cNvPr id="13" name="bullet-415">
            <a:extLst xmlns:a="http://schemas.openxmlformats.org/drawingml/2006/main">
              <a:ext uri="{FF2B5EF4-FFF2-40B4-BE49-F238E27FC236}">
                <a16:creationId xmlns:a16="http://schemas.microsoft.com/office/drawing/2014/main" id="{D92CB6E8-F3B1-41A1-A280-F484D8BE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33825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333B2"/>
                </a:solidFill>
              </a:defRPr>
            </a:pPr>
            <a:r>
              <a:rPr sz="2325" b="1" i="0">
                <a:solidFill>
                  <a:srgbClr val="3333B2"/>
                </a:solidFill>
              </a:rPr>
              <a:t>•</a:t>
            </a:r>
          </a:p>
        </p:txBody>
      </p:sp>
      <p:sp>
        <p:nvSpPr>
          <p:cNvPr id="14" name="bullet-label-415">
            <a:extLst xmlns:a="http://schemas.openxmlformats.org/drawingml/2006/main">
              <a:ext uri="{FF2B5EF4-FFF2-40B4-BE49-F238E27FC236}">
                <a16:creationId xmlns:a16="http://schemas.microsoft.com/office/drawing/2014/main" id="{7CECF69B-6425-4C90-9C4E-3BCA7499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333B2"/>
                </a:solidFill>
              </a:defRPr>
            </a:pPr>
            <a:r>
              <a:rPr sz="2025" b="1" i="0">
                <a:solidFill>
                  <a:srgbClr val="3333B2"/>
                </a:solidFill>
              </a:rPr>
              <a:t>Estimand and sample</a:t>
            </a:r>
          </a:p>
        </p:txBody>
      </p:sp>
      <p:sp>
        <p:nvSpPr>
          <p:cNvPr id="15" name="bullet-detail-415">
            <a:extLst xmlns:a="http://schemas.openxmlformats.org/drawingml/2006/main">
              <a:ext uri="{FF2B5EF4-FFF2-40B4-BE49-F238E27FC236}">
                <a16:creationId xmlns:a16="http://schemas.microsoft.com/office/drawing/2014/main" id="{F41D7655-4864-4AC1-ACDC-E4ADDA83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243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171C"/>
                </a:solidFill>
              </a:defRPr>
            </a:pPr>
            <a:r>
              <a:rPr sz="1500" b="0" i="0">
                <a:solidFill>
                  <a:srgbClr val="17171C"/>
                </a:solidFill>
              </a:rPr>
              <a:t>ITT among randomized applicants; exclusions must be pre-specified.</a:t>
            </a:r>
          </a:p>
        </p:txBody>
      </p:sp>
      <p:sp>
        <p:nvSpPr>
          <p:cNvPr id="16" name="stop">
            <a:extLst xmlns:a="http://schemas.openxmlformats.org/drawingml/2006/main">
              <a:ext uri="{FF2B5EF4-FFF2-40B4-BE49-F238E27FC236}">
                <a16:creationId xmlns:a16="http://schemas.microsoft.com/office/drawing/2014/main" id="{A0730C65-BDDB-41A7-90D7-82B13C91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8637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0000"/>
                </a:solidFill>
              </a:defRPr>
            </a:pPr>
            <a:r>
              <a:rPr sz="1875" b="1" i="0">
                <a:solidFill>
                  <a:srgbClr val="FF0000"/>
                </a:solidFill>
              </a:rPr>
              <a:t>STOP if keys fail, treatment is redefined, timing is unclear, or exclusions are unexplained.</a:t>
            </a:r>
          </a:p>
        </p:txBody>
      </p:sp>
    </p:spTree>
    <p:extLst>
      <p:ext uri="{BB962C8B-B14F-4D97-AF65-F5344CB8AC3E}">
        <p14:creationId xmlns:p14="http://schemas.microsoft.com/office/powerpoint/2010/main" val="10921775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9A63B9-FF90-4454-97AD-48569695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3333B2"/>
                </a:solidFill>
              </a:defRPr>
            </a:pPr>
            <a:r>
              <a:rPr sz="2925" b="1" i="0">
                <a:solidFill>
                  <a:srgbClr val="3333B2"/>
                </a:solidFill>
              </a:rPr>
              <a:t>A clean workflow makes every change reviewable</a:t>
            </a:r>
          </a:p>
        </p:txBody>
      </p:sp>
      <p:sp>
        <p:nvSpPr>
          <p:cNvPr id="2" name="rule-68-107">
            <a:extLst xmlns:a="http://schemas.openxmlformats.org/drawingml/2006/main">
              <a:ext uri="{FF2B5EF4-FFF2-40B4-BE49-F238E27FC236}">
                <a16:creationId xmlns:a16="http://schemas.microsoft.com/office/drawing/2014/main" id="{2DEB789B-BCE8-42B4-BA91-949754CF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19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2547343-12F3-4CE7-A5B3-B88E6B45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C5C69"/>
                </a:solidFill>
              </a:defRPr>
            </a:pPr>
            <a:r>
              <a:rPr sz="825" b="0" i="0">
                <a:solidFill>
                  <a:srgbClr val="5C5C69"/>
                </a:solidFill>
              </a:rPr>
              <a:t>12 / 23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E34D8521-A563-4507-AF06-E4E6E6A7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333B2"/>
                </a:solidFill>
              </a:defRPr>
            </a:pPr>
            <a:r>
              <a:rPr sz="1575" b="1" i="0">
                <a:solidFill>
                  <a:srgbClr val="3333B2"/>
                </a:solidFill>
              </a:rPr>
              <a:t>BRANCH</a:t>
            </a:r>
          </a:p>
        </p:txBody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48920EA6-3004-47FE-B1EE-278A8163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860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5C5C69"/>
                </a:solidFill>
              </a:defRPr>
            </a:pPr>
            <a:r>
              <a:rPr sz="2250" b="0" i="0">
                <a:solidFill>
                  <a:srgbClr val="5C5C69"/>
                </a:solidFill>
              </a:rPr>
              <a:t>→</a:t>
            </a:r>
          </a:p>
        </p:txBody>
      </p:sp>
      <p:sp>
        <p:nvSpPr>
          <p:cNvPr id="6" name="step-1">
            <a:extLst xmlns:a="http://schemas.openxmlformats.org/drawingml/2006/main">
              <a:ext uri="{FF2B5EF4-FFF2-40B4-BE49-F238E27FC236}">
                <a16:creationId xmlns:a16="http://schemas.microsoft.com/office/drawing/2014/main" id="{6E25C8E8-66C7-4927-A145-D32ABB7F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050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333B2"/>
                </a:solidFill>
              </a:defRPr>
            </a:pPr>
            <a:r>
              <a:rPr sz="1575" b="1" i="0">
                <a:solidFill>
                  <a:srgbClr val="3333B2"/>
                </a:solidFill>
              </a:rPr>
              <a:t>INSPECT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FE6E62E8-029A-44ED-B562-344779D1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2860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5C5C69"/>
                </a:solidFill>
              </a:defRPr>
            </a:pPr>
            <a:r>
              <a:rPr sz="2250" b="0" i="0">
                <a:solidFill>
                  <a:srgbClr val="5C5C69"/>
                </a:solidFill>
              </a:rPr>
              <a:t>→</a:t>
            </a:r>
          </a:p>
        </p:txBody>
      </p:sp>
      <p:sp>
        <p:nvSpPr>
          <p:cNvPr id="8" name="step-2">
            <a:extLst xmlns:a="http://schemas.openxmlformats.org/drawingml/2006/main">
              <a:ext uri="{FF2B5EF4-FFF2-40B4-BE49-F238E27FC236}">
                <a16:creationId xmlns:a16="http://schemas.microsoft.com/office/drawing/2014/main" id="{5E270773-7F29-4C27-AD13-2FA7CD52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050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0000"/>
                </a:solidFill>
              </a:defRPr>
            </a:pPr>
            <a:r>
              <a:rPr sz="1575" b="1" i="0">
                <a:solidFill>
                  <a:srgbClr val="FF0000"/>
                </a:solidFill>
              </a:rPr>
              <a:t>AUTHORIZE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9EF2E2C6-63C6-4B44-BA67-F3F50F99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860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5C5C69"/>
                </a:solidFill>
              </a:defRPr>
            </a:pPr>
            <a:r>
              <a:rPr sz="2250" b="0" i="0">
                <a:solidFill>
                  <a:srgbClr val="5C5C69"/>
                </a:solidFill>
              </a:rPr>
              <a:t>→</a:t>
            </a:r>
          </a:p>
        </p:txBody>
      </p:sp>
      <p:sp>
        <p:nvSpPr>
          <p:cNvPr id="10" name="step-3">
            <a:extLst xmlns:a="http://schemas.openxmlformats.org/drawingml/2006/main">
              <a:ext uri="{FF2B5EF4-FFF2-40B4-BE49-F238E27FC236}">
                <a16:creationId xmlns:a16="http://schemas.microsoft.com/office/drawing/2014/main" id="{DA928B2F-37C5-429A-9298-27E61089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050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333B2"/>
                </a:solidFill>
              </a:defRPr>
            </a:pPr>
            <a:r>
              <a:rPr sz="1575" b="1" i="0">
                <a:solidFill>
                  <a:srgbClr val="3333B2"/>
                </a:solidFill>
              </a:rPr>
              <a:t>DIFF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4C699A72-80A6-40A7-A0BA-88854790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860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5C5C69"/>
                </a:solidFill>
              </a:defRPr>
            </a:pPr>
            <a:r>
              <a:rPr sz="2250" b="0" i="0">
                <a:solidFill>
                  <a:srgbClr val="5C5C69"/>
                </a:solidFill>
              </a:rPr>
              <a:t>→</a:t>
            </a:r>
          </a:p>
        </p:txBody>
      </p:sp>
      <p:sp>
        <p:nvSpPr>
          <p:cNvPr id="12" name="step-4">
            <a:extLst xmlns:a="http://schemas.openxmlformats.org/drawingml/2006/main">
              <a:ext uri="{FF2B5EF4-FFF2-40B4-BE49-F238E27FC236}">
                <a16:creationId xmlns:a16="http://schemas.microsoft.com/office/drawing/2014/main" id="{88F17F1E-1BAE-4E6B-8357-AD6F9016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050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333B2"/>
                </a:solidFill>
              </a:defRPr>
            </a:pPr>
            <a:r>
              <a:rPr sz="1575" b="1" i="0">
                <a:solidFill>
                  <a:srgbClr val="3333B2"/>
                </a:solidFill>
              </a:rPr>
              <a:t>REVIEW</a:t>
            </a:r>
          </a:p>
        </p:txBody>
      </p:sp>
      <p:sp>
        <p:nvSpPr>
          <p:cNvPr id="13" name="arrow-4">
            <a:extLst xmlns:a="http://schemas.openxmlformats.org/drawingml/2006/main">
              <a:ext uri="{FF2B5EF4-FFF2-40B4-BE49-F238E27FC236}">
                <a16:creationId xmlns:a16="http://schemas.microsoft.com/office/drawing/2014/main" id="{7E1E94FE-14F8-4320-8B60-827FDD51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5C5C69"/>
                </a:solidFill>
              </a:defRPr>
            </a:pPr>
            <a:r>
              <a:rPr sz="2250" b="0" i="0">
                <a:solidFill>
                  <a:srgbClr val="5C5C69"/>
                </a:solidFill>
              </a:rPr>
              <a:t>→</a:t>
            </a:r>
          </a:p>
        </p:txBody>
      </p:sp>
      <p:sp>
        <p:nvSpPr>
          <p:cNvPr id="14" name="step-5">
            <a:extLst xmlns:a="http://schemas.openxmlformats.org/drawingml/2006/main">
              <a:ext uri="{FF2B5EF4-FFF2-40B4-BE49-F238E27FC236}">
                <a16:creationId xmlns:a16="http://schemas.microsoft.com/office/drawing/2014/main" id="{66F8C770-B8BA-447A-9B95-C615D8F8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050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333B2"/>
                </a:solidFill>
              </a:defRPr>
            </a:pPr>
            <a:r>
              <a:rPr sz="1575" b="1" i="0">
                <a:solidFill>
                  <a:srgbClr val="3333B2"/>
                </a:solidFill>
              </a:rPr>
              <a:t>COMMIT</a:t>
            </a:r>
          </a:p>
        </p:txBody>
      </p:sp>
      <p:sp>
        <p:nvSpPr>
          <p:cNvPr id="15" name="cmd-370">
            <a:extLst xmlns:a="http://schemas.openxmlformats.org/drawingml/2006/main">
              <a:ext uri="{FF2B5EF4-FFF2-40B4-BE49-F238E27FC236}">
                <a16:creationId xmlns:a16="http://schemas.microsoft.com/office/drawing/2014/main" id="{7ABDA4B2-1D9E-49F5-89B4-86DC7C12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695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FF"/>
                </a:solidFill>
              </a:defRPr>
            </a:pPr>
            <a:r>
              <a:rPr sz="1650" b="0" i="0">
                <a:solidFill>
                  <a:srgbClr val="0000FF"/>
                </a:solidFill>
              </a:rPr>
              <a:t>git switch -c codex/clean-job-training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AB70EEC6-88CD-481E-B184-DA111FAC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BF0040"/>
                </a:solidFill>
              </a:defRPr>
            </a:pPr>
            <a:r>
              <a:rPr sz="2250" b="1" i="0">
                <a:solidFill>
                  <a:srgbClr val="BF0040"/>
                </a:solidFill>
              </a:rPr>
              <a:t>No edit is routine if it changes the experiment.</a:t>
            </a:r>
          </a:p>
        </p:txBody>
      </p:sp>
    </p:spTree>
    <p:extLst>
      <p:ext uri="{BB962C8B-B14F-4D97-AF65-F5344CB8AC3E}">
        <p14:creationId xmlns:p14="http://schemas.microsoft.com/office/powerpoint/2010/main" val="12103576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286CF3-65D8-4747-A0C2-3F92C089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3333B2"/>
                </a:solidFill>
              </a:defRPr>
            </a:pPr>
            <a:r>
              <a:rPr sz="2925" b="1" i="0">
                <a:solidFill>
                  <a:srgbClr val="3333B2"/>
                </a:solidFill>
              </a:rPr>
              <a:t>The clean analysis passes six gates</a:t>
            </a:r>
          </a:p>
        </p:txBody>
      </p:sp>
      <p:sp>
        <p:nvSpPr>
          <p:cNvPr id="2" name="rule-68-107">
            <a:extLst xmlns:a="http://schemas.openxmlformats.org/drawingml/2006/main">
              <a:ext uri="{FF2B5EF4-FFF2-40B4-BE49-F238E27FC236}">
                <a16:creationId xmlns:a16="http://schemas.microsoft.com/office/drawing/2014/main" id="{E58B393A-3F50-4F87-A4E2-EB743FB5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19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90519D3-8758-4057-9940-491FB3F3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C5C69"/>
                </a:solidFill>
              </a:defRPr>
            </a:pPr>
            <a:r>
              <a:rPr sz="825" b="0" i="0">
                <a:solidFill>
                  <a:srgbClr val="5C5C69"/>
                </a:solidFill>
              </a:rPr>
              <a:t>13 / 23</a:t>
            </a:r>
          </a:p>
        </p:txBody>
      </p:sp>
      <p:sp>
        <p:nvSpPr>
          <p:cNvPr id="4" name="gate-0">
            <a:extLst xmlns:a="http://schemas.openxmlformats.org/drawingml/2006/main">
              <a:ext uri="{FF2B5EF4-FFF2-40B4-BE49-F238E27FC236}">
                <a16:creationId xmlns:a16="http://schemas.microsoft.com/office/drawing/2014/main" id="{313A8485-B53D-4EC1-9666-288F3525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62075"/>
            <a:ext cx="180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333B2"/>
                </a:solidFill>
              </a:defRPr>
            </a:pPr>
            <a:r>
              <a:rPr sz="1650" b="1" i="0">
                <a:solidFill>
                  <a:srgbClr val="3333B2"/>
                </a:solidFill>
              </a:rPr>
              <a:t>N</a:t>
            </a:r>
          </a:p>
        </p:txBody>
      </p:sp>
      <p:sp>
        <p:nvSpPr>
          <p:cNvPr id="5" name="gate-desc-0">
            <a:extLst xmlns:a="http://schemas.openxmlformats.org/drawingml/2006/main">
              <a:ext uri="{FF2B5EF4-FFF2-40B4-BE49-F238E27FC236}">
                <a16:creationId xmlns:a16="http://schemas.microsoft.com/office/drawing/2014/main" id="{1EC2FFFB-0D0A-4948-95EF-13647815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362075"/>
            <a:ext cx="7810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171C"/>
                </a:solidFill>
              </a:defRPr>
            </a:pPr>
            <a:r>
              <a:rPr sz="1800" b="0" i="0">
                <a:solidFill>
                  <a:srgbClr val="17171C"/>
                </a:solidFill>
              </a:rPr>
              <a:t>expected rows at every stage</a:t>
            </a:r>
          </a:p>
        </p:txBody>
      </p:sp>
      <p:sp>
        <p:nvSpPr>
          <p:cNvPr id="6" name="rule-88-196">
            <a:extLst xmlns:a="http://schemas.openxmlformats.org/drawingml/2006/main">
              <a:ext uri="{FF2B5EF4-FFF2-40B4-BE49-F238E27FC236}">
                <a16:creationId xmlns:a16="http://schemas.microsoft.com/office/drawing/2014/main" id="{ACAE6DF1-FDFE-4637-B032-01E96B70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7" name="gate-1">
            <a:extLst xmlns:a="http://schemas.openxmlformats.org/drawingml/2006/main">
              <a:ext uri="{FF2B5EF4-FFF2-40B4-BE49-F238E27FC236}">
                <a16:creationId xmlns:a16="http://schemas.microsoft.com/office/drawing/2014/main" id="{131C1B18-984F-4640-9801-28274686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180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333B2"/>
                </a:solidFill>
              </a:defRPr>
            </a:pPr>
            <a:r>
              <a:rPr sz="1650" b="1" i="0">
                <a:solidFill>
                  <a:srgbClr val="3333B2"/>
                </a:solidFill>
              </a:rPr>
              <a:t>KEYS</a:t>
            </a:r>
          </a:p>
        </p:txBody>
      </p:sp>
      <p:sp>
        <p:nvSpPr>
          <p:cNvPr id="8" name="gate-desc-1">
            <a:extLst xmlns:a="http://schemas.openxmlformats.org/drawingml/2006/main">
              <a:ext uri="{FF2B5EF4-FFF2-40B4-BE49-F238E27FC236}">
                <a16:creationId xmlns:a16="http://schemas.microsoft.com/office/drawing/2014/main" id="{656DC852-998F-4D17-BA5F-73ECE112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05025"/>
            <a:ext cx="7810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171C"/>
                </a:solidFill>
              </a:defRPr>
            </a:pPr>
            <a:r>
              <a:rPr sz="1800" b="0" i="0">
                <a:solidFill>
                  <a:srgbClr val="17171C"/>
                </a:solidFill>
              </a:rPr>
              <a:t>uniqueness and merge cardinality</a:t>
            </a:r>
          </a:p>
        </p:txBody>
      </p:sp>
      <p:sp>
        <p:nvSpPr>
          <p:cNvPr id="9" name="rule-88-274">
            <a:extLst xmlns:a="http://schemas.openxmlformats.org/drawingml/2006/main">
              <a:ext uri="{FF2B5EF4-FFF2-40B4-BE49-F238E27FC236}">
                <a16:creationId xmlns:a16="http://schemas.microsoft.com/office/drawing/2014/main" id="{602FFD2D-CCDB-418A-8F6D-DB172CFD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10" name="gate-2">
            <a:extLst xmlns:a="http://schemas.openxmlformats.org/drawingml/2006/main">
              <a:ext uri="{FF2B5EF4-FFF2-40B4-BE49-F238E27FC236}">
                <a16:creationId xmlns:a16="http://schemas.microsoft.com/office/drawing/2014/main" id="{EAE06DBF-F692-48BC-A31B-C6B20652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975"/>
            <a:ext cx="180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333B2"/>
                </a:solidFill>
              </a:defRPr>
            </a:pPr>
            <a:r>
              <a:rPr sz="1650" b="1" i="0">
                <a:solidFill>
                  <a:srgbClr val="3333B2"/>
                </a:solidFill>
              </a:rPr>
              <a:t>ASSIGNMENT</a:t>
            </a:r>
          </a:p>
        </p:txBody>
      </p:sp>
      <p:sp>
        <p:nvSpPr>
          <p:cNvPr id="11" name="gate-desc-2">
            <a:extLst xmlns:a="http://schemas.openxmlformats.org/drawingml/2006/main">
              <a:ext uri="{FF2B5EF4-FFF2-40B4-BE49-F238E27FC236}">
                <a16:creationId xmlns:a16="http://schemas.microsoft.com/office/drawing/2014/main" id="{92A7DB01-71C1-4BEB-8A12-4F209B00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47975"/>
            <a:ext cx="7810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171C"/>
                </a:solidFill>
              </a:defRPr>
            </a:pPr>
            <a:r>
              <a:rPr sz="1800" b="0" i="0">
                <a:solidFill>
                  <a:srgbClr val="17171C"/>
                </a:solidFill>
              </a:rPr>
              <a:t>balance and immutable offer status</a:t>
            </a:r>
          </a:p>
        </p:txBody>
      </p:sp>
      <p:sp>
        <p:nvSpPr>
          <p:cNvPr id="12" name="rule-88-352">
            <a:extLst xmlns:a="http://schemas.openxmlformats.org/drawingml/2006/main">
              <a:ext uri="{FF2B5EF4-FFF2-40B4-BE49-F238E27FC236}">
                <a16:creationId xmlns:a16="http://schemas.microsoft.com/office/drawing/2014/main" id="{EF558142-4485-4A00-9F48-A47C016F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13" name="gate-3">
            <a:extLst xmlns:a="http://schemas.openxmlformats.org/drawingml/2006/main">
              <a:ext uri="{FF2B5EF4-FFF2-40B4-BE49-F238E27FC236}">
                <a16:creationId xmlns:a16="http://schemas.microsoft.com/office/drawing/2014/main" id="{9C92A848-7686-4439-8B71-645DF0F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90925"/>
            <a:ext cx="180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333B2"/>
                </a:solidFill>
              </a:defRPr>
            </a:pPr>
            <a:r>
              <a:rPr sz="1650" b="1" i="0">
                <a:solidFill>
                  <a:srgbClr val="3333B2"/>
                </a:solidFill>
              </a:rPr>
              <a:t>MERGE</a:t>
            </a:r>
          </a:p>
        </p:txBody>
      </p:sp>
      <p:sp>
        <p:nvSpPr>
          <p:cNvPr id="14" name="gate-desc-3">
            <a:extLst xmlns:a="http://schemas.openxmlformats.org/drawingml/2006/main">
              <a:ext uri="{FF2B5EF4-FFF2-40B4-BE49-F238E27FC236}">
                <a16:creationId xmlns:a16="http://schemas.microsoft.com/office/drawing/2014/main" id="{003F8B09-68F5-426F-8085-ADA474F3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590925"/>
            <a:ext cx="7810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171C"/>
                </a:solidFill>
              </a:defRPr>
            </a:pPr>
            <a:r>
              <a:rPr sz="1800" b="0" i="0">
                <a:solidFill>
                  <a:srgbClr val="17171C"/>
                </a:solidFill>
              </a:rPr>
              <a:t>matched, unmatched, and duplicate records</a:t>
            </a:r>
          </a:p>
        </p:txBody>
      </p:sp>
      <p:sp>
        <p:nvSpPr>
          <p:cNvPr id="15" name="rule-88-430">
            <a:extLst xmlns:a="http://schemas.openxmlformats.org/drawingml/2006/main">
              <a:ext uri="{FF2B5EF4-FFF2-40B4-BE49-F238E27FC236}">
                <a16:creationId xmlns:a16="http://schemas.microsoft.com/office/drawing/2014/main" id="{15576A89-48F8-43C1-8D98-0F429D96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16" name="gate-4">
            <a:extLst xmlns:a="http://schemas.openxmlformats.org/drawingml/2006/main">
              <a:ext uri="{FF2B5EF4-FFF2-40B4-BE49-F238E27FC236}">
                <a16:creationId xmlns:a16="http://schemas.microsoft.com/office/drawing/2014/main" id="{E8997419-E307-4EFF-9BAE-8E37C484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33875"/>
            <a:ext cx="180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333B2"/>
                </a:solidFill>
              </a:defRPr>
            </a:pPr>
            <a:r>
              <a:rPr sz="1650" b="1" i="0">
                <a:solidFill>
                  <a:srgbClr val="3333B2"/>
                </a:solidFill>
              </a:rPr>
              <a:t>OUTCOMES</a:t>
            </a:r>
          </a:p>
        </p:txBody>
      </p:sp>
      <p:sp>
        <p:nvSpPr>
          <p:cNvPr id="17" name="gate-desc-4">
            <a:extLst xmlns:a="http://schemas.openxmlformats.org/drawingml/2006/main">
              <a:ext uri="{FF2B5EF4-FFF2-40B4-BE49-F238E27FC236}">
                <a16:creationId xmlns:a16="http://schemas.microsoft.com/office/drawing/2014/main" id="{1631690E-47F3-4BE3-AEF1-7C8C817B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33875"/>
            <a:ext cx="7810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171C"/>
                </a:solidFill>
              </a:defRPr>
            </a:pPr>
            <a:r>
              <a:rPr sz="1800" b="0" i="0">
                <a:solidFill>
                  <a:srgbClr val="17171C"/>
                </a:solidFill>
              </a:rPr>
              <a:t>definition, horizon, and missingness</a:t>
            </a:r>
          </a:p>
        </p:txBody>
      </p:sp>
      <p:sp>
        <p:nvSpPr>
          <p:cNvPr id="18" name="rule-88-508">
            <a:extLst xmlns:a="http://schemas.openxmlformats.org/drawingml/2006/main">
              <a:ext uri="{FF2B5EF4-FFF2-40B4-BE49-F238E27FC236}">
                <a16:creationId xmlns:a16="http://schemas.microsoft.com/office/drawing/2014/main" id="{D5ADB9EB-C876-49F1-B0D7-22F1F3E1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19" name="gate-5">
            <a:extLst xmlns:a="http://schemas.openxmlformats.org/drawingml/2006/main">
              <a:ext uri="{FF2B5EF4-FFF2-40B4-BE49-F238E27FC236}">
                <a16:creationId xmlns:a16="http://schemas.microsoft.com/office/drawing/2014/main" id="{E2C79DFC-84AE-4A1D-8320-28405BC9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76825"/>
            <a:ext cx="180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333B2"/>
                </a:solidFill>
              </a:defRPr>
            </a:pPr>
            <a:r>
              <a:rPr sz="1650" b="1" i="0">
                <a:solidFill>
                  <a:srgbClr val="3333B2"/>
                </a:solidFill>
              </a:rPr>
              <a:t>ESTIMAND</a:t>
            </a:r>
          </a:p>
        </p:txBody>
      </p:sp>
      <p:sp>
        <p:nvSpPr>
          <p:cNvPr id="20" name="gate-desc-5">
            <a:extLst xmlns:a="http://schemas.openxmlformats.org/drawingml/2006/main">
              <a:ext uri="{FF2B5EF4-FFF2-40B4-BE49-F238E27FC236}">
                <a16:creationId xmlns:a16="http://schemas.microsoft.com/office/drawing/2014/main" id="{05905EF8-3583-45AB-A9D3-BF861AEE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76825"/>
            <a:ext cx="7810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171C"/>
                </a:solidFill>
              </a:defRPr>
            </a:pPr>
            <a:r>
              <a:rPr sz="1800" b="0" i="0">
                <a:solidFill>
                  <a:srgbClr val="17171C"/>
                </a:solidFill>
              </a:rPr>
              <a:t>ITT matches the research question</a:t>
            </a:r>
          </a:p>
        </p:txBody>
      </p:sp>
    </p:spTree>
    <p:extLst>
      <p:ext uri="{BB962C8B-B14F-4D97-AF65-F5344CB8AC3E}">
        <p14:creationId xmlns:p14="http://schemas.microsoft.com/office/powerpoint/2010/main" val="4241032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EE0C21-2772-4E51-B5C1-04BBF82B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3333B2"/>
                </a:solidFill>
              </a:defRPr>
            </a:pPr>
            <a:r>
              <a:rPr sz="2925" b="1" i="0">
                <a:solidFill>
                  <a:srgbClr val="3333B2"/>
                </a:solidFill>
              </a:rPr>
              <a:t>Case A decision — approval is earned by evidence</a:t>
            </a:r>
          </a:p>
        </p:txBody>
      </p:sp>
      <p:sp>
        <p:nvSpPr>
          <p:cNvPr id="2" name="rule-68-107">
            <a:extLst xmlns:a="http://schemas.openxmlformats.org/drawingml/2006/main">
              <a:ext uri="{FF2B5EF4-FFF2-40B4-BE49-F238E27FC236}">
                <a16:creationId xmlns:a16="http://schemas.microsoft.com/office/drawing/2014/main" id="{A2C72CFF-DCD3-4D7E-92E3-8766680E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19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F106DFC-4377-4E74-8674-3ECEEB92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C5C69"/>
                </a:solidFill>
              </a:defRPr>
            </a:pPr>
            <a:r>
              <a:rPr sz="825" b="0" i="0">
                <a:solidFill>
                  <a:srgbClr val="5C5C69"/>
                </a:solidFill>
              </a:rPr>
              <a:t>14 / 23</a:t>
            </a:r>
          </a:p>
        </p:txBody>
      </p:sp>
      <p:sp>
        <p:nvSpPr>
          <p:cNvPr id="4" name="decision">
            <a:extLst xmlns:a="http://schemas.openxmlformats.org/drawingml/2006/main">
              <a:ext uri="{FF2B5EF4-FFF2-40B4-BE49-F238E27FC236}">
                <a16:creationId xmlns:a16="http://schemas.microsoft.com/office/drawing/2014/main" id="{0F14CBE7-334C-4FF2-BFCD-CCD7C4BF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3333B2"/>
                </a:solidFill>
              </a:defRPr>
            </a:pPr>
            <a:r>
              <a:rPr sz="4200" b="1" i="0">
                <a:solidFill>
                  <a:srgbClr val="3333B2"/>
                </a:solidFill>
              </a:rPr>
              <a:t>APPROVE</a:t>
            </a:r>
          </a:p>
        </p:txBody>
      </p:sp>
      <p:sp>
        <p:nvSpPr>
          <p:cNvPr id="5" name="condition">
            <a:extLst xmlns:a="http://schemas.openxmlformats.org/drawingml/2006/main">
              <a:ext uri="{FF2B5EF4-FFF2-40B4-BE49-F238E27FC236}">
                <a16:creationId xmlns:a16="http://schemas.microsoft.com/office/drawing/2014/main" id="{678F85DB-B529-4533-BE90-41B4EF30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43175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71C"/>
                </a:solidFill>
              </a:defRPr>
            </a:pPr>
            <a:r>
              <a:rPr sz="2100" b="0" i="0">
                <a:solidFill>
                  <a:srgbClr val="17171C"/>
                </a:solidFill>
              </a:rPr>
              <a:t>only if the design contract and all six gates are supported.</a:t>
            </a:r>
          </a:p>
        </p:txBody>
      </p:sp>
      <p:sp>
        <p:nvSpPr>
          <p:cNvPr id="6" name="evidence1">
            <a:extLst xmlns:a="http://schemas.openxmlformats.org/drawingml/2006/main">
              <a:ext uri="{FF2B5EF4-FFF2-40B4-BE49-F238E27FC236}">
                <a16:creationId xmlns:a16="http://schemas.microsoft.com/office/drawing/2014/main" id="{6C17CAE0-5397-48B5-963F-DAFCCDE7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714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71C"/>
                </a:solidFill>
              </a:defRPr>
            </a:pPr>
            <a:r>
              <a:rPr sz="1875" b="0" i="0">
                <a:solidFill>
                  <a:srgbClr val="17171C"/>
                </a:solidFill>
              </a:rPr>
              <a:t>✓ assignment remains the treatment</a:t>
            </a:r>
          </a:p>
        </p:txBody>
      </p:sp>
      <p:sp>
        <p:nvSpPr>
          <p:cNvPr id="7" name="evidence2">
            <a:extLst xmlns:a="http://schemas.openxmlformats.org/drawingml/2006/main">
              <a:ext uri="{FF2B5EF4-FFF2-40B4-BE49-F238E27FC236}">
                <a16:creationId xmlns:a16="http://schemas.microsoft.com/office/drawing/2014/main" id="{D0DCEBBE-266D-4D19-BD84-38489AF5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38625"/>
            <a:ext cx="714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71C"/>
                </a:solidFill>
              </a:defRPr>
            </a:pPr>
            <a:r>
              <a:rPr sz="1875" b="0" i="0">
                <a:solidFill>
                  <a:srgbClr val="17171C"/>
                </a:solidFill>
              </a:rPr>
              <a:t>✓ applicant-level keys survive the merge</a:t>
            </a:r>
          </a:p>
        </p:txBody>
      </p:sp>
      <p:sp>
        <p:nvSpPr>
          <p:cNvPr id="8" name="evidence3">
            <a:extLst xmlns:a="http://schemas.openxmlformats.org/drawingml/2006/main">
              <a:ext uri="{FF2B5EF4-FFF2-40B4-BE49-F238E27FC236}">
                <a16:creationId xmlns:a16="http://schemas.microsoft.com/office/drawing/2014/main" id="{82FB51C3-FA1F-4C9A-AD8E-0414B784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71C"/>
                </a:solidFill>
              </a:defRPr>
            </a:pPr>
            <a:r>
              <a:rPr sz="1875" b="0" i="0">
                <a:solidFill>
                  <a:srgbClr val="17171C"/>
                </a:solidFill>
              </a:rPr>
              <a:t>✓ outcome and estimand match the contract</a:t>
            </a:r>
          </a:p>
        </p:txBody>
      </p:sp>
      <p:sp>
        <p:nvSpPr>
          <p:cNvPr id="9" name="debrief">
            <a:extLst xmlns:a="http://schemas.openxmlformats.org/drawingml/2006/main">
              <a:ext uri="{FF2B5EF4-FFF2-40B4-BE49-F238E27FC236}">
                <a16:creationId xmlns:a16="http://schemas.microsoft.com/office/drawing/2014/main" id="{508A7124-8A93-4DB5-AEA8-C514B7EF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2927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F0040"/>
                </a:solidFill>
              </a:defRPr>
            </a:pPr>
            <a:r>
              <a:rPr sz="1800" b="1" i="0">
                <a:solidFill>
                  <a:srgbClr val="BF0040"/>
                </a:solidFill>
              </a:rPr>
              <a:t>What evidence changed your confidence?</a:t>
            </a:r>
          </a:p>
        </p:txBody>
      </p:sp>
    </p:spTree>
    <p:extLst>
      <p:ext uri="{BB962C8B-B14F-4D97-AF65-F5344CB8AC3E}">
        <p14:creationId xmlns:p14="http://schemas.microsoft.com/office/powerpoint/2010/main" val="19689311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4438008-5B07-42DC-BEAF-A2E2EC7B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C5C69"/>
                </a:solidFill>
              </a:defRPr>
            </a:pPr>
            <a:r>
              <a:rPr sz="825" b="0" i="0">
                <a:solidFill>
                  <a:srgbClr val="5C5C69"/>
                </a:solidFill>
              </a:rPr>
              <a:t>15 / 23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437B6133-105B-404A-938B-E690DBDE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333B2"/>
                </a:solidFill>
              </a:defRPr>
            </a:pPr>
            <a:r>
              <a:rPr sz="1800" b="1" i="0">
                <a:solidFill>
                  <a:srgbClr val="3333B2"/>
                </a:solidFill>
              </a:rPr>
              <a:t>CASE B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AA2E7F-01C0-45EB-B188-69F10552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7171C"/>
                </a:solidFill>
              </a:defRPr>
            </a:pPr>
            <a:r>
              <a:rPr sz="4350" b="1" i="0">
                <a:solidFill>
                  <a:srgbClr val="17171C"/>
                </a:solidFill>
              </a:rPr>
              <a:t>Inherited analysis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F32F330C-C5FF-440C-80BE-9B0F5E9A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BF0040"/>
                </a:solidFill>
              </a:defRPr>
            </a:pPr>
            <a:r>
              <a:rPr sz="2250" b="1" i="0">
                <a:solidFill>
                  <a:srgbClr val="BF0040"/>
                </a:solidFill>
              </a:rPr>
              <a:t>Reconstruct the experiment before trusting the output.</a:t>
            </a:r>
          </a:p>
        </p:txBody>
      </p:sp>
      <p:sp>
        <p:nvSpPr>
          <p:cNvPr id="5" name="rule-82-480">
            <a:extLst xmlns:a="http://schemas.openxmlformats.org/drawingml/2006/main">
              <a:ext uri="{FF2B5EF4-FFF2-40B4-BE49-F238E27FC236}">
                <a16:creationId xmlns:a16="http://schemas.microsoft.com/office/drawing/2014/main" id="{90F3A81B-A25A-40B9-BE82-891FA394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590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B2"/>
          </a:solidFill>
          <a:ln xmlns:a="http://schemas.openxmlformats.org/drawingml/2006/main" w="0">
            <a:solidFill>
              <a:srgbClr val="3333B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65867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71306F-704A-4569-B29C-8CEFF38A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3333B2"/>
                </a:solidFill>
              </a:defRPr>
            </a:pPr>
            <a:r>
              <a:rPr sz="2925" b="1" i="0">
                <a:solidFill>
                  <a:srgbClr val="3333B2"/>
                </a:solidFill>
              </a:rPr>
              <a:t>The inherited result is scheduled for tomorrow</a:t>
            </a:r>
          </a:p>
        </p:txBody>
      </p:sp>
      <p:sp>
        <p:nvSpPr>
          <p:cNvPr id="2" name="rule-68-107">
            <a:extLst xmlns:a="http://schemas.openxmlformats.org/drawingml/2006/main">
              <a:ext uri="{FF2B5EF4-FFF2-40B4-BE49-F238E27FC236}">
                <a16:creationId xmlns:a16="http://schemas.microsoft.com/office/drawing/2014/main" id="{EBCC152A-517A-4845-B6C9-EE07A185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19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87D6F75-5E08-49D9-9955-27AEF1D9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C5C69"/>
                </a:solidFill>
              </a:defRPr>
            </a:pPr>
            <a:r>
              <a:rPr sz="825" b="0" i="0">
                <a:solidFill>
                  <a:srgbClr val="5C5C69"/>
                </a:solidFill>
              </a:rPr>
              <a:t>16 / 23</a:t>
            </a:r>
          </a:p>
        </p:txBody>
      </p:sp>
      <p:sp>
        <p:nvSpPr>
          <p:cNvPr id="4" name="big-question">
            <a:extLst xmlns:a="http://schemas.openxmlformats.org/drawingml/2006/main">
              <a:ext uri="{FF2B5EF4-FFF2-40B4-BE49-F238E27FC236}">
                <a16:creationId xmlns:a16="http://schemas.microsoft.com/office/drawing/2014/main" id="{07B3310E-AED6-4D10-8D0D-67B13AE5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952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0000"/>
                </a:solidFill>
              </a:defRPr>
            </a:pPr>
            <a:r>
              <a:rPr sz="4350" b="1" i="0">
                <a:solidFill>
                  <a:srgbClr val="FF0000"/>
                </a:solidFill>
              </a:rPr>
              <a:t>Would you sign off?</a:t>
            </a:r>
          </a:p>
        </p:txBody>
      </p:sp>
      <p:sp>
        <p:nvSpPr>
          <p:cNvPr id="5" name="context">
            <a:extLst xmlns:a="http://schemas.openxmlformats.org/drawingml/2006/main">
              <a:ext uri="{FF2B5EF4-FFF2-40B4-BE49-F238E27FC236}">
                <a16:creationId xmlns:a16="http://schemas.microsoft.com/office/drawing/2014/main" id="{2F232F22-BF99-4466-97A7-0AAE7D7A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90875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7171C"/>
                </a:solidFill>
              </a:defRPr>
            </a:pPr>
            <a:r>
              <a:rPr sz="2175" b="0" i="0">
                <a:solidFill>
                  <a:srgbClr val="17171C"/>
                </a:solidFill>
              </a:rPr>
              <a:t>Claim: training participation increased employment at six months.</a:t>
            </a:r>
          </a:p>
        </p:txBody>
      </p:sp>
      <p:sp>
        <p:nvSpPr>
          <p:cNvPr id="6" name="constraint">
            <a:extLst xmlns:a="http://schemas.openxmlformats.org/drawingml/2006/main">
              <a:ext uri="{FF2B5EF4-FFF2-40B4-BE49-F238E27FC236}">
                <a16:creationId xmlns:a16="http://schemas.microsoft.com/office/drawing/2014/main" id="{0ABF076E-B85C-4265-A000-54718D12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43375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BF0040"/>
                </a:solidFill>
              </a:defRPr>
            </a:pPr>
            <a:r>
              <a:rPr sz="2100" b="1" i="0">
                <a:solidFill>
                  <a:srgbClr val="BF0040"/>
                </a:solidFill>
              </a:rPr>
              <a:t>Your answer must be supported by repository evidence.</a:t>
            </a:r>
          </a:p>
        </p:txBody>
      </p:sp>
      <p:sp>
        <p:nvSpPr>
          <p:cNvPr id="7" name="warning">
            <a:extLst xmlns:a="http://schemas.openxmlformats.org/drawingml/2006/main">
              <a:ext uri="{FF2B5EF4-FFF2-40B4-BE49-F238E27FC236}">
                <a16:creationId xmlns:a16="http://schemas.microsoft.com/office/drawing/2014/main" id="{5918FEB0-B6BA-4200-BB6B-163AB9DD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333B2"/>
                </a:solidFill>
              </a:defRPr>
            </a:pPr>
            <a:r>
              <a:rPr sz="1800" b="1" i="0">
                <a:solidFill>
                  <a:srgbClr val="3333B2"/>
                </a:solidFill>
              </a:rPr>
              <a:t>Do not begin with the point estimate.</a:t>
            </a:r>
          </a:p>
        </p:txBody>
      </p:sp>
    </p:spTree>
    <p:extLst>
      <p:ext uri="{BB962C8B-B14F-4D97-AF65-F5344CB8AC3E}">
        <p14:creationId xmlns:p14="http://schemas.microsoft.com/office/powerpoint/2010/main" val="10580622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B23E8C-D761-4838-A22C-8C95E8E1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3333B2"/>
                </a:solidFill>
              </a:defRPr>
            </a:pPr>
            <a:r>
              <a:rPr sz="2925" b="1" i="0">
                <a:solidFill>
                  <a:srgbClr val="3333B2"/>
                </a:solidFill>
              </a:rPr>
              <a:t>Inherited files: assignment, behavior, and output</a:t>
            </a:r>
          </a:p>
        </p:txBody>
      </p:sp>
      <p:sp>
        <p:nvSpPr>
          <p:cNvPr id="2" name="rule-68-107">
            <a:extLst xmlns:a="http://schemas.openxmlformats.org/drawingml/2006/main">
              <a:ext uri="{FF2B5EF4-FFF2-40B4-BE49-F238E27FC236}">
                <a16:creationId xmlns:a16="http://schemas.microsoft.com/office/drawing/2014/main" id="{D2F07A73-D331-4A7A-9B0D-DDD8E8C7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19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3D87E38-80C5-4858-923C-8CC553EF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C5C69"/>
                </a:solidFill>
              </a:defRPr>
            </a:pPr>
            <a:r>
              <a:rPr sz="825" b="0" i="0">
                <a:solidFill>
                  <a:srgbClr val="5C5C69"/>
                </a:solidFill>
              </a:rPr>
              <a:t>17 / 23</a:t>
            </a:r>
          </a:p>
        </p:txBody>
      </p:sp>
      <p:sp>
        <p:nvSpPr>
          <p:cNvPr id="4" name="file-0">
            <a:extLst xmlns:a="http://schemas.openxmlformats.org/drawingml/2006/main">
              <a:ext uri="{FF2B5EF4-FFF2-40B4-BE49-F238E27FC236}">
                <a16:creationId xmlns:a16="http://schemas.microsoft.com/office/drawing/2014/main" id="{12F24F3C-3C83-47EA-A8DA-595D6E84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525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00FF"/>
                </a:solidFill>
              </a:defRPr>
            </a:pPr>
            <a:r>
              <a:rPr sz="1725" b="1" i="0">
                <a:solidFill>
                  <a:srgbClr val="0000FF"/>
                </a:solidFill>
              </a:rPr>
              <a:t>data/baseline.csv</a:t>
            </a:r>
          </a:p>
        </p:txBody>
      </p:sp>
      <p:sp>
        <p:nvSpPr>
          <p:cNvPr id="5" name="file-desc-0">
            <a:extLst xmlns:a="http://schemas.openxmlformats.org/drawingml/2006/main">
              <a:ext uri="{FF2B5EF4-FFF2-40B4-BE49-F238E27FC236}">
                <a16:creationId xmlns:a16="http://schemas.microsoft.com/office/drawing/2014/main" id="{BCE47D2D-ABCF-44F7-B4CA-F9DB3219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525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171C"/>
                </a:solidFill>
              </a:defRPr>
            </a:pPr>
            <a:r>
              <a:rPr sz="1650" b="0" i="0">
                <a:solidFill>
                  <a:srgbClr val="17171C"/>
                </a:solidFill>
              </a:rPr>
              <a:t>applicant characteristics</a:t>
            </a:r>
          </a:p>
        </p:txBody>
      </p:sp>
      <p:sp>
        <p:nvSpPr>
          <p:cNvPr id="6" name="rule-84-197">
            <a:extLst xmlns:a="http://schemas.openxmlformats.org/drawingml/2006/main">
              <a:ext uri="{FF2B5EF4-FFF2-40B4-BE49-F238E27FC236}">
                <a16:creationId xmlns:a16="http://schemas.microsoft.com/office/drawing/2014/main" id="{437DCB91-A5AB-4758-8CCB-C2667853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7" name="file-1">
            <a:extLst xmlns:a="http://schemas.openxmlformats.org/drawingml/2006/main">
              <a:ext uri="{FF2B5EF4-FFF2-40B4-BE49-F238E27FC236}">
                <a16:creationId xmlns:a16="http://schemas.microsoft.com/office/drawing/2014/main" id="{BC09DDEC-A730-4971-A1CB-D5F6CFD8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00FF"/>
                </a:solidFill>
              </a:defRPr>
            </a:pPr>
            <a:r>
              <a:rPr sz="1725" b="1" i="0">
                <a:solidFill>
                  <a:srgbClr val="0000FF"/>
                </a:solidFill>
              </a:rPr>
              <a:t>data/assignment.csv</a:t>
            </a:r>
          </a:p>
        </p:txBody>
      </p:sp>
      <p:sp>
        <p:nvSpPr>
          <p:cNvPr id="8" name="file-desc-1">
            <a:extLst xmlns:a="http://schemas.openxmlformats.org/drawingml/2006/main">
              <a:ext uri="{FF2B5EF4-FFF2-40B4-BE49-F238E27FC236}">
                <a16:creationId xmlns:a16="http://schemas.microsoft.com/office/drawing/2014/main" id="{A4256472-2F00-46B7-8256-D6D45616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171C"/>
                </a:solidFill>
              </a:defRPr>
            </a:pPr>
            <a:r>
              <a:rPr sz="1650" b="0" i="0">
                <a:solidFill>
                  <a:srgbClr val="17171C"/>
                </a:solidFill>
              </a:rPr>
              <a:t>randomized offer</a:t>
            </a:r>
          </a:p>
        </p:txBody>
      </p:sp>
      <p:sp>
        <p:nvSpPr>
          <p:cNvPr id="9" name="rule-84-280">
            <a:extLst xmlns:a="http://schemas.openxmlformats.org/drawingml/2006/main">
              <a:ext uri="{FF2B5EF4-FFF2-40B4-BE49-F238E27FC236}">
                <a16:creationId xmlns:a16="http://schemas.microsoft.com/office/drawing/2014/main" id="{E508BD44-94FF-4F85-8285-D7525C01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10" name="file-2">
            <a:extLst xmlns:a="http://schemas.openxmlformats.org/drawingml/2006/main">
              <a:ext uri="{FF2B5EF4-FFF2-40B4-BE49-F238E27FC236}">
                <a16:creationId xmlns:a16="http://schemas.microsoft.com/office/drawing/2014/main" id="{94A0BA93-0D44-42D7-8D65-841D53BA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00FF"/>
                </a:solidFill>
              </a:defRPr>
            </a:pPr>
            <a:r>
              <a:rPr sz="1725" b="1" i="0">
                <a:solidFill>
                  <a:srgbClr val="0000FF"/>
                </a:solidFill>
              </a:rPr>
              <a:t>data/followup.csv</a:t>
            </a:r>
          </a:p>
        </p:txBody>
      </p:sp>
      <p:sp>
        <p:nvSpPr>
          <p:cNvPr id="11" name="file-desc-2">
            <a:extLst xmlns:a="http://schemas.openxmlformats.org/drawingml/2006/main">
              <a:ext uri="{FF2B5EF4-FFF2-40B4-BE49-F238E27FC236}">
                <a16:creationId xmlns:a16="http://schemas.microsoft.com/office/drawing/2014/main" id="{9B535B6F-B858-4F08-979B-67D6D798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337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171C"/>
                </a:solidFill>
              </a:defRPr>
            </a:pPr>
            <a:r>
              <a:rPr sz="1650" b="0" i="0">
                <a:solidFill>
                  <a:srgbClr val="17171C"/>
                </a:solidFill>
              </a:rPr>
              <a:t>six-month employment</a:t>
            </a:r>
          </a:p>
        </p:txBody>
      </p:sp>
      <p:sp>
        <p:nvSpPr>
          <p:cNvPr id="12" name="rule-84-363">
            <a:extLst xmlns:a="http://schemas.openxmlformats.org/drawingml/2006/main">
              <a:ext uri="{FF2B5EF4-FFF2-40B4-BE49-F238E27FC236}">
                <a16:creationId xmlns:a16="http://schemas.microsoft.com/office/drawing/2014/main" id="{37F39858-1F7A-4259-983D-CA4FC7F0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5757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13" name="file-3">
            <a:extLst xmlns:a="http://schemas.openxmlformats.org/drawingml/2006/main">
              <a:ext uri="{FF2B5EF4-FFF2-40B4-BE49-F238E27FC236}">
                <a16:creationId xmlns:a16="http://schemas.microsoft.com/office/drawing/2014/main" id="{BE609F6E-942F-4685-999D-F0268823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2427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00FF"/>
                </a:solidFill>
              </a:defRPr>
            </a:pPr>
            <a:r>
              <a:rPr sz="1725" b="1" i="0">
                <a:solidFill>
                  <a:srgbClr val="0000FF"/>
                </a:solidFill>
              </a:rPr>
              <a:t>data/attendance_log.csv</a:t>
            </a:r>
          </a:p>
        </p:txBody>
      </p:sp>
      <p:sp>
        <p:nvSpPr>
          <p:cNvPr id="14" name="file-desc-3">
            <a:extLst xmlns:a="http://schemas.openxmlformats.org/drawingml/2006/main">
              <a:ext uri="{FF2B5EF4-FFF2-40B4-BE49-F238E27FC236}">
                <a16:creationId xmlns:a16="http://schemas.microsoft.com/office/drawing/2014/main" id="{9F9522F0-5FD2-479C-9708-FA5CBEF8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242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171C"/>
                </a:solidFill>
              </a:defRPr>
            </a:pPr>
            <a:r>
              <a:rPr sz="1650" b="0" i="0">
                <a:solidFill>
                  <a:srgbClr val="17171C"/>
                </a:solidFill>
              </a:rPr>
              <a:t>training attendance events</a:t>
            </a:r>
          </a:p>
        </p:txBody>
      </p:sp>
      <p:sp>
        <p:nvSpPr>
          <p:cNvPr id="15" name="rule-84-446">
            <a:extLst xmlns:a="http://schemas.openxmlformats.org/drawingml/2006/main">
              <a:ext uri="{FF2B5EF4-FFF2-40B4-BE49-F238E27FC236}">
                <a16:creationId xmlns:a16="http://schemas.microsoft.com/office/drawing/2014/main" id="{95B8936B-2019-4FEB-A5B7-EFB0F2DD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16" name="file-4">
            <a:extLst xmlns:a="http://schemas.openxmlformats.org/drawingml/2006/main">
              <a:ext uri="{FF2B5EF4-FFF2-40B4-BE49-F238E27FC236}">
                <a16:creationId xmlns:a16="http://schemas.microsoft.com/office/drawing/2014/main" id="{CE9B73AD-7B3E-4176-AF02-770E0352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00FF"/>
                </a:solidFill>
              </a:defRPr>
            </a:pPr>
            <a:r>
              <a:rPr sz="1725" b="1" i="0">
                <a:solidFill>
                  <a:srgbClr val="0000FF"/>
                </a:solidFill>
              </a:rPr>
              <a:t>data/case_b_analysis_received.csv</a:t>
            </a:r>
          </a:p>
        </p:txBody>
      </p:sp>
      <p:sp>
        <p:nvSpPr>
          <p:cNvPr id="17" name="file-desc-4">
            <a:extLst xmlns:a="http://schemas.openxmlformats.org/drawingml/2006/main">
              <a:ext uri="{FF2B5EF4-FFF2-40B4-BE49-F238E27FC236}">
                <a16:creationId xmlns:a16="http://schemas.microsoft.com/office/drawing/2014/main" id="{4594D4D7-1592-45BA-8D54-E9A90797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148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171C"/>
                </a:solidFill>
              </a:defRPr>
            </a:pPr>
            <a:r>
              <a:rPr sz="1650" b="0" i="0">
                <a:solidFill>
                  <a:srgbClr val="17171C"/>
                </a:solidFill>
              </a:rPr>
              <a:t>analysis received from prior researcher</a:t>
            </a:r>
          </a:p>
        </p:txBody>
      </p:sp>
      <p:sp>
        <p:nvSpPr>
          <p:cNvPr id="18" name="question">
            <a:extLst xmlns:a="http://schemas.openxmlformats.org/drawingml/2006/main">
              <a:ext uri="{FF2B5EF4-FFF2-40B4-BE49-F238E27FC236}">
                <a16:creationId xmlns:a16="http://schemas.microsoft.com/office/drawing/2014/main" id="{092F399A-87D9-4E86-8E8C-F2663919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0000"/>
                </a:solidFill>
              </a:defRPr>
            </a:pPr>
            <a:r>
              <a:rPr sz="1800" b="1" i="0">
                <a:solidFill>
                  <a:srgbClr val="FF0000"/>
                </a:solidFill>
              </a:rPr>
              <a:t>Which file describes assignment—and which only records behavior after assignment?</a:t>
            </a:r>
          </a:p>
        </p:txBody>
      </p:sp>
    </p:spTree>
    <p:extLst>
      <p:ext uri="{BB962C8B-B14F-4D97-AF65-F5344CB8AC3E}">
        <p14:creationId xmlns:p14="http://schemas.microsoft.com/office/powerpoint/2010/main" val="15628448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B6D79B-D029-4FB5-AF32-0264C916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3333B2"/>
                </a:solidFill>
              </a:defRPr>
            </a:pPr>
            <a:r>
              <a:rPr sz="2925" b="1" i="0">
                <a:solidFill>
                  <a:srgbClr val="3333B2"/>
                </a:solidFill>
              </a:rPr>
              <a:t>Use StatsClaw as a forensic collaborator</a:t>
            </a:r>
          </a:p>
        </p:txBody>
      </p:sp>
      <p:sp>
        <p:nvSpPr>
          <p:cNvPr id="2" name="rule-68-107">
            <a:extLst xmlns:a="http://schemas.openxmlformats.org/drawingml/2006/main">
              <a:ext uri="{FF2B5EF4-FFF2-40B4-BE49-F238E27FC236}">
                <a16:creationId xmlns:a16="http://schemas.microsoft.com/office/drawing/2014/main" id="{B4154D1D-9C54-457C-9E82-AF6341AF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19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6D33DD0-A366-4B2F-B446-43EFD5FA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C5C69"/>
                </a:solidFill>
              </a:defRPr>
            </a:pPr>
            <a:r>
              <a:rPr sz="825" b="0" i="0">
                <a:solidFill>
                  <a:srgbClr val="5C5C69"/>
                </a:solidFill>
              </a:rPr>
              <a:t>18 / 23</a:t>
            </a:r>
          </a:p>
        </p:txBody>
      </p:sp>
      <p:sp>
        <p:nvSpPr>
          <p:cNvPr id="4" name="prompt-rule">
            <a:extLst xmlns:a="http://schemas.openxmlformats.org/drawingml/2006/main">
              <a:ext uri="{FF2B5EF4-FFF2-40B4-BE49-F238E27FC236}">
                <a16:creationId xmlns:a16="http://schemas.microsoft.com/office/drawing/2014/main" id="{446CFE89-188A-4859-8CFE-36E9E4BF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6667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B2"/>
          </a:solidFill>
          <a:ln xmlns:a="http://schemas.openxmlformats.org/drawingml/2006/main" w="0">
            <a:solidFill>
              <a:srgbClr val="3333B2"/>
            </a:solidFill>
            <a:prstDash val="solid"/>
          </a:ln>
        </p:spPr>
      </p:sp>
      <p:sp>
        <p:nvSpPr>
          <p:cNvPr id="5" name="prompt">
            <a:extLst xmlns:a="http://schemas.openxmlformats.org/drawingml/2006/main">
              <a:ext uri="{FF2B5EF4-FFF2-40B4-BE49-F238E27FC236}">
                <a16:creationId xmlns:a16="http://schemas.microsoft.com/office/drawing/2014/main" id="{910FFA89-68A9-4AE3-924B-8B8EEF48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28750"/>
            <a:ext cx="981075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171C"/>
                </a:solidFill>
              </a:defRPr>
            </a:pPr>
            <a:r>
              <a:rPr sz="1800" b="0" i="0">
                <a:solidFill>
                  <a:srgbClr val="17171C"/>
                </a:solidFill>
              </a:rPr>
              <a:t>Inspect this inherited analysis without editing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 i="0">
                <a:solidFill>
                  <a:srgbClr val="17171C"/>
                </a:solidFill>
              </a:defRPr>
            </a:pPr>
            <a:r>
              <a:rPr sz="1800" b="0" i="0">
                <a:solidFill>
                  <a:srgbClr val="17171C"/>
                </a:solidFill>
              </a:rPr>
              <a:t>Reconstruct the unit, treatment definition, outcome, sample, merge logic, estimand, and provenance of case_b_analysis_received.csv.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 i="0">
                <a:solidFill>
                  <a:srgbClr val="17171C"/>
                </a:solidFill>
              </a:defRPr>
            </a:pPr>
            <a:r>
              <a:rPr sz="1800" b="0" i="0">
                <a:solidFill>
                  <a:srgbClr val="17171C"/>
                </a:solidFill>
              </a:rPr>
              <a:t>Trace every operation that could change row counts, keys, treatment status, or the comparison being estimated.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 i="0">
                <a:solidFill>
                  <a:srgbClr val="17171C"/>
                </a:solidFill>
              </a:defRPr>
            </a:pPr>
            <a:r>
              <a:rPr sz="1800" b="0" i="0">
                <a:solidFill>
                  <a:srgbClr val="17171C"/>
                </a:solidFill>
              </a:rPr>
              <a:t>Report evidence, uncertainty, and the next check.</a:t>
            </a:r>
          </a:p>
        </p:txBody>
      </p:sp>
      <p:sp>
        <p:nvSpPr>
          <p:cNvPr id="6" name="instruction">
            <a:extLst xmlns:a="http://schemas.openxmlformats.org/drawingml/2006/main">
              <a:ext uri="{FF2B5EF4-FFF2-40B4-BE49-F238E27FC236}">
                <a16:creationId xmlns:a16="http://schemas.microsoft.com/office/drawing/2014/main" id="{861451A1-F51F-43BD-8A79-A8B9A13D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7687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BF0040"/>
                </a:solidFill>
              </a:defRPr>
            </a:pPr>
            <a:r>
              <a:rPr sz="1650" b="1" i="0">
                <a:solidFill>
                  <a:srgbClr val="BF0040"/>
                </a:solidFill>
              </a:rPr>
              <a:t>Investigate broadly. Do not assume there is exactly one error.</a:t>
            </a:r>
          </a:p>
        </p:txBody>
      </p:sp>
    </p:spTree>
    <p:extLst>
      <p:ext uri="{BB962C8B-B14F-4D97-AF65-F5344CB8AC3E}">
        <p14:creationId xmlns:p14="http://schemas.microsoft.com/office/powerpoint/2010/main" val="131939055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3F1082-B172-49E6-80A7-209784E8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3333B2"/>
                </a:solidFill>
              </a:defRPr>
            </a:pPr>
            <a:r>
              <a:rPr sz="2925" b="1" i="0">
                <a:solidFill>
                  <a:srgbClr val="3333B2"/>
                </a:solidFill>
              </a:rPr>
              <a:t>Pause and make the investigation legible</a:t>
            </a:r>
          </a:p>
        </p:txBody>
      </p:sp>
      <p:sp>
        <p:nvSpPr>
          <p:cNvPr id="2" name="rule-68-107">
            <a:extLst xmlns:a="http://schemas.openxmlformats.org/drawingml/2006/main">
              <a:ext uri="{FF2B5EF4-FFF2-40B4-BE49-F238E27FC236}">
                <a16:creationId xmlns:a16="http://schemas.microsoft.com/office/drawing/2014/main" id="{B0BCEFE8-2E5D-46C4-B367-510ECC00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19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5CBC610-F40D-458F-9EA9-494777A5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C5C69"/>
                </a:solidFill>
              </a:defRPr>
            </a:pPr>
            <a:r>
              <a:rPr sz="825" b="0" i="0">
                <a:solidFill>
                  <a:srgbClr val="5C5C69"/>
                </a:solidFill>
              </a:rPr>
              <a:t>19 / 23</a:t>
            </a:r>
          </a:p>
        </p:txBody>
      </p:sp>
      <p:sp>
        <p:nvSpPr>
          <p:cNvPr id="4" name="qhead-0">
            <a:extLst xmlns:a="http://schemas.openxmlformats.org/drawingml/2006/main">
              <a:ext uri="{FF2B5EF4-FFF2-40B4-BE49-F238E27FC236}">
                <a16:creationId xmlns:a16="http://schemas.microsoft.com/office/drawing/2014/main" id="{D0FBAFF5-5EDD-45C8-8B20-9CB7B2CB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333B2"/>
                </a:solidFill>
              </a:defRPr>
            </a:pPr>
            <a:r>
              <a:rPr sz="1500" b="1" i="0">
                <a:solidFill>
                  <a:srgbClr val="3333B2"/>
                </a:solidFill>
              </a:rPr>
              <a:t>CURRENT BELIEF</a:t>
            </a:r>
          </a:p>
        </p:txBody>
      </p:sp>
      <p:sp>
        <p:nvSpPr>
          <p:cNvPr id="5" name="qbody-0">
            <a:extLst xmlns:a="http://schemas.openxmlformats.org/drawingml/2006/main">
              <a:ext uri="{FF2B5EF4-FFF2-40B4-BE49-F238E27FC236}">
                <a16:creationId xmlns:a16="http://schemas.microsoft.com/office/drawing/2014/main" id="{D7697016-281D-47EE-83C0-B5B8FCB8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287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71C"/>
                </a:solidFill>
              </a:defRPr>
            </a:pPr>
            <a:r>
              <a:rPr sz="1875" b="0" i="0">
                <a:solidFill>
                  <a:srgbClr val="17171C"/>
                </a:solidFill>
              </a:rPr>
              <a:t>What experiment do you think was run?</a:t>
            </a:r>
          </a:p>
        </p:txBody>
      </p:sp>
      <p:sp>
        <p:nvSpPr>
          <p:cNvPr id="6" name="qhead-1">
            <a:extLst xmlns:a="http://schemas.openxmlformats.org/drawingml/2006/main">
              <a:ext uri="{FF2B5EF4-FFF2-40B4-BE49-F238E27FC236}">
                <a16:creationId xmlns:a16="http://schemas.microsoft.com/office/drawing/2014/main" id="{B579A821-5D5E-4000-91FE-72140175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333B2"/>
                </a:solidFill>
              </a:defRPr>
            </a:pPr>
            <a:r>
              <a:rPr sz="1500" b="1" i="0">
                <a:solidFill>
                  <a:srgbClr val="3333B2"/>
                </a:solidFill>
              </a:rPr>
              <a:t>BEST EVIDENCE</a:t>
            </a:r>
          </a:p>
        </p:txBody>
      </p:sp>
      <p:sp>
        <p:nvSpPr>
          <p:cNvPr id="7" name="qbody-1">
            <a:extLst xmlns:a="http://schemas.openxmlformats.org/drawingml/2006/main">
              <a:ext uri="{FF2B5EF4-FFF2-40B4-BE49-F238E27FC236}">
                <a16:creationId xmlns:a16="http://schemas.microsoft.com/office/drawing/2014/main" id="{6EDEBC71-B447-4827-9885-2D75A715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955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71C"/>
                </a:solidFill>
              </a:defRPr>
            </a:pPr>
            <a:r>
              <a:rPr sz="1875" b="0" i="0">
                <a:solidFill>
                  <a:srgbClr val="17171C"/>
                </a:solidFill>
              </a:rPr>
              <a:t>Which file, field, or history entry supports that belief?</a:t>
            </a:r>
          </a:p>
        </p:txBody>
      </p:sp>
      <p:sp>
        <p:nvSpPr>
          <p:cNvPr id="8" name="qhead-2">
            <a:extLst xmlns:a="http://schemas.openxmlformats.org/drawingml/2006/main">
              <a:ext uri="{FF2B5EF4-FFF2-40B4-BE49-F238E27FC236}">
                <a16:creationId xmlns:a16="http://schemas.microsoft.com/office/drawing/2014/main" id="{97579773-7741-4EAF-8A10-1FD1D55C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333B2"/>
                </a:solidFill>
              </a:defRPr>
            </a:pPr>
            <a:r>
              <a:rPr sz="1500" b="1" i="0">
                <a:solidFill>
                  <a:srgbClr val="3333B2"/>
                </a:solidFill>
              </a:rPr>
              <a:t>UNRESOLVED</a:t>
            </a:r>
          </a:p>
        </p:txBody>
      </p:sp>
      <p:sp>
        <p:nvSpPr>
          <p:cNvPr id="9" name="qbody-2">
            <a:extLst xmlns:a="http://schemas.openxmlformats.org/drawingml/2006/main">
              <a:ext uri="{FF2B5EF4-FFF2-40B4-BE49-F238E27FC236}">
                <a16:creationId xmlns:a16="http://schemas.microsoft.com/office/drawing/2014/main" id="{2C2C5828-464B-4357-A90D-15A4AABC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71C"/>
                </a:solidFill>
              </a:defRPr>
            </a:pPr>
            <a:r>
              <a:rPr sz="1875" b="0" i="0">
                <a:solidFill>
                  <a:srgbClr val="17171C"/>
                </a:solidFill>
              </a:rPr>
              <a:t>What could still overturn your conclusion?</a:t>
            </a:r>
          </a:p>
        </p:txBody>
      </p:sp>
      <p:sp>
        <p:nvSpPr>
          <p:cNvPr id="10" name="qhead-3">
            <a:extLst xmlns:a="http://schemas.openxmlformats.org/drawingml/2006/main">
              <a:ext uri="{FF2B5EF4-FFF2-40B4-BE49-F238E27FC236}">
                <a16:creationId xmlns:a16="http://schemas.microsoft.com/office/drawing/2014/main" id="{875AF346-1B19-47FA-B849-69D904CB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333B2"/>
                </a:solidFill>
              </a:defRPr>
            </a:pPr>
            <a:r>
              <a:rPr sz="1500" b="1" i="0">
                <a:solidFill>
                  <a:srgbClr val="3333B2"/>
                </a:solidFill>
              </a:rPr>
              <a:t>NEXT CHECK</a:t>
            </a:r>
          </a:p>
        </p:txBody>
      </p:sp>
      <p:sp>
        <p:nvSpPr>
          <p:cNvPr id="11" name="qbody-3">
            <a:extLst xmlns:a="http://schemas.openxmlformats.org/drawingml/2006/main">
              <a:ext uri="{FF2B5EF4-FFF2-40B4-BE49-F238E27FC236}">
                <a16:creationId xmlns:a16="http://schemas.microsoft.com/office/drawing/2014/main" id="{35374B75-C618-4BE6-B253-048B7035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291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0000"/>
                </a:solidFill>
              </a:defRPr>
            </a:pPr>
            <a:r>
              <a:rPr sz="1875" b="1" i="0">
                <a:solidFill>
                  <a:srgbClr val="FF0000"/>
                </a:solidFill>
              </a:rPr>
              <a:t>What will you inspect now—and why?</a:t>
            </a:r>
          </a:p>
        </p:txBody>
      </p:sp>
    </p:spTree>
    <p:extLst>
      <p:ext uri="{BB962C8B-B14F-4D97-AF65-F5344CB8AC3E}">
        <p14:creationId xmlns:p14="http://schemas.microsoft.com/office/powerpoint/2010/main" val="9423627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DD8455-542E-4157-A98B-905DBF60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3333B2"/>
                </a:solidFill>
              </a:defRPr>
            </a:pPr>
            <a:r>
              <a:rPr sz="2925" b="1" i="0">
                <a:solidFill>
                  <a:srgbClr val="3333B2"/>
                </a:solidFill>
              </a:rPr>
              <a:t>Git is part of the research record</a:t>
            </a:r>
          </a:p>
        </p:txBody>
      </p:sp>
      <p:sp>
        <p:nvSpPr>
          <p:cNvPr id="2" name="rule-68-107">
            <a:extLst xmlns:a="http://schemas.openxmlformats.org/drawingml/2006/main">
              <a:ext uri="{FF2B5EF4-FFF2-40B4-BE49-F238E27FC236}">
                <a16:creationId xmlns:a16="http://schemas.microsoft.com/office/drawing/2014/main" id="{A6FB0518-455A-48BD-99D8-3F3DA5DF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19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E108310-7BF4-49C6-B183-3124AA39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C5C69"/>
                </a:solidFill>
              </a:defRPr>
            </a:pPr>
            <a:r>
              <a:rPr sz="825" b="0" i="0">
                <a:solidFill>
                  <a:srgbClr val="5C5C69"/>
                </a:solidFill>
              </a:rPr>
              <a:t>20 / 23</a:t>
            </a:r>
          </a:p>
        </p:txBody>
      </p:sp>
      <p:sp>
        <p:nvSpPr>
          <p:cNvPr id="4" name="cmd-155">
            <a:extLst xmlns:a="http://schemas.openxmlformats.org/drawingml/2006/main">
              <a:ext uri="{FF2B5EF4-FFF2-40B4-BE49-F238E27FC236}">
                <a16:creationId xmlns:a16="http://schemas.microsoft.com/office/drawing/2014/main" id="{BFF05841-76C9-4179-9132-BBA1020A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76375"/>
            <a:ext cx="1000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FF"/>
                </a:solidFill>
              </a:defRPr>
            </a:pPr>
            <a:r>
              <a:rPr sz="1650" b="0" i="0">
                <a:solidFill>
                  <a:srgbClr val="0000FF"/>
                </a:solidFill>
              </a:rPr>
              <a:t>git status</a:t>
            </a:r>
          </a:p>
        </p:txBody>
      </p:sp>
      <p:sp>
        <p:nvSpPr>
          <p:cNvPr id="5" name="cmd-218">
            <a:extLst xmlns:a="http://schemas.openxmlformats.org/drawingml/2006/main">
              <a:ext uri="{FF2B5EF4-FFF2-40B4-BE49-F238E27FC236}">
                <a16:creationId xmlns:a16="http://schemas.microsoft.com/office/drawing/2014/main" id="{DA83F62A-0DBF-40B7-891E-423D09EB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1000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FF"/>
                </a:solidFill>
              </a:defRPr>
            </a:pPr>
            <a:r>
              <a:rPr sz="1650" b="0" i="0">
                <a:solidFill>
                  <a:srgbClr val="0000FF"/>
                </a:solidFill>
              </a:rPr>
              <a:t>git log --oneline --all --decorate</a:t>
            </a:r>
          </a:p>
        </p:txBody>
      </p:sp>
      <p:sp>
        <p:nvSpPr>
          <p:cNvPr id="6" name="cmd-281">
            <a:extLst xmlns:a="http://schemas.openxmlformats.org/drawingml/2006/main">
              <a:ext uri="{FF2B5EF4-FFF2-40B4-BE49-F238E27FC236}">
                <a16:creationId xmlns:a16="http://schemas.microsoft.com/office/drawing/2014/main" id="{FCA1C6C0-692D-421E-B67A-8F16E14D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76525"/>
            <a:ext cx="1000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FF"/>
                </a:solidFill>
              </a:defRPr>
            </a:pPr>
            <a:r>
              <a:rPr sz="1650" b="0" i="0">
                <a:solidFill>
                  <a:srgbClr val="0000FF"/>
                </a:solidFill>
              </a:rPr>
              <a:t>git diff</a:t>
            </a:r>
          </a:p>
        </p:txBody>
      </p:sp>
      <p:sp>
        <p:nvSpPr>
          <p:cNvPr id="7" name="cmd-344">
            <a:extLst xmlns:a="http://schemas.openxmlformats.org/drawingml/2006/main">
              <a:ext uri="{FF2B5EF4-FFF2-40B4-BE49-F238E27FC236}">
                <a16:creationId xmlns:a16="http://schemas.microsoft.com/office/drawing/2014/main" id="{70862274-DDE6-4B66-9508-CEAB5C0D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1000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FF"/>
                </a:solidFill>
              </a:defRPr>
            </a:pPr>
            <a:r>
              <a:rPr sz="1650" b="0" i="0">
                <a:solidFill>
                  <a:srgbClr val="0000FF"/>
                </a:solidFill>
              </a:rPr>
              <a:t>git show &lt;commit&gt;</a:t>
            </a:r>
          </a:p>
        </p:txBody>
      </p:sp>
      <p:sp>
        <p:nvSpPr>
          <p:cNvPr id="8" name="cmd-407">
            <a:extLst xmlns:a="http://schemas.openxmlformats.org/drawingml/2006/main">
              <a:ext uri="{FF2B5EF4-FFF2-40B4-BE49-F238E27FC236}">
                <a16:creationId xmlns:a16="http://schemas.microsoft.com/office/drawing/2014/main" id="{AB74F412-C99B-4581-902E-908A1DC4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76675"/>
            <a:ext cx="1000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FF"/>
                </a:solidFill>
              </a:defRPr>
            </a:pPr>
            <a:r>
              <a:rPr sz="1650" b="0" i="0">
                <a:solidFill>
                  <a:srgbClr val="0000FF"/>
                </a:solidFill>
              </a:rPr>
              <a:t>git blame &lt;file&gt;</a:t>
            </a:r>
          </a:p>
        </p:txBody>
      </p:sp>
      <p:sp>
        <p:nvSpPr>
          <p:cNvPr id="9" name="question">
            <a:extLst xmlns:a="http://schemas.openxmlformats.org/drawingml/2006/main">
              <a:ext uri="{FF2B5EF4-FFF2-40B4-BE49-F238E27FC236}">
                <a16:creationId xmlns:a16="http://schemas.microsoft.com/office/drawing/2014/main" id="{C74968F4-E9A6-4D84-AF0E-7F1BA111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0000"/>
                </a:solidFill>
              </a:defRPr>
            </a:pPr>
            <a:r>
              <a:rPr sz="2325" b="1" i="0">
                <a:solidFill>
                  <a:srgbClr val="FF0000"/>
                </a:solidFill>
              </a:rPr>
              <a:t>What can history tell you that the current files cannot?</a:t>
            </a:r>
          </a:p>
        </p:txBody>
      </p:sp>
    </p:spTree>
    <p:extLst>
      <p:ext uri="{BB962C8B-B14F-4D97-AF65-F5344CB8AC3E}">
        <p14:creationId xmlns:p14="http://schemas.microsoft.com/office/powerpoint/2010/main" val="375713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A3EB8E-06F4-4F91-ACB3-23184F9B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3333B2"/>
                </a:solidFill>
              </a:defRPr>
            </a:pPr>
            <a:r>
              <a:rPr sz="2925" b="1" i="0">
                <a:solidFill>
                  <a:srgbClr val="3333B2"/>
                </a:solidFill>
              </a:rPr>
              <a:t>Choose a decision before seeing the instructor reveal</a:t>
            </a:r>
          </a:p>
        </p:txBody>
      </p:sp>
      <p:sp>
        <p:nvSpPr>
          <p:cNvPr id="2" name="rule-68-107">
            <a:extLst xmlns:a="http://schemas.openxmlformats.org/drawingml/2006/main">
              <a:ext uri="{FF2B5EF4-FFF2-40B4-BE49-F238E27FC236}">
                <a16:creationId xmlns:a16="http://schemas.microsoft.com/office/drawing/2014/main" id="{CB15050F-EC67-4E96-A96B-D214F8C1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19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BBCC31C-04AB-48FF-A15F-D46FB756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C5C69"/>
                </a:solidFill>
              </a:defRPr>
            </a:pPr>
            <a:r>
              <a:rPr sz="825" b="0" i="0">
                <a:solidFill>
                  <a:srgbClr val="5C5C69"/>
                </a:solidFill>
              </a:rPr>
              <a:t>21 / 23</a:t>
            </a:r>
          </a:p>
        </p:txBody>
      </p:sp>
      <p:sp>
        <p:nvSpPr>
          <p:cNvPr id="4" name="decision-0">
            <a:extLst xmlns:a="http://schemas.openxmlformats.org/drawingml/2006/main">
              <a:ext uri="{FF2B5EF4-FFF2-40B4-BE49-F238E27FC236}">
                <a16:creationId xmlns:a16="http://schemas.microsoft.com/office/drawing/2014/main" id="{48DCB99A-0E43-4474-9DCB-0411F0F7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333B2"/>
                </a:solidFill>
              </a:defRPr>
            </a:pPr>
            <a:r>
              <a:rPr sz="2025" b="1" i="0">
                <a:solidFill>
                  <a:srgbClr val="3333B2"/>
                </a:solidFill>
              </a:rPr>
              <a:t>APPROVE</a:t>
            </a:r>
          </a:p>
        </p:txBody>
      </p:sp>
      <p:sp>
        <p:nvSpPr>
          <p:cNvPr id="5" name="decision-desc-0">
            <a:extLst xmlns:a="http://schemas.openxmlformats.org/drawingml/2006/main">
              <a:ext uri="{FF2B5EF4-FFF2-40B4-BE49-F238E27FC236}">
                <a16:creationId xmlns:a16="http://schemas.microsoft.com/office/drawing/2014/main" id="{A41C8281-2762-4313-88AE-F1161AB9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81125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171C"/>
                </a:solidFill>
              </a:defRPr>
            </a:pPr>
            <a:r>
              <a:rPr sz="1800" b="0" i="0">
                <a:solidFill>
                  <a:srgbClr val="17171C"/>
                </a:solidFill>
              </a:rPr>
              <a:t>design is intentional and supported</a:t>
            </a:r>
          </a:p>
        </p:txBody>
      </p:sp>
      <p:sp>
        <p:nvSpPr>
          <p:cNvPr id="6" name="decision-1">
            <a:extLst xmlns:a="http://schemas.openxmlformats.org/drawingml/2006/main">
              <a:ext uri="{FF2B5EF4-FFF2-40B4-BE49-F238E27FC236}">
                <a16:creationId xmlns:a16="http://schemas.microsoft.com/office/drawing/2014/main" id="{F4C6091C-261B-49E1-813C-40BD0D2D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333B2"/>
                </a:solidFill>
              </a:defRPr>
            </a:pPr>
            <a:r>
              <a:rPr sz="2025" b="1" i="0">
                <a:solidFill>
                  <a:srgbClr val="3333B2"/>
                </a:solidFill>
              </a:rPr>
              <a:t>REPAIR</a:t>
            </a:r>
          </a:p>
        </p:txBody>
      </p:sp>
      <p:sp>
        <p:nvSpPr>
          <p:cNvPr id="7" name="decision-desc-1">
            <a:extLst xmlns:a="http://schemas.openxmlformats.org/drawingml/2006/main">
              <a:ext uri="{FF2B5EF4-FFF2-40B4-BE49-F238E27FC236}">
                <a16:creationId xmlns:a16="http://schemas.microsoft.com/office/drawing/2014/main" id="{C6488860-70EC-45A1-A2E7-065A129C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171C"/>
                </a:solidFill>
              </a:defRPr>
            </a:pPr>
            <a:r>
              <a:rPr sz="1800" b="0" i="0">
                <a:solidFill>
                  <a:srgbClr val="17171C"/>
                </a:solidFill>
              </a:rPr>
              <a:t>a bounded implementation error can be corrected</a:t>
            </a:r>
          </a:p>
        </p:txBody>
      </p:sp>
      <p:sp>
        <p:nvSpPr>
          <p:cNvPr id="8" name="decision-2">
            <a:extLst xmlns:a="http://schemas.openxmlformats.org/drawingml/2006/main">
              <a:ext uri="{FF2B5EF4-FFF2-40B4-BE49-F238E27FC236}">
                <a16:creationId xmlns:a16="http://schemas.microsoft.com/office/drawing/2014/main" id="{B9ABE53D-DC1C-428B-92F4-3AEEE544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333B2"/>
                </a:solidFill>
              </a:defRPr>
            </a:pPr>
            <a:r>
              <a:rPr sz="2025" b="1" i="0">
                <a:solidFill>
                  <a:srgbClr val="3333B2"/>
                </a:solidFill>
              </a:rPr>
              <a:t>BLOCK</a:t>
            </a:r>
          </a:p>
        </p:txBody>
      </p:sp>
      <p:sp>
        <p:nvSpPr>
          <p:cNvPr id="9" name="decision-desc-2">
            <a:extLst xmlns:a="http://schemas.openxmlformats.org/drawingml/2006/main">
              <a:ext uri="{FF2B5EF4-FFF2-40B4-BE49-F238E27FC236}">
                <a16:creationId xmlns:a16="http://schemas.microsoft.com/office/drawing/2014/main" id="{72994F14-105D-4EDA-89D9-6D35B631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171C"/>
                </a:solidFill>
              </a:defRPr>
            </a:pPr>
            <a:r>
              <a:rPr sz="1800" b="0" i="0">
                <a:solidFill>
                  <a:srgbClr val="17171C"/>
                </a:solidFill>
              </a:rPr>
              <a:t>current result should not be presented</a:t>
            </a:r>
          </a:p>
        </p:txBody>
      </p:sp>
      <p:sp>
        <p:nvSpPr>
          <p:cNvPr id="10" name="decision-3">
            <a:extLst xmlns:a="http://schemas.openxmlformats.org/drawingml/2006/main">
              <a:ext uri="{FF2B5EF4-FFF2-40B4-BE49-F238E27FC236}">
                <a16:creationId xmlns:a16="http://schemas.microsoft.com/office/drawing/2014/main" id="{7E49FD93-28A7-42B9-AD43-3E89E7AA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333B2"/>
                </a:solidFill>
              </a:defRPr>
            </a:pPr>
            <a:r>
              <a:rPr sz="2025" b="1" i="0">
                <a:solidFill>
                  <a:srgbClr val="3333B2"/>
                </a:solidFill>
              </a:rPr>
              <a:t>DESIGN REVIEW</a:t>
            </a:r>
          </a:p>
        </p:txBody>
      </p:sp>
      <p:sp>
        <p:nvSpPr>
          <p:cNvPr id="11" name="decision-desc-3">
            <a:extLst xmlns:a="http://schemas.openxmlformats.org/drawingml/2006/main">
              <a:ext uri="{FF2B5EF4-FFF2-40B4-BE49-F238E27FC236}">
                <a16:creationId xmlns:a16="http://schemas.microsoft.com/office/drawing/2014/main" id="{2028EEC4-1919-4D83-AB80-FE90C3B6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81500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171C"/>
                </a:solidFill>
              </a:defRPr>
            </a:pPr>
            <a:r>
              <a:rPr sz="1800" b="0" i="0">
                <a:solidFill>
                  <a:srgbClr val="17171C"/>
                </a:solidFill>
              </a:rPr>
              <a:t>the intended experiment is unresolved</a:t>
            </a:r>
          </a:p>
        </p:txBody>
      </p:sp>
      <p:sp>
        <p:nvSpPr>
          <p:cNvPr id="12" name="sentence">
            <a:extLst xmlns:a="http://schemas.openxmlformats.org/drawingml/2006/main">
              <a:ext uri="{FF2B5EF4-FFF2-40B4-BE49-F238E27FC236}">
                <a16:creationId xmlns:a16="http://schemas.microsoft.com/office/drawing/2014/main" id="{3D6C1AA1-ADCA-43EE-B70A-E5B1488C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BF0040"/>
                </a:solidFill>
              </a:defRPr>
            </a:pPr>
            <a:r>
              <a:rPr sz="1875" b="1" i="0">
                <a:solidFill>
                  <a:srgbClr val="BF0040"/>
                </a:solidFill>
              </a:rPr>
              <a:t>We choose ______ because the decisive evidence is ______.</a:t>
            </a:r>
          </a:p>
        </p:txBody>
      </p:sp>
    </p:spTree>
    <p:extLst>
      <p:ext uri="{BB962C8B-B14F-4D97-AF65-F5344CB8AC3E}">
        <p14:creationId xmlns:p14="http://schemas.microsoft.com/office/powerpoint/2010/main" val="46794477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veal-band">
            <a:extLst xmlns:a="http://schemas.openxmlformats.org/drawingml/2006/main">
              <a:ext uri="{FF2B5EF4-FFF2-40B4-BE49-F238E27FC236}">
                <a16:creationId xmlns:a16="http://schemas.microsoft.com/office/drawing/2014/main" id="{ADB13262-BC6F-48E1-8532-0BBE98D6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0">
            <a:solidFill>
              <a:srgbClr val="FF0000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4C7B15-56A3-4E04-930D-AD8BF168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0000"/>
                </a:solidFill>
              </a:defRPr>
            </a:pPr>
            <a:r>
              <a:rPr sz="2925" b="1" i="0">
                <a:solidFill>
                  <a:srgbClr val="FF0000"/>
                </a:solidFill>
              </a:rPr>
              <a:t>REVEAL — The inherited file changed the experiment</a:t>
            </a:r>
          </a:p>
        </p:txBody>
      </p:sp>
      <p:sp>
        <p:nvSpPr>
          <p:cNvPr id="3" name="rule-68-107">
            <a:extLst xmlns:a="http://schemas.openxmlformats.org/drawingml/2006/main">
              <a:ext uri="{FF2B5EF4-FFF2-40B4-BE49-F238E27FC236}">
                <a16:creationId xmlns:a16="http://schemas.microsoft.com/office/drawing/2014/main" id="{3D148290-F186-4BD3-8C1A-DB3997F6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19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5C530F9-6275-43C3-88CC-84F783CF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C5C69"/>
                </a:solidFill>
              </a:defRPr>
            </a:pPr>
            <a:r>
              <a:rPr sz="825" b="0" i="0">
                <a:solidFill>
                  <a:srgbClr val="5C5C69"/>
                </a:solidFill>
              </a:rPr>
              <a:t>22 / 23</a:t>
            </a:r>
          </a:p>
        </p:txBody>
      </p:sp>
      <p:sp>
        <p:nvSpPr>
          <p:cNvPr id="5" name="reveal-bg">
            <a:extLst xmlns:a="http://schemas.openxmlformats.org/drawingml/2006/main">
              <a:ext uri="{FF2B5EF4-FFF2-40B4-BE49-F238E27FC236}">
                <a16:creationId xmlns:a16="http://schemas.microsoft.com/office/drawing/2014/main" id="{775C522E-02A0-4025-A1C5-41AA1498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9537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ows">
            <a:extLst xmlns:a="http://schemas.openxmlformats.org/drawingml/2006/main">
              <a:ext uri="{FF2B5EF4-FFF2-40B4-BE49-F238E27FC236}">
                <a16:creationId xmlns:a16="http://schemas.microsoft.com/office/drawing/2014/main" id="{46F2C5EF-205D-4A3F-9DE9-5FE6FBA2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0000"/>
                </a:solidFill>
              </a:defRPr>
            </a:pPr>
            <a:r>
              <a:rPr sz="2850" b="1" i="0">
                <a:solidFill>
                  <a:srgbClr val="FF0000"/>
                </a:solidFill>
              </a:rPr>
              <a:t>3,430 rows</a:t>
            </a:r>
          </a:p>
        </p:txBody>
      </p:sp>
      <p:sp>
        <p:nvSpPr>
          <p:cNvPr id="7" name="ids">
            <a:extLst xmlns:a="http://schemas.openxmlformats.org/drawingml/2006/main">
              <a:ext uri="{FF2B5EF4-FFF2-40B4-BE49-F238E27FC236}">
                <a16:creationId xmlns:a16="http://schemas.microsoft.com/office/drawing/2014/main" id="{A787AA43-C257-4355-9979-B5A39E20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430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7171C"/>
                </a:solidFill>
              </a:defRPr>
            </a:pPr>
            <a:r>
              <a:rPr sz="2175" b="1" i="0">
                <a:solidFill>
                  <a:srgbClr val="17171C"/>
                </a:solidFill>
              </a:rPr>
              <a:t>but only 3,000 applicant IDs</a:t>
            </a:r>
          </a:p>
        </p:txBody>
      </p:sp>
      <p:sp>
        <p:nvSpPr>
          <p:cNvPr id="8" name="dups">
            <a:extLst xmlns:a="http://schemas.openxmlformats.org/drawingml/2006/main">
              <a:ext uri="{FF2B5EF4-FFF2-40B4-BE49-F238E27FC236}">
                <a16:creationId xmlns:a16="http://schemas.microsoft.com/office/drawing/2014/main" id="{7AE5636E-6C5E-4B5B-9E78-983763D8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7171C"/>
                </a:solidFill>
              </a:defRPr>
            </a:pPr>
            <a:r>
              <a:rPr sz="2025" b="0" i="0">
                <a:solidFill>
                  <a:srgbClr val="17171C"/>
                </a:solidFill>
              </a:rPr>
              <a:t>350 applicant IDs are duplicated.</a:t>
            </a:r>
          </a:p>
        </p:txBody>
      </p:sp>
      <p:sp>
        <p:nvSpPr>
          <p:cNvPr id="9" name="concentration">
            <a:extLst xmlns:a="http://schemas.openxmlformats.org/drawingml/2006/main">
              <a:ext uri="{FF2B5EF4-FFF2-40B4-BE49-F238E27FC236}">
                <a16:creationId xmlns:a16="http://schemas.microsoft.com/office/drawing/2014/main" id="{27F8EC9E-D61C-45A9-AE4B-1280CAC0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7171C"/>
                </a:solidFill>
              </a:defRPr>
            </a:pPr>
            <a:r>
              <a:rPr sz="2025" b="0" i="0">
                <a:solidFill>
                  <a:srgbClr val="17171C"/>
                </a:solidFill>
              </a:rPr>
              <a:t>Duplicates are concentrated among applicants offered training.</a:t>
            </a:r>
          </a:p>
        </p:txBody>
      </p:sp>
      <p:sp>
        <p:nvSpPr>
          <p:cNvPr id="10" name="replacement">
            <a:extLst xmlns:a="http://schemas.openxmlformats.org/drawingml/2006/main">
              <a:ext uri="{FF2B5EF4-FFF2-40B4-BE49-F238E27FC236}">
                <a16:creationId xmlns:a16="http://schemas.microsoft.com/office/drawing/2014/main" id="{63BCF7F3-BFC8-4563-956D-A571C03B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1009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0000"/>
                </a:solidFill>
              </a:defRPr>
            </a:pPr>
            <a:r>
              <a:rPr sz="2025" b="1" i="0">
                <a:solidFill>
                  <a:srgbClr val="FF0000"/>
                </a:solidFill>
              </a:rPr>
              <a:t>The inherited analysis used program_participant as treatment instead of randomized offered_training.</a:t>
            </a:r>
          </a:p>
        </p:txBody>
      </p:sp>
      <p:sp>
        <p:nvSpPr>
          <p:cNvPr id="11" name="rule-92-436">
            <a:extLst xmlns:a="http://schemas.openxmlformats.org/drawingml/2006/main">
              <a:ext uri="{FF2B5EF4-FFF2-40B4-BE49-F238E27FC236}">
                <a16:creationId xmlns:a16="http://schemas.microsoft.com/office/drawing/2014/main" id="{59F7BC64-DE92-4EA0-B43E-8408FD13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0">
            <a:solidFill>
              <a:srgbClr val="FF0000"/>
            </a:solidFill>
            <a:prstDash val="solid"/>
          </a:ln>
        </p:spPr>
      </p:sp>
      <p:sp>
        <p:nvSpPr>
          <p:cNvPr id="12" name="decision">
            <a:extLst xmlns:a="http://schemas.openxmlformats.org/drawingml/2006/main">
              <a:ext uri="{FF2B5EF4-FFF2-40B4-BE49-F238E27FC236}">
                <a16:creationId xmlns:a16="http://schemas.microsoft.com/office/drawing/2014/main" id="{FA95C062-26DC-4FD2-A27D-4A3F629E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0000"/>
                </a:solidFill>
              </a:defRPr>
            </a:pPr>
            <a:r>
              <a:rPr sz="2700" b="1" i="0">
                <a:solidFill>
                  <a:srgbClr val="FF0000"/>
                </a:solidFill>
              </a:rPr>
              <a:t>Decision: BLOCK</a:t>
            </a:r>
          </a:p>
        </p:txBody>
      </p:sp>
      <p:sp>
        <p:nvSpPr>
          <p:cNvPr id="13" name="repair">
            <a:extLst xmlns:a="http://schemas.openxmlformats.org/drawingml/2006/main">
              <a:ext uri="{FF2B5EF4-FFF2-40B4-BE49-F238E27FC236}">
                <a16:creationId xmlns:a16="http://schemas.microsoft.com/office/drawing/2014/main" id="{288B6181-9926-4E9A-9D4D-F293C0BA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171C"/>
                </a:solidFill>
              </a:defRPr>
            </a:pPr>
            <a:r>
              <a:rPr sz="1650" b="1" i="0">
                <a:solidFill>
                  <a:srgbClr val="17171C"/>
                </a:solidFill>
              </a:rPr>
              <a:t>offered_training remains in the CSV. Repair at the applicant level: treat attendance as a diagnostic; keep offered_training as treatment.</a:t>
            </a:r>
          </a:p>
        </p:txBody>
      </p:sp>
    </p:spTree>
    <p:extLst>
      <p:ext uri="{BB962C8B-B14F-4D97-AF65-F5344CB8AC3E}">
        <p14:creationId xmlns:p14="http://schemas.microsoft.com/office/powerpoint/2010/main" val="159263681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EFE116-084A-4C3E-A931-040CE59E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3333B2"/>
                </a:solidFill>
              </a:defRPr>
            </a:pPr>
            <a:r>
              <a:rPr sz="2925" b="1" i="0">
                <a:solidFill>
                  <a:srgbClr val="3333B2"/>
                </a:solidFill>
              </a:rPr>
              <a:t>Two workflows protect the same research standard</a:t>
            </a:r>
          </a:p>
        </p:txBody>
      </p:sp>
      <p:sp>
        <p:nvSpPr>
          <p:cNvPr id="2" name="rule-68-107">
            <a:extLst xmlns:a="http://schemas.openxmlformats.org/drawingml/2006/main">
              <a:ext uri="{FF2B5EF4-FFF2-40B4-BE49-F238E27FC236}">
                <a16:creationId xmlns:a16="http://schemas.microsoft.com/office/drawing/2014/main" id="{795F5C7D-65A3-4C37-AD02-8621C4CA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19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40504AD-19DF-4FB5-A243-D769A127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C5C69"/>
                </a:solidFill>
              </a:defRPr>
            </a:pPr>
            <a:r>
              <a:rPr sz="825" b="0" i="0">
                <a:solidFill>
                  <a:srgbClr val="5C5C69"/>
                </a:solidFill>
              </a:rPr>
              <a:t>23 / 23</a:t>
            </a:r>
          </a:p>
        </p:txBody>
      </p:sp>
      <p:sp>
        <p:nvSpPr>
          <p:cNvPr id="4" name="clean-head">
            <a:extLst xmlns:a="http://schemas.openxmlformats.org/drawingml/2006/main">
              <a:ext uri="{FF2B5EF4-FFF2-40B4-BE49-F238E27FC236}">
                <a16:creationId xmlns:a16="http://schemas.microsoft.com/office/drawing/2014/main" id="{29A29EB3-0AFE-4662-AF96-1E577A97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573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333B2"/>
                </a:solidFill>
              </a:defRPr>
            </a:pPr>
            <a:r>
              <a:rPr sz="1650" b="1" i="0">
                <a:solidFill>
                  <a:srgbClr val="3333B2"/>
                </a:solidFill>
              </a:rPr>
              <a:t>CLEAN WORKFLOW</a:t>
            </a:r>
          </a:p>
        </p:txBody>
      </p:sp>
      <p:sp>
        <p:nvSpPr>
          <p:cNvPr id="5" name="clean">
            <a:extLst xmlns:a="http://schemas.openxmlformats.org/drawingml/2006/main">
              <a:ext uri="{FF2B5EF4-FFF2-40B4-BE49-F238E27FC236}">
                <a16:creationId xmlns:a16="http://schemas.microsoft.com/office/drawing/2014/main" id="{DFCD9E91-81A5-4583-A41B-D6EA2F25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7171C"/>
                </a:solidFill>
              </a:defRPr>
            </a:pPr>
            <a:r>
              <a:rPr sz="2175" b="1" i="0">
                <a:solidFill>
                  <a:srgbClr val="17171C"/>
                </a:solidFill>
              </a:rPr>
              <a:t>prevents drift by making the experiment explicit before analysis.</a:t>
            </a:r>
          </a:p>
        </p:txBody>
      </p:sp>
      <p:sp>
        <p:nvSpPr>
          <p:cNvPr id="6" name="rule-84-300">
            <a:extLst xmlns:a="http://schemas.openxmlformats.org/drawingml/2006/main">
              <a:ext uri="{FF2B5EF4-FFF2-40B4-BE49-F238E27FC236}">
                <a16:creationId xmlns:a16="http://schemas.microsoft.com/office/drawing/2014/main" id="{683952C3-196F-4D0D-8D57-CB7ABD27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6"/>
          </a:solidFill>
          <a:ln xmlns:a="http://schemas.openxmlformats.org/drawingml/2006/main" w="0">
            <a:solidFill>
              <a:srgbClr val="D9D9E6"/>
            </a:solidFill>
            <a:prstDash val="solid"/>
          </a:ln>
        </p:spPr>
      </p:sp>
      <p:sp>
        <p:nvSpPr>
          <p:cNvPr id="7" name="forensic-head">
            <a:extLst xmlns:a="http://schemas.openxmlformats.org/drawingml/2006/main">
              <a:ext uri="{FF2B5EF4-FFF2-40B4-BE49-F238E27FC236}">
                <a16:creationId xmlns:a16="http://schemas.microsoft.com/office/drawing/2014/main" id="{26B57E75-5212-413B-A10E-4D75F459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333B2"/>
                </a:solidFill>
              </a:defRPr>
            </a:pPr>
            <a:r>
              <a:rPr sz="1650" b="1" i="0">
                <a:solidFill>
                  <a:srgbClr val="3333B2"/>
                </a:solidFill>
              </a:rPr>
              <a:t>FORENSIC WORKFLOW</a:t>
            </a:r>
          </a:p>
        </p:txBody>
      </p:sp>
      <p:sp>
        <p:nvSpPr>
          <p:cNvPr id="8" name="forensic">
            <a:extLst xmlns:a="http://schemas.openxmlformats.org/drawingml/2006/main">
              <a:ext uri="{FF2B5EF4-FFF2-40B4-BE49-F238E27FC236}">
                <a16:creationId xmlns:a16="http://schemas.microsoft.com/office/drawing/2014/main" id="{01FBCE85-E82B-4FEA-8B06-F3B07C6D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7171C"/>
                </a:solidFill>
              </a:defRPr>
            </a:pPr>
            <a:r>
              <a:rPr sz="2175" b="1" i="0">
                <a:solidFill>
                  <a:srgbClr val="17171C"/>
                </a:solidFill>
              </a:rPr>
              <a:t>reconstructs drift by tracing files, keys, transformations, and history.</a:t>
            </a:r>
          </a:p>
        </p:txBody>
      </p:sp>
      <p:sp>
        <p:nvSpPr>
          <p:cNvPr id="9" name="sequence">
            <a:extLst xmlns:a="http://schemas.openxmlformats.org/drawingml/2006/main">
              <a:ext uri="{FF2B5EF4-FFF2-40B4-BE49-F238E27FC236}">
                <a16:creationId xmlns:a16="http://schemas.microsoft.com/office/drawing/2014/main" id="{173CFDA2-728B-4A4B-BEDD-A2335005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9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BF0040"/>
                </a:solidFill>
              </a:defRPr>
            </a:pPr>
            <a:r>
              <a:rPr sz="2025" b="1" i="0">
                <a:solidFill>
                  <a:srgbClr val="BF0040"/>
                </a:solidFill>
              </a:rPr>
              <a:t>Inspect  →  Contract  →  Authorize  →  Diff  →  Review  →  Commit</a:t>
            </a:r>
          </a:p>
        </p:txBody>
      </p:sp>
    </p:spTree>
    <p:extLst>
      <p:ext uri="{BB962C8B-B14F-4D97-AF65-F5344CB8AC3E}">
        <p14:creationId xmlns:p14="http://schemas.microsoft.com/office/powerpoint/2010/main" val="19642059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2026-07-26T05:30:31.8150000Z</dcterms:created>
  <dcterms:modified xsi:type="dcterms:W3CDTF">2026-07-26T05:30:31.8150000Z</dcterms:modified>
</coreProperties>
</file>