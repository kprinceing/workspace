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c9ce7ac31ff4bd0" /><Relationship Type="http://schemas.openxmlformats.org/officeDocument/2006/relationships/extended-properties" Target="/docProps/app.xml" Id="Ra18466933680454a" /><Relationship Type="http://schemas.openxmlformats.org/officeDocument/2006/relationships/officeDocument" Target="/ppt/presentation.xml" Id="Rcafd7231f86846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e5f7b1b223b46d9"/>
  </p:sldMasterIdLst>
  <p:notesMasterIdLst>
    <p:notesMasterId xmlns:r="http://schemas.openxmlformats.org/officeDocument/2006/relationships" r:id="R05aa67b5adc74665"/>
  </p:notesMasterIdLst>
  <p:sldIdLst>
    <p:sldId xmlns:r="http://schemas.openxmlformats.org/officeDocument/2006/relationships" id="256" r:id="Rfd651d44a03e4d55"/>
    <p:sldId xmlns:r="http://schemas.openxmlformats.org/officeDocument/2006/relationships" id="257" r:id="R7e9c24de386a49f8"/>
    <p:sldId xmlns:r="http://schemas.openxmlformats.org/officeDocument/2006/relationships" id="258" r:id="Ra6d6e37968ae4f1f"/>
    <p:sldId xmlns:r="http://schemas.openxmlformats.org/officeDocument/2006/relationships" id="259" r:id="R9ca4f8c2aff54080"/>
    <p:sldId xmlns:r="http://schemas.openxmlformats.org/officeDocument/2006/relationships" id="260" r:id="R1de228f91d664d31"/>
    <p:sldId xmlns:r="http://schemas.openxmlformats.org/officeDocument/2006/relationships" id="261" r:id="Reb73461460454fc3"/>
    <p:sldId xmlns:r="http://schemas.openxmlformats.org/officeDocument/2006/relationships" id="262" r:id="R25f942f45ad54a29"/>
    <p:sldId xmlns:r="http://schemas.openxmlformats.org/officeDocument/2006/relationships" id="263" r:id="R101cc016a6c140d1"/>
    <p:sldId xmlns:r="http://schemas.openxmlformats.org/officeDocument/2006/relationships" id="264" r:id="R00332fb69a164079"/>
    <p:sldId xmlns:r="http://schemas.openxmlformats.org/officeDocument/2006/relationships" id="265" r:id="R3a5266a7160f47ae"/>
    <p:sldId xmlns:r="http://schemas.openxmlformats.org/officeDocument/2006/relationships" id="266" r:id="R27758c37ff1f4041"/>
    <p:sldId xmlns:r="http://schemas.openxmlformats.org/officeDocument/2006/relationships" id="267" r:id="R4d1e0aed6ce64ede"/>
    <p:sldId xmlns:r="http://schemas.openxmlformats.org/officeDocument/2006/relationships" id="268" r:id="R110788e38f9e42a0"/>
    <p:sldId xmlns:r="http://schemas.openxmlformats.org/officeDocument/2006/relationships" id="269" r:id="Re683d5472e32499a"/>
    <p:sldId xmlns:r="http://schemas.openxmlformats.org/officeDocument/2006/relationships" id="270" r:id="Rbd4c8bf987164e3e"/>
    <p:sldId xmlns:r="http://schemas.openxmlformats.org/officeDocument/2006/relationships" id="271" r:id="Ra72799b4b9b1402e"/>
    <p:sldId xmlns:r="http://schemas.openxmlformats.org/officeDocument/2006/relationships" id="272" r:id="Rf5dc64c4c4ad43eb"/>
    <p:sldId xmlns:r="http://schemas.openxmlformats.org/officeDocument/2006/relationships" id="273" r:id="Rfdc25cf90d6d4a68"/>
    <p:sldId xmlns:r="http://schemas.openxmlformats.org/officeDocument/2006/relationships" id="274" r:id="R05ab3441cb754d4d"/>
    <p:sldId xmlns:r="http://schemas.openxmlformats.org/officeDocument/2006/relationships" id="275" r:id="R458d04648f4e498e"/>
    <p:sldId xmlns:r="http://schemas.openxmlformats.org/officeDocument/2006/relationships" id="276" r:id="R372cf4d4fbfa4241"/>
    <p:sldId xmlns:r="http://schemas.openxmlformats.org/officeDocument/2006/relationships" id="277" r:id="Rc29c332078f94b63"/>
    <p:sldId xmlns:r="http://schemas.openxmlformats.org/officeDocument/2006/relationships" id="278" r:id="Rec008b1552924f36"/>
    <p:sldId xmlns:r="http://schemas.openxmlformats.org/officeDocument/2006/relationships" id="279" r:id="R8002191bcc084e10"/>
    <p:sldId xmlns:r="http://schemas.openxmlformats.org/officeDocument/2006/relationships" id="280" r:id="R597adb42411e4e7a"/>
    <p:sldId xmlns:r="http://schemas.openxmlformats.org/officeDocument/2006/relationships" id="281" r:id="R7852d0446a4e44b8"/>
    <p:sldId xmlns:r="http://schemas.openxmlformats.org/officeDocument/2006/relationships" id="282" r:id="R68f3d8b9f55e49fa"/>
    <p:sldId xmlns:r="http://schemas.openxmlformats.org/officeDocument/2006/relationships" id="283" r:id="R8e4aeae810a346f4"/>
    <p:sldId xmlns:r="http://schemas.openxmlformats.org/officeDocument/2006/relationships" id="284" r:id="R9842b636111f4d7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9dbe263dd6c49e5" /><Relationship Type="http://schemas.openxmlformats.org/officeDocument/2006/relationships/slideMaster" Target="/ppt/slideMasters/slideMaster1.xml" Id="R8e5f7b1b223b46d9" /><Relationship Type="http://schemas.openxmlformats.org/officeDocument/2006/relationships/notesMaster" Target="/ppt/notesMasters/notesMaster1.xml" Id="R05aa67b5adc74665" /><Relationship Type="http://schemas.openxmlformats.org/officeDocument/2006/relationships/presProps" Target="/ppt/presProps.xml" Id="Rd8eef5075abc47d7" /><Relationship Type="http://schemas.openxmlformats.org/officeDocument/2006/relationships/tableStyles" Target="/ppt/tableStyles.xml" Id="Rb2c19c3009bd45d7" /><Relationship Type="http://schemas.openxmlformats.org/officeDocument/2006/relationships/slide" Target="/ppt/slides/slide1.xml" Id="Rfd651d44a03e4d55" /><Relationship Type="http://schemas.openxmlformats.org/officeDocument/2006/relationships/slide" Target="/ppt/slides/slide2.xml" Id="R7e9c24de386a49f8" /><Relationship Type="http://schemas.openxmlformats.org/officeDocument/2006/relationships/slide" Target="/ppt/slides/slide3.xml" Id="Ra6d6e37968ae4f1f" /><Relationship Type="http://schemas.openxmlformats.org/officeDocument/2006/relationships/slide" Target="/ppt/slides/slide4.xml" Id="R9ca4f8c2aff54080" /><Relationship Type="http://schemas.openxmlformats.org/officeDocument/2006/relationships/slide" Target="/ppt/slides/slide5.xml" Id="R1de228f91d664d31" /><Relationship Type="http://schemas.openxmlformats.org/officeDocument/2006/relationships/slide" Target="/ppt/slides/slide6.xml" Id="Reb73461460454fc3" /><Relationship Type="http://schemas.openxmlformats.org/officeDocument/2006/relationships/slide" Target="/ppt/slides/slide7.xml" Id="R25f942f45ad54a29" /><Relationship Type="http://schemas.openxmlformats.org/officeDocument/2006/relationships/slide" Target="/ppt/slides/slide8.xml" Id="R101cc016a6c140d1" /><Relationship Type="http://schemas.openxmlformats.org/officeDocument/2006/relationships/slide" Target="/ppt/slides/slide9.xml" Id="R00332fb69a164079" /><Relationship Type="http://schemas.openxmlformats.org/officeDocument/2006/relationships/slide" Target="/ppt/slides/slide10.xml" Id="R3a5266a7160f47ae" /><Relationship Type="http://schemas.openxmlformats.org/officeDocument/2006/relationships/slide" Target="/ppt/slides/slide11.xml" Id="R27758c37ff1f4041" /><Relationship Type="http://schemas.openxmlformats.org/officeDocument/2006/relationships/slide" Target="/ppt/slides/slide12.xml" Id="R4d1e0aed6ce64ede" /><Relationship Type="http://schemas.openxmlformats.org/officeDocument/2006/relationships/slide" Target="/ppt/slides/slide13.xml" Id="R110788e38f9e42a0" /><Relationship Type="http://schemas.openxmlformats.org/officeDocument/2006/relationships/slide" Target="/ppt/slides/slide14.xml" Id="Re683d5472e32499a" /><Relationship Type="http://schemas.openxmlformats.org/officeDocument/2006/relationships/slide" Target="/ppt/slides/slide15.xml" Id="Rbd4c8bf987164e3e" /><Relationship Type="http://schemas.openxmlformats.org/officeDocument/2006/relationships/slide" Target="/ppt/slides/slide16.xml" Id="Ra72799b4b9b1402e" /><Relationship Type="http://schemas.openxmlformats.org/officeDocument/2006/relationships/slide" Target="/ppt/slides/slide17.xml" Id="Rf5dc64c4c4ad43eb" /><Relationship Type="http://schemas.openxmlformats.org/officeDocument/2006/relationships/slide" Target="/ppt/slides/slide18.xml" Id="Rfdc25cf90d6d4a68" /><Relationship Type="http://schemas.openxmlformats.org/officeDocument/2006/relationships/slide" Target="/ppt/slides/slide19.xml" Id="R05ab3441cb754d4d" /><Relationship Type="http://schemas.openxmlformats.org/officeDocument/2006/relationships/slide" Target="/ppt/slides/slide20.xml" Id="R458d04648f4e498e" /><Relationship Type="http://schemas.openxmlformats.org/officeDocument/2006/relationships/slide" Target="/ppt/slides/slide21.xml" Id="R372cf4d4fbfa4241" /><Relationship Type="http://schemas.openxmlformats.org/officeDocument/2006/relationships/slide" Target="/ppt/slides/slide22.xml" Id="Rc29c332078f94b63" /><Relationship Type="http://schemas.openxmlformats.org/officeDocument/2006/relationships/slide" Target="/ppt/slides/slide23.xml" Id="Rec008b1552924f36" /><Relationship Type="http://schemas.openxmlformats.org/officeDocument/2006/relationships/slide" Target="/ppt/slides/slide24.xml" Id="R8002191bcc084e10" /><Relationship Type="http://schemas.openxmlformats.org/officeDocument/2006/relationships/slide" Target="/ppt/slides/slide25.xml" Id="R597adb42411e4e7a" /><Relationship Type="http://schemas.openxmlformats.org/officeDocument/2006/relationships/slide" Target="/ppt/slides/slide26.xml" Id="R7852d0446a4e44b8" /><Relationship Type="http://schemas.openxmlformats.org/officeDocument/2006/relationships/slide" Target="/ppt/slides/slide27.xml" Id="R68f3d8b9f55e49fa" /><Relationship Type="http://schemas.openxmlformats.org/officeDocument/2006/relationships/slide" Target="/ppt/slides/slide28.xml" Id="R8e4aeae810a346f4" /><Relationship Type="http://schemas.openxmlformats.org/officeDocument/2006/relationships/slide" Target="/ppt/slides/slide29.xml" Id="R9842b636111f4d7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973560b8a69427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d76820c20ae4556" /><Relationship Type="http://schemas.openxmlformats.org/officeDocument/2006/relationships/notesMaster" Target="/ppt/notesMasters/notesMaster1.xml" Id="Reda63be15cb8471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c7923d5934b4c43" /><Relationship Type="http://schemas.openxmlformats.org/officeDocument/2006/relationships/notesMaster" Target="/ppt/notesMasters/notesMaster1.xml" Id="R72a5e09550f8430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2e8a0526def439c" /><Relationship Type="http://schemas.openxmlformats.org/officeDocument/2006/relationships/notesMaster" Target="/ppt/notesMasters/notesMaster1.xml" Id="R433bf59f8210462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d0dd603b5704323" /><Relationship Type="http://schemas.openxmlformats.org/officeDocument/2006/relationships/notesMaster" Target="/ppt/notesMasters/notesMaster1.xml" Id="Red3402a98f5b4f9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b958e11586d4cce" /><Relationship Type="http://schemas.openxmlformats.org/officeDocument/2006/relationships/notesMaster" Target="/ppt/notesMasters/notesMaster1.xml" Id="R1d47d428dc7c460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e12ff257b76407f" /><Relationship Type="http://schemas.openxmlformats.org/officeDocument/2006/relationships/notesMaster" Target="/ppt/notesMasters/notesMaster1.xml" Id="R6eeb88d332714c3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85dc77f7b5c4f37" /><Relationship Type="http://schemas.openxmlformats.org/officeDocument/2006/relationships/notesMaster" Target="/ppt/notesMasters/notesMaster1.xml" Id="Rb7a79e5654024cd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2af8212da684c7f" /><Relationship Type="http://schemas.openxmlformats.org/officeDocument/2006/relationships/notesMaster" Target="/ppt/notesMasters/notesMaster1.xml" Id="Rbee9eb74f05f404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9bc1fe6fd434db8" /><Relationship Type="http://schemas.openxmlformats.org/officeDocument/2006/relationships/notesMaster" Target="/ppt/notesMasters/notesMaster1.xml" Id="R2c38bfed7728419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a3bea7ea3b84194" /><Relationship Type="http://schemas.openxmlformats.org/officeDocument/2006/relationships/notesMaster" Target="/ppt/notesMasters/notesMaster1.xml" Id="R647737090a0748a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9a3da05c1f040b5" /><Relationship Type="http://schemas.openxmlformats.org/officeDocument/2006/relationships/notesMaster" Target="/ppt/notesMasters/notesMaster1.xml" Id="R9dabf59bf222487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4f0cbcc88cb4fdf" /><Relationship Type="http://schemas.openxmlformats.org/officeDocument/2006/relationships/notesMaster" Target="/ppt/notesMasters/notesMaster1.xml" Id="R25f87261488e472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c8bfbe913354105" /><Relationship Type="http://schemas.openxmlformats.org/officeDocument/2006/relationships/notesMaster" Target="/ppt/notesMasters/notesMaster1.xml" Id="R0f3ac03422b0468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34e482e803c47c2" /><Relationship Type="http://schemas.openxmlformats.org/officeDocument/2006/relationships/notesMaster" Target="/ppt/notesMasters/notesMaster1.xml" Id="Rebc0b270540b431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ab4bcc9001b43c4" /><Relationship Type="http://schemas.openxmlformats.org/officeDocument/2006/relationships/notesMaster" Target="/ppt/notesMasters/notesMaster1.xml" Id="R3d19b2b5ffe9404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95cdd5309014f37" /><Relationship Type="http://schemas.openxmlformats.org/officeDocument/2006/relationships/notesMaster" Target="/ppt/notesMasters/notesMaster1.xml" Id="Re9b4c51006ec473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4a22b5c418d4605" /><Relationship Type="http://schemas.openxmlformats.org/officeDocument/2006/relationships/notesMaster" Target="/ppt/notesMasters/notesMaster1.xml" Id="R22eeb1788e6c4c2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29ecfcefe534d87" /><Relationship Type="http://schemas.openxmlformats.org/officeDocument/2006/relationships/notesMaster" Target="/ppt/notesMasters/notesMaster1.xml" Id="Rb47c2ef2211d44d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4b667ed619c4e76" /><Relationship Type="http://schemas.openxmlformats.org/officeDocument/2006/relationships/notesMaster" Target="/ppt/notesMasters/notesMaster1.xml" Id="R830f90962a5a44e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4318641fd324234" /><Relationship Type="http://schemas.openxmlformats.org/officeDocument/2006/relationships/notesMaster" Target="/ppt/notesMasters/notesMaster1.xml" Id="R94ea20f890354d4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028fb16154b48d2" /><Relationship Type="http://schemas.openxmlformats.org/officeDocument/2006/relationships/notesMaster" Target="/ppt/notesMasters/notesMaster1.xml" Id="Reb94d2cc98c24ad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8c912fd5ab34c98" /><Relationship Type="http://schemas.openxmlformats.org/officeDocument/2006/relationships/notesMaster" Target="/ppt/notesMasters/notesMaster1.xml" Id="R8d89d3d4c109485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6c82fd92c6e44a4" /><Relationship Type="http://schemas.openxmlformats.org/officeDocument/2006/relationships/notesMaster" Target="/ppt/notesMasters/notesMaster1.xml" Id="R0662a179249f4ea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35a1071e9d840c9" /><Relationship Type="http://schemas.openxmlformats.org/officeDocument/2006/relationships/notesMaster" Target="/ppt/notesMasters/notesMaster1.xml" Id="Rc8da450ae1cf423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784bc2531634a75" /><Relationship Type="http://schemas.openxmlformats.org/officeDocument/2006/relationships/notesMaster" Target="/ppt/notesMasters/notesMaster1.xml" Id="Raea598129550477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00b90970d3f4d90" /><Relationship Type="http://schemas.openxmlformats.org/officeDocument/2006/relationships/notesMaster" Target="/ppt/notesMasters/notesMaster1.xml" Id="R7f1d571ba17c4e8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72751ffb0b94c0a" /><Relationship Type="http://schemas.openxmlformats.org/officeDocument/2006/relationships/notesMaster" Target="/ppt/notesMasters/notesMaster1.xml" Id="Rc3ce52fafcef46c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6a0687ed4a642d1" /><Relationship Type="http://schemas.openxmlformats.org/officeDocument/2006/relationships/notesMaster" Target="/ppt/notesMasters/notesMaster1.xml" Id="R9e2a967b3e7242d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de2aba191344f42" /><Relationship Type="http://schemas.openxmlformats.org/officeDocument/2006/relationships/notesMaster" Target="/ppt/notesMasters/notesMaster1.xml" Id="Rccaae235eac346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2 minutes. Frame the afternoon as two complementary missions. Do not preview the inherited-analysis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5 minutes. Students install only the option for their operating system, verify the executable, and configure commit identity.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https://git-scm.com/downloads</a:t>
            </a:r>
          </a:p>
          <a:p xmlns:a="http://schemas.openxmlformats.org/drawingml/2006/main">
            <a:r>
              <a:t>https://git-scm.com/install/linux</a:t>
            </a:r>
          </a:p>
          <a:p xmlns:a="http://schemas.openxmlformats.org/drawingml/2006/main">
            <a:r>
              <a:t>https://formulae.brew.sh/formula/git</a:t>
            </a:r>
          </a:p>
          <a:p xmlns:a="http://schemas.openxmlformats.org/drawingml/2006/main">
            <a:r>
              <a:t>https://learn.microsoft.com/windows/package-manager/winget/</a:t>
            </a:r>
          </a:p>
          <a:p xmlns:a="http://schemas.openxmlformats.org/drawingml/2006/main">
            <a:r>
              <a:t>https://git-scm.com/book/en/v2/Getting-Started-First-Time-Git-Setup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 minutes. Students choose one install method, run the two checks, then launch Claude Code once from the lab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https://github.com/anthropics/claude-code</a:t>
            </a:r>
          </a:p>
          <a:p xmlns:a="http://schemas.openxmlformats.org/drawingml/2006/main">
            <a:r>
              <a:t>https://code.claude.com/docs/en/setup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 minutes. Students choose one installation path, verify the CLI version, and launch Codex from the lab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https://github.com/openai/codex</a:t>
            </a:r>
          </a:p>
          <a:p xmlns:a="http://schemas.openxmlformats.org/drawingml/2006/main">
            <a:r>
              <a:t>https://github.com/openai/codex/blob/main/README.md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7 minutes. Install from the official project only. On first launch, import existing configs, add or select the intended provider, Enable it, then restart the relevant CLI if needed.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https://github.com/farion1231/cc-switch</a:t>
            </a:r>
          </a:p>
          <a:p xmlns:a="http://schemas.openxmlformats.org/drawingml/2006/main">
            <a:r>
              <a:t>https://github.com/farion1231/cc-switch/releases</a:t>
            </a:r>
          </a:p>
          <a:p xmlns:a="http://schemas.openxmlformats.org/drawingml/2006/main">
            <a:r>
              <a:t>https://ccswitch.io</a:t>
            </a:r>
          </a:p>
          <a:p xmlns:a="http://schemas.openxmlformats.org/drawingml/2006/main">
            <a:r>
              <a:t>https://docs.github.com/en/authentication/keeping-your-account-and-data-secure/removing-sensitive-data-from-a-repository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90 seconds after installation. Run the checklist as a class; pair students across operating systems for quick troubleshooting.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https://git-scm.com/downloads</a:t>
            </a:r>
          </a:p>
          <a:p xmlns:a="http://schemas.openxmlformats.org/drawingml/2006/main">
            <a:r>
              <a:t>https://code.claude.com/docs/en/setup</a:t>
            </a:r>
          </a:p>
          <a:p xmlns:a="http://schemas.openxmlformats.org/drawingml/2006/main">
            <a:r>
              <a:t>https://github.com/openai/codex</a:t>
            </a:r>
          </a:p>
          <a:p xmlns:a="http://schemas.openxmlformats.org/drawingml/2006/main">
            <a:r>
              <a:t>https://github.com/farion1231/cc-switch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 minutes. Run the recommended installer, open a new terminal so the environment loads, install StatsClaw through /plugins, and verify with either natural language or $review.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https://github.com/statsclaw/statsclaw-codex</a:t>
            </a:r>
          </a:p>
          <a:p xmlns:a="http://schemas.openxmlformats.org/drawingml/2006/main">
            <a:r>
              <a:t>https://github.com/statsclaw/statsclaw-codex/blob/main/README.md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 minutes. First-time users clone the exact class branch. Returning users switch and pull. Everyone creates a personal branch before inspecting or changing project files.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Workshop branch: https://github.com/kprinceing/workspace/tree/codex/afternoon-lab</a:t>
            </a:r>
          </a:p>
          <a:p xmlns:a="http://schemas.openxmlformats.org/drawingml/2006/main">
            <a:r>
              <a:t>https://git-scm.com/docs/git-clone</a:t>
            </a:r>
          </a:p>
          <a:p xmlns:a="http://schemas.openxmlformats.org/drawingml/2006/main">
            <a:r>
              <a:t>https://git-scm.com/docs/git-switch</a:t>
            </a:r>
          </a:p>
          <a:p xmlns:a="http://schemas.openxmlformats.org/drawingml/2006/main">
            <a:r>
              <a:t>https://git-scm.com/docs/git-pull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3 minutes. Ask students what evidence they would want for each mission. Keep answers at the level of design and provenance.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4 minutes. Have students restate treatment, unit, outcome, horizon, and estimand in their own words.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4 minutes. Let students name checks for row counts, uniqueness, missing keys, and file provenance.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8 minutes. Students invoke the StatsClaw planner first. They inspect and accept the locked design before authorizing the smallest build; testing and $review remain independent.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7 minutes. Students review the planner's contract in plain language. They do not authorize a builder until every field and stop condition is intentional.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 minutes. Walk through the exact StatsClaw stage chain. A PASS authorizes a local Git commit only; students do not run $ship-it and do not push.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8 minutes. Require students to identify which StatsClaw stage owns each gate and which later stage verifies it independently.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 minutes. Compare the independent tester's output with the locked plan. Treat +7 pp only as a verification target; do not evaluate it as desirable or undesirable.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summer school/afternoon_lab/data/case_a_baseline.csv</a:t>
            </a:r>
          </a:p>
          <a:p xmlns:a="http://schemas.openxmlformats.org/drawingml/2006/main">
            <a:r>
              <a:t>summer school/afternoon_lab/data/case_a_assignment.csv</a:t>
            </a:r>
          </a:p>
          <a:p xmlns:a="http://schemas.openxmlformats.org/drawingml/2006/main">
            <a:r>
              <a:t>summer school/afternoon_lab/data/case_a_followup.csv</a:t>
            </a:r>
          </a:p>
          <a:p xmlns:a="http://schemas.openxmlformats.org/drawingml/2006/main">
            <a:r>
              <a:t>Synthetic teaching data designed for this lab.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4 minutes. Read the chart as a check on the expected ITT arithmetic: 70% minus 63% equals +7 percentage points.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summer school/afternoon_lab/data/case_a_assignment.csv</a:t>
            </a:r>
          </a:p>
          <a:p xmlns:a="http://schemas.openxmlformats.org/drawingml/2006/main">
            <a:r>
              <a:t>summer school/afternoon_lab/data/case_a_followup.csv</a:t>
            </a:r>
          </a:p>
          <a:p xmlns:a="http://schemas.openxmlformats.org/drawingml/2006/main">
            <a:r>
              <a:t>Synthetic teaching data designed for this lab.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 minutes. Each team names the plan, tester evidence, and $review status supporting PASS. Students may commit locally after PASS; no push and no $ship-it.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2 minutes. Transition from prevention to forensics. Do not preview the nature or magnitude of the problem.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7 minutes. Present the inherited output without diagnosis. Students then request a read-only StatsClaw audit of the unit, key, join cardinality, treatment, and estimand before assigning a status.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summer school/afternoon_lab/data/case_b_analysis_received.csv</a:t>
            </a:r>
          </a:p>
          <a:p xmlns:a="http://schemas.openxmlformats.org/drawingml/2006/main">
            <a:r>
              <a:t>Synthetic teaching data designed for this lab.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5 minutes. Ask teams to rank files by authority for treatment assignment, outcome construction, and provenance.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12 minutes. Students run a read-only StatsClaw audit and verify its claims against the files. No builder is authorized until a status is issued; only REPAIR can lead to a smallest proposed repair.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8 minutes. Collect competing hypotheses without resolving them. Require the next check to discriminate between alternatives.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8 minutes. Students use Git history to connect changes with stated reasons. Avoid explaining every command before they choose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7 minutes. Require StatsClaw's status, decisive evidence, and one remaining uncertainty. Do not authorize changes before this status.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10 minutes. Reveal exactly two failures: unit/cardinality drift and estimand drift. Connect the compliance matrix to the distinction between randomized offer and post-randomization participation.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summer school/afternoon_lab/data/case_b_analysis_received.csv</a:t>
            </a:r>
          </a:p>
          <a:p xmlns:a="http://schemas.openxmlformats.org/drawingml/2006/main">
            <a:r>
              <a:t>summer school/afternoon_lab/data/case_b_assignment.csv</a:t>
            </a:r>
          </a:p>
          <a:p xmlns:a="http://schemas.openxmlformats.org/drawingml/2006/main">
            <a:r>
              <a:t>summer school/afternoon_lab/data/case_b_attendance_log.csv</a:t>
            </a:r>
          </a:p>
          <a:p xmlns:a="http://schemas.openxmlformats.org/drawingml/2006/main">
            <a:r>
              <a:t>Synthetic teaching data designed for this lab.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 minutes. Read the chart and audit rail together: control has one row per applicant; offered applicants generate 430 excess rows; all duplicated IDs are offered; status is BLOCK.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summer school/afternoon_lab/data/case_b_analysis_received.csv</a:t>
            </a:r>
          </a:p>
          <a:p xmlns:a="http://schemas.openxmlformats.org/drawingml/2006/main">
            <a:r>
              <a:t>summer school/afternoon_lab/data/case_b_assignment.csv</a:t>
            </a:r>
          </a:p>
          <a:p xmlns:a="http://schemas.openxmlformats.org/drawingml/2006/main">
            <a:r>
              <a:t>summer school/afternoon_lab/data/case_b_attendance_log.csv</a:t>
            </a:r>
          </a:p>
          <a:p xmlns:a="http://schemas.openxmlformats.org/drawingml/2006/main">
            <a:r>
              <a:t>Synthetic teaching data designed for this lab.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5 minutes. Reconstruct the intended applicant-level ITT: 69% offered minus 62% control equals +7 pp. The inherited +5.6 pp uses a different unit and post-randomization exposure.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summer school/afternoon_lab/data/case_b_assignment.csv</a:t>
            </a:r>
          </a:p>
          <a:p xmlns:a="http://schemas.openxmlformats.org/drawingml/2006/main">
            <a:r>
              <a:t>summer school/afternoon_lab/data/case_b_followup.csv</a:t>
            </a:r>
          </a:p>
          <a:p xmlns:a="http://schemas.openxmlformats.org/drawingml/2006/main">
            <a:r>
              <a:t>Synthetic teaching data designed for this lab.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5 minutes. Return to the two missions. Close on the explicit StatsClaw stage chain and the class boundary: local commit after PASS, no $ship-it, no push.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Synthetic teaching data designed for this lab; no external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5fbcd455d242d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bb36a36b36e458a" /><Relationship Type="http://schemas.openxmlformats.org/officeDocument/2006/relationships/slideLayout" Target="/ppt/slideLayouts/slideLayout1.xml" Id="R4c81015a9afc409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c81015a9afc40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57b6c6092d4507" /><Relationship Type="http://schemas.openxmlformats.org/officeDocument/2006/relationships/notesSlide" Target="/ppt/notesSlides/notesSlide1.xml" Id="Rdaf03cec3f094fb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28b02341504d7e" /><Relationship Type="http://schemas.openxmlformats.org/officeDocument/2006/relationships/notesSlide" Target="/ppt/notesSlides/notesSlide2.xml" Id="Rf1c6f923081f452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adec8006b142d4" /><Relationship Type="http://schemas.openxmlformats.org/officeDocument/2006/relationships/notesSlide" Target="/ppt/notesSlides/notesSlide3.xml" Id="Ra49c21dfbffa411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f41dfc2a6948a0" /><Relationship Type="http://schemas.openxmlformats.org/officeDocument/2006/relationships/notesSlide" Target="/ppt/notesSlides/notesSlide4.xml" Id="Rfbe43e633b814b8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cd51fc460d4e00" /><Relationship Type="http://schemas.openxmlformats.org/officeDocument/2006/relationships/notesSlide" Target="/ppt/notesSlides/notesSlide5.xml" Id="R7d2ebf0cbd11441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10f36d889d467b" /><Relationship Type="http://schemas.openxmlformats.org/officeDocument/2006/relationships/notesSlide" Target="/ppt/notesSlides/notesSlide6.xml" Id="R5c7cd0266c22481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105c21cef94a42" /><Relationship Type="http://schemas.openxmlformats.org/officeDocument/2006/relationships/notesSlide" Target="/ppt/notesSlides/notesSlide7.xml" Id="R12c7f98710674a7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635eaf87b04049" /><Relationship Type="http://schemas.openxmlformats.org/officeDocument/2006/relationships/notesSlide" Target="/ppt/notesSlides/notesSlide8.xml" Id="R7872af3447bb40e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f2bd0126324535" /><Relationship Type="http://schemas.openxmlformats.org/officeDocument/2006/relationships/notesSlide" Target="/ppt/notesSlides/notesSlide9.xml" Id="R4cb39d5cd2074a6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12a2897a204b40" /><Relationship Type="http://schemas.openxmlformats.org/officeDocument/2006/relationships/notesSlide" Target="/ppt/notesSlides/notesSlide10.xml" Id="Rafe48c9047f4461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7ed6fa98f745f3" /><Relationship Type="http://schemas.openxmlformats.org/officeDocument/2006/relationships/notesSlide" Target="/ppt/notesSlides/notesSlide11.xml" Id="R1c844f32abc84b2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8694966acd42d0" /><Relationship Type="http://schemas.openxmlformats.org/officeDocument/2006/relationships/notesSlide" Target="/ppt/notesSlides/notesSlide12.xml" Id="R3c23507eca6e418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b68f5f6b7e4ada" /><Relationship Type="http://schemas.openxmlformats.org/officeDocument/2006/relationships/notesSlide" Target="/ppt/notesSlides/notesSlide13.xml" Id="Rcc6b285b9b7644d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5da7c8180d471d" /><Relationship Type="http://schemas.openxmlformats.org/officeDocument/2006/relationships/notesSlide" Target="/ppt/notesSlides/notesSlide14.xml" Id="Ra8167297cec840c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eff38fe5af4372" /><Relationship Type="http://schemas.openxmlformats.org/officeDocument/2006/relationships/notesSlide" Target="/ppt/notesSlides/notesSlide15.xml" Id="Rf0ff30ca841e435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f99ca53ce94e49" /><Relationship Type="http://schemas.openxmlformats.org/officeDocument/2006/relationships/notesSlide" Target="/ppt/notesSlides/notesSlide16.xml" Id="Rf82026936dce462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de72a01e11472c" /><Relationship Type="http://schemas.openxmlformats.org/officeDocument/2006/relationships/notesSlide" Target="/ppt/notesSlides/notesSlide17.xml" Id="R6fc8d3d1180e4d2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4bec37b6db440b" /><Relationship Type="http://schemas.openxmlformats.org/officeDocument/2006/relationships/notesSlide" Target="/ppt/notesSlides/notesSlide18.xml" Id="R829b34a950fb4a6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8c83bf58814d9d" /><Relationship Type="http://schemas.openxmlformats.org/officeDocument/2006/relationships/notesSlide" Target="/ppt/notesSlides/notesSlide19.xml" Id="R1a4f53122c04453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0abfd63bfa430d" /><Relationship Type="http://schemas.openxmlformats.org/officeDocument/2006/relationships/notesSlide" Target="/ppt/notesSlides/notesSlide20.xml" Id="Rc869452e431b449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6f7d76f7fe4279" /><Relationship Type="http://schemas.openxmlformats.org/officeDocument/2006/relationships/notesSlide" Target="/ppt/notesSlides/notesSlide21.xml" Id="R4d8b55b99c0444d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2ba0e03d8144da" /><Relationship Type="http://schemas.openxmlformats.org/officeDocument/2006/relationships/notesSlide" Target="/ppt/notesSlides/notesSlide22.xml" Id="R160aa2a157d7405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f3524f394e4a7a" /><Relationship Type="http://schemas.openxmlformats.org/officeDocument/2006/relationships/notesSlide" Target="/ppt/notesSlides/notesSlide23.xml" Id="R990186c6f877488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91e9fd6fb442bd" /><Relationship Type="http://schemas.openxmlformats.org/officeDocument/2006/relationships/notesSlide" Target="/ppt/notesSlides/notesSlide24.xml" Id="R684836d59dc5472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704846a5154d9a" /><Relationship Type="http://schemas.openxmlformats.org/officeDocument/2006/relationships/notesSlide" Target="/ppt/notesSlides/notesSlide25.xml" Id="Rb15369d180704b7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586bfea0b34d67" /><Relationship Type="http://schemas.openxmlformats.org/officeDocument/2006/relationships/notesSlide" Target="/ppt/notesSlides/notesSlide26.xml" Id="Rad7118e0ebea4cc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5b873206594e5c" /><Relationship Type="http://schemas.openxmlformats.org/officeDocument/2006/relationships/notesSlide" Target="/ppt/notesSlides/notesSlide27.xml" Id="R879f54d32ce848b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e9243bd4af49f8" /><Relationship Type="http://schemas.openxmlformats.org/officeDocument/2006/relationships/notesSlide" Target="/ppt/notesSlides/notesSlide28.xml" Id="R76c28c644c874d6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85677df5ee4aa2" /><Relationship Type="http://schemas.openxmlformats.org/officeDocument/2006/relationships/notesSlide" Target="/ppt/notesSlides/notesSlide29.xml" Id="R64769253225142e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DCF43CE-F06E-4E93-8883-662FDC20A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 / 29</a:t>
            </a:r>
          </a:p>
        </p:txBody>
      </p:sp>
      <p:sp>
        <p:nvSpPr>
          <p:cNvPr id="2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AB747938-DDF7-4956-BB50-373545D2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71550"/>
            <a:ext cx="95250" cy="373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3B2"/>
          </a:solidFill>
          <a:ln xmlns:a="http://schemas.openxmlformats.org/drawingml/2006/main" w="0">
            <a:solidFill>
              <a:srgbClr val="3333B2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B411A14-85BB-4844-A74E-8AC3F2ACB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143000"/>
            <a:ext cx="876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3333B2"/>
                </a:solidFill>
              </a:defRPr>
            </a:pPr>
            <a:r>
              <a:rPr sz="4350" b="1" i="0">
                <a:solidFill>
                  <a:srgbClr val="3333B2"/>
                </a:solidFill>
              </a:rPr>
              <a:t>Research Handoff Lab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7BC3CCAB-3704-4117-B850-C0F530599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24100"/>
            <a:ext cx="742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0" i="0">
                <a:solidFill>
                  <a:srgbClr val="17171C"/>
                </a:solidFill>
              </a:defRPr>
            </a:pPr>
            <a:r>
              <a:rPr sz="2850" b="0" i="0">
                <a:solidFill>
                  <a:srgbClr val="17171C"/>
                </a:solidFill>
              </a:rPr>
              <a:t>StatsClaw + Git</a:t>
            </a:r>
          </a:p>
        </p:txBody>
      </p:sp>
      <p:sp>
        <p:nvSpPr>
          <p:cNvPr id="5" name="tagline">
            <a:extLst xmlns:a="http://schemas.openxmlformats.org/drawingml/2006/main">
              <a:ext uri="{FF2B5EF4-FFF2-40B4-BE49-F238E27FC236}">
                <a16:creationId xmlns:a16="http://schemas.microsoft.com/office/drawing/2014/main" id="{8ED3938F-90AB-4655-9970-0B4D962D5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BF0040"/>
                </a:solidFill>
              </a:defRPr>
            </a:pPr>
            <a:r>
              <a:rPr sz="1950" b="1" i="0">
                <a:solidFill>
                  <a:srgbClr val="BF0040"/>
                </a:solidFill>
              </a:rPr>
              <a:t>Build a clean analysis. Then audit one that drifted.</a:t>
            </a:r>
          </a:p>
        </p:txBody>
      </p:sp>
    </p:spTree>
    <p:extLst>
      <p:ext uri="{BB962C8B-B14F-4D97-AF65-F5344CB8AC3E}">
        <p14:creationId xmlns:p14="http://schemas.microsoft.com/office/powerpoint/2010/main" val="1689695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ACD1098-5065-4EF5-A301-13ADA1E4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Git first: install and identify yourself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3E45E7CF-A913-4023-A081-30E2F5EA8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B192ABD-DA22-439A-BCD8-20D9A6666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 / 29</a:t>
            </a:r>
          </a:p>
        </p:txBody>
      </p:sp>
      <p:sp>
        <p:nvSpPr>
          <p:cNvPr id="4" name="mac-label">
            <a:extLst xmlns:a="http://schemas.openxmlformats.org/drawingml/2006/main">
              <a:ext uri="{FF2B5EF4-FFF2-40B4-BE49-F238E27FC236}">
                <a16:creationId xmlns:a16="http://schemas.microsoft.com/office/drawing/2014/main" id="{97830581-09A4-42C0-9432-F266CCF85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525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macOS</a:t>
            </a:r>
          </a:p>
        </p:txBody>
      </p:sp>
      <p:sp>
        <p:nvSpPr>
          <p:cNvPr id="5" name="cmd-181">
            <a:extLst xmlns:a="http://schemas.openxmlformats.org/drawingml/2006/main">
              <a:ext uri="{FF2B5EF4-FFF2-40B4-BE49-F238E27FC236}">
                <a16:creationId xmlns:a16="http://schemas.microsoft.com/office/drawing/2014/main" id="{92A8D3B8-6767-41ED-B064-5AF5A993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24025"/>
            <a:ext cx="314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brew install git</a:t>
            </a:r>
          </a:p>
        </p:txBody>
      </p:sp>
      <p:sp>
        <p:nvSpPr>
          <p:cNvPr id="6" name="win-label">
            <a:extLst xmlns:a="http://schemas.openxmlformats.org/drawingml/2006/main">
              <a:ext uri="{FF2B5EF4-FFF2-40B4-BE49-F238E27FC236}">
                <a16:creationId xmlns:a16="http://schemas.microsoft.com/office/drawing/2014/main" id="{5664EF66-5B90-4C96-8EE4-9A27E942C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3525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Windows</a:t>
            </a:r>
          </a:p>
        </p:txBody>
      </p:sp>
      <p:sp>
        <p:nvSpPr>
          <p:cNvPr id="7" name="win-note">
            <a:extLst xmlns:a="http://schemas.openxmlformats.org/drawingml/2006/main">
              <a:ext uri="{FF2B5EF4-FFF2-40B4-BE49-F238E27FC236}">
                <a16:creationId xmlns:a16="http://schemas.microsoft.com/office/drawing/2014/main" id="{7A71BB28-296D-40BD-9486-343E4EC32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145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7171C"/>
                </a:solidFill>
              </a:defRPr>
            </a:pPr>
            <a:r>
              <a:rPr sz="1350" b="0" i="0">
                <a:solidFill>
                  <a:srgbClr val="17171C"/>
                </a:solidFill>
              </a:rPr>
              <a:t>Git for Windows, or:</a:t>
            </a:r>
          </a:p>
        </p:txBody>
      </p:sp>
      <p:sp>
        <p:nvSpPr>
          <p:cNvPr id="8" name="win-command">
            <a:extLst xmlns:a="http://schemas.openxmlformats.org/drawingml/2006/main">
              <a:ext uri="{FF2B5EF4-FFF2-40B4-BE49-F238E27FC236}">
                <a16:creationId xmlns:a16="http://schemas.microsoft.com/office/drawing/2014/main" id="{AD8515E6-DCDD-46D6-96C0-42FC569A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66925"/>
            <a:ext cx="4191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winget install --id Git.Git -e</a:t>
            </a:r>
          </a:p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--source winget</a:t>
            </a:r>
          </a:p>
        </p:txBody>
      </p:sp>
      <p:sp>
        <p:nvSpPr>
          <p:cNvPr id="9" name="linux-label">
            <a:extLst xmlns:a="http://schemas.openxmlformats.org/drawingml/2006/main">
              <a:ext uri="{FF2B5EF4-FFF2-40B4-BE49-F238E27FC236}">
                <a16:creationId xmlns:a16="http://schemas.microsoft.com/office/drawing/2014/main" id="{3F20EB82-5D9F-451D-818A-7098A40D3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3525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Linux</a:t>
            </a:r>
          </a:p>
        </p:txBody>
      </p:sp>
      <p:sp>
        <p:nvSpPr>
          <p:cNvPr id="10" name="linux-command">
            <a:extLst xmlns:a="http://schemas.openxmlformats.org/drawingml/2006/main">
              <a:ext uri="{FF2B5EF4-FFF2-40B4-BE49-F238E27FC236}">
                <a16:creationId xmlns:a16="http://schemas.microsoft.com/office/drawing/2014/main" id="{92E6883C-E2BA-4C8E-B0D3-E02284ABC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24025"/>
            <a:ext cx="2714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sudo apt install git</a:t>
            </a:r>
          </a:p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or</a:t>
            </a:r>
          </a:p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sudo dnf install git</a:t>
            </a:r>
          </a:p>
        </p:txBody>
      </p:sp>
      <p:sp>
        <p:nvSpPr>
          <p:cNvPr id="11" name="rule-78-310">
            <a:extLst xmlns:a="http://schemas.openxmlformats.org/drawingml/2006/main">
              <a:ext uri="{FF2B5EF4-FFF2-40B4-BE49-F238E27FC236}">
                <a16:creationId xmlns:a16="http://schemas.microsoft.com/office/drawing/2014/main" id="{05EC7F01-A9C1-4DCA-8BFD-BD10FADE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10648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2" name="verify-label">
            <a:extLst xmlns:a="http://schemas.openxmlformats.org/drawingml/2006/main">
              <a:ext uri="{FF2B5EF4-FFF2-40B4-BE49-F238E27FC236}">
                <a16:creationId xmlns:a16="http://schemas.microsoft.com/office/drawing/2014/main" id="{CBA003BB-5C91-4DBE-B5DE-CDB63CFF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VERIFY</a:t>
            </a:r>
          </a:p>
        </p:txBody>
      </p:sp>
      <p:sp>
        <p:nvSpPr>
          <p:cNvPr id="13" name="cmd-380">
            <a:extLst xmlns:a="http://schemas.openxmlformats.org/drawingml/2006/main">
              <a:ext uri="{FF2B5EF4-FFF2-40B4-BE49-F238E27FC236}">
                <a16:creationId xmlns:a16="http://schemas.microsoft.com/office/drawing/2014/main" id="{785FFD4A-21B6-4B77-93F4-6D0654202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0"/>
            <a:ext cx="3429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--version</a:t>
            </a:r>
          </a:p>
        </p:txBody>
      </p:sp>
      <p:sp>
        <p:nvSpPr>
          <p:cNvPr id="14" name="identity-label">
            <a:extLst xmlns:a="http://schemas.openxmlformats.org/drawingml/2006/main">
              <a:ext uri="{FF2B5EF4-FFF2-40B4-BE49-F238E27FC236}">
                <a16:creationId xmlns:a16="http://schemas.microsoft.com/office/drawing/2014/main" id="{FC32E344-BB34-4CF8-98E5-2878F2B4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433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IDENTIFY YOUR COMMITS</a:t>
            </a:r>
          </a:p>
        </p:txBody>
      </p:sp>
      <p:sp>
        <p:nvSpPr>
          <p:cNvPr id="15" name="cmd-478">
            <a:extLst xmlns:a="http://schemas.openxmlformats.org/drawingml/2006/main">
              <a:ext uri="{FF2B5EF4-FFF2-40B4-BE49-F238E27FC236}">
                <a16:creationId xmlns:a16="http://schemas.microsoft.com/office/drawing/2014/main" id="{700BFAA2-84C3-4406-915D-7DE0A43FB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52950"/>
            <a:ext cx="8572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config --global user.name "Your Name"</a:t>
            </a:r>
          </a:p>
        </p:txBody>
      </p:sp>
      <p:sp>
        <p:nvSpPr>
          <p:cNvPr id="16" name="cmd-525">
            <a:extLst xmlns:a="http://schemas.openxmlformats.org/drawingml/2006/main">
              <a:ext uri="{FF2B5EF4-FFF2-40B4-BE49-F238E27FC236}">
                <a16:creationId xmlns:a16="http://schemas.microsoft.com/office/drawing/2014/main" id="{654FAE73-8664-4222-BDC2-9D55B3B19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00625"/>
            <a:ext cx="8572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config --global user.email "you@example.com"</a:t>
            </a:r>
          </a:p>
        </p:txBody>
      </p:sp>
      <p:sp>
        <p:nvSpPr>
          <p:cNvPr id="17" name="takeaway">
            <a:extLst xmlns:a="http://schemas.openxmlformats.org/drawingml/2006/main">
              <a:ext uri="{FF2B5EF4-FFF2-40B4-BE49-F238E27FC236}">
                <a16:creationId xmlns:a16="http://schemas.microsoft.com/office/drawing/2014/main" id="{B9840CDD-F2EE-40A4-A90E-E6535FA5D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1500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BF0040"/>
                </a:solidFill>
              </a:defRPr>
            </a:pPr>
            <a:r>
              <a:rPr sz="1725" b="1" i="0">
                <a:solidFill>
                  <a:srgbClr val="BF0040"/>
                </a:solidFill>
              </a:rPr>
              <a:t>Use the name and email you want attached to research history.</a:t>
            </a:r>
          </a:p>
        </p:txBody>
      </p:sp>
    </p:spTree>
    <p:extLst>
      <p:ext uri="{BB962C8B-B14F-4D97-AF65-F5344CB8AC3E}">
        <p14:creationId xmlns:p14="http://schemas.microsoft.com/office/powerpoint/2010/main" val="7097677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06BD9A2-B944-455F-A4B1-FBAF1DE2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Install Claude Code, then check the environment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51C22643-B057-4CF2-A473-AEB119107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222475D-5C6D-4A24-9D7A-EEF97D504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3 / 29</a:t>
            </a:r>
          </a:p>
        </p:txBody>
      </p:sp>
      <p:sp>
        <p:nvSpPr>
          <p:cNvPr id="4" name="native-label">
            <a:extLst xmlns:a="http://schemas.openxmlformats.org/drawingml/2006/main">
              <a:ext uri="{FF2B5EF4-FFF2-40B4-BE49-F238E27FC236}">
                <a16:creationId xmlns:a16="http://schemas.microsoft.com/office/drawing/2014/main" id="{CAD86C3E-E865-45BF-B4EF-87534293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52550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macOS / Linux / WSL — native installer</a:t>
            </a:r>
          </a:p>
        </p:txBody>
      </p:sp>
      <p:sp>
        <p:nvSpPr>
          <p:cNvPr id="5" name="native-command">
            <a:extLst xmlns:a="http://schemas.openxmlformats.org/drawingml/2006/main">
              <a:ext uri="{FF2B5EF4-FFF2-40B4-BE49-F238E27FC236}">
                <a16:creationId xmlns:a16="http://schemas.microsoft.com/office/drawing/2014/main" id="{2741304A-2EE0-4A97-9DF0-C05B13950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526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curl -fsSL https://claude.ai/install.sh | bash</a:t>
            </a:r>
          </a:p>
        </p:txBody>
      </p:sp>
      <p:sp>
        <p:nvSpPr>
          <p:cNvPr id="6" name="brew-label">
            <a:extLst xmlns:a="http://schemas.openxmlformats.org/drawingml/2006/main">
              <a:ext uri="{FF2B5EF4-FFF2-40B4-BE49-F238E27FC236}">
                <a16:creationId xmlns:a16="http://schemas.microsoft.com/office/drawing/2014/main" id="{0DD5AA55-6272-400E-91EE-395583C2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macOS — Homebrew alternative</a:t>
            </a:r>
          </a:p>
        </p:txBody>
      </p:sp>
      <p:sp>
        <p:nvSpPr>
          <p:cNvPr id="7" name="brew-command">
            <a:extLst xmlns:a="http://schemas.openxmlformats.org/drawingml/2006/main">
              <a:ext uri="{FF2B5EF4-FFF2-40B4-BE49-F238E27FC236}">
                <a16:creationId xmlns:a16="http://schemas.microsoft.com/office/drawing/2014/main" id="{469FF6E6-E3D3-4BC2-B95A-F2CAE4B8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brew install --cask claude-code</a:t>
            </a:r>
          </a:p>
        </p:txBody>
      </p:sp>
      <p:sp>
        <p:nvSpPr>
          <p:cNvPr id="8" name="windows-label">
            <a:extLst xmlns:a="http://schemas.openxmlformats.org/drawingml/2006/main">
              <a:ext uri="{FF2B5EF4-FFF2-40B4-BE49-F238E27FC236}">
                <a16:creationId xmlns:a16="http://schemas.microsoft.com/office/drawing/2014/main" id="{E4C2C703-D485-4926-8958-04CD5A2C7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003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Windows — WinGet</a:t>
            </a:r>
          </a:p>
        </p:txBody>
      </p:sp>
      <p:sp>
        <p:nvSpPr>
          <p:cNvPr id="9" name="windows-command">
            <a:extLst xmlns:a="http://schemas.openxmlformats.org/drawingml/2006/main">
              <a:ext uri="{FF2B5EF4-FFF2-40B4-BE49-F238E27FC236}">
                <a16:creationId xmlns:a16="http://schemas.microsoft.com/office/drawing/2014/main" id="{D0FC4896-BFF4-4995-ADF8-9AF72F56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003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0000FF"/>
                </a:solidFill>
              </a:defRPr>
            </a:pPr>
            <a:r>
              <a:rPr sz="1350" b="0" i="0">
                <a:solidFill>
                  <a:srgbClr val="0000FF"/>
                </a:solidFill>
              </a:rPr>
              <a:t>winget install Anthropic.ClaudeCode</a:t>
            </a:r>
          </a:p>
        </p:txBody>
      </p:sp>
      <p:sp>
        <p:nvSpPr>
          <p:cNvPr id="10" name="rule-78-363">
            <a:extLst xmlns:a="http://schemas.openxmlformats.org/drawingml/2006/main">
              <a:ext uri="{FF2B5EF4-FFF2-40B4-BE49-F238E27FC236}">
                <a16:creationId xmlns:a16="http://schemas.microsoft.com/office/drawing/2014/main" id="{B0852561-33E7-48F2-A903-1C554372A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57575"/>
            <a:ext cx="10648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1" name="verify-label">
            <a:extLst xmlns:a="http://schemas.openxmlformats.org/drawingml/2006/main">
              <a:ext uri="{FF2B5EF4-FFF2-40B4-BE49-F238E27FC236}">
                <a16:creationId xmlns:a16="http://schemas.microsoft.com/office/drawing/2014/main" id="{9313C3B0-02EB-43F7-80C3-DFAC5DDB0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43325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VERIFY + START</a:t>
            </a:r>
          </a:p>
        </p:txBody>
      </p:sp>
      <p:sp>
        <p:nvSpPr>
          <p:cNvPr id="12" name="verify-command">
            <a:extLst xmlns:a="http://schemas.openxmlformats.org/drawingml/2006/main">
              <a:ext uri="{FF2B5EF4-FFF2-40B4-BE49-F238E27FC236}">
                <a16:creationId xmlns:a16="http://schemas.microsoft.com/office/drawing/2014/main" id="{AEC87F53-BB33-4014-A2F4-084B0CA3B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719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claude --version     claude doctor     claude</a:t>
            </a:r>
          </a:p>
        </p:txBody>
      </p:sp>
      <p:sp>
        <p:nvSpPr>
          <p:cNvPr id="13" name="windows-note">
            <a:extLst xmlns:a="http://schemas.openxmlformats.org/drawingml/2006/main">
              <a:ext uri="{FF2B5EF4-FFF2-40B4-BE49-F238E27FC236}">
                <a16:creationId xmlns:a16="http://schemas.microsoft.com/office/drawing/2014/main" id="{60AF9A2A-247A-41C8-8746-66BE7B103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101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On Windows, use native Windows with Git for Windows—or run Claude Code inside WSL.</a:t>
            </a:r>
          </a:p>
        </p:txBody>
      </p:sp>
      <p:sp>
        <p:nvSpPr>
          <p:cNvPr id="14" name="takeaway">
            <a:extLst xmlns:a="http://schemas.openxmlformats.org/drawingml/2006/main">
              <a:ext uri="{FF2B5EF4-FFF2-40B4-BE49-F238E27FC236}">
                <a16:creationId xmlns:a16="http://schemas.microsoft.com/office/drawing/2014/main" id="{DE332022-9002-45CA-85F5-5ADB0167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53100"/>
            <a:ext cx="666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BF0040"/>
                </a:solidFill>
              </a:defRPr>
            </a:pPr>
            <a:r>
              <a:rPr sz="1725" b="1" i="0">
                <a:solidFill>
                  <a:srgbClr val="BF0040"/>
                </a:solidFill>
              </a:rPr>
              <a:t>Launch from the project directory.</a:t>
            </a:r>
          </a:p>
        </p:txBody>
      </p:sp>
    </p:spTree>
    <p:extLst>
      <p:ext uri="{BB962C8B-B14F-4D97-AF65-F5344CB8AC3E}">
        <p14:creationId xmlns:p14="http://schemas.microsoft.com/office/powerpoint/2010/main" val="15407311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E8C4ED5-E854-4711-9979-DD318AF95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Install Codex CLI, then launch it in the project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8941D78E-9728-4CB6-B628-B7EA548CD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A21DEC7-DF29-45E3-9D10-B6426138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4 / 29</a:t>
            </a:r>
          </a:p>
        </p:txBody>
      </p:sp>
      <p:sp>
        <p:nvSpPr>
          <p:cNvPr id="4" name="unix-label">
            <a:extLst xmlns:a="http://schemas.openxmlformats.org/drawingml/2006/main">
              <a:ext uri="{FF2B5EF4-FFF2-40B4-BE49-F238E27FC236}">
                <a16:creationId xmlns:a16="http://schemas.microsoft.com/office/drawing/2014/main" id="{7B7F0335-8C3A-4C27-8CE3-8B94A0C2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5255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macOS / Linux — standalone installer</a:t>
            </a:r>
          </a:p>
        </p:txBody>
      </p:sp>
      <p:sp>
        <p:nvSpPr>
          <p:cNvPr id="5" name="unix-command">
            <a:extLst xmlns:a="http://schemas.openxmlformats.org/drawingml/2006/main">
              <a:ext uri="{FF2B5EF4-FFF2-40B4-BE49-F238E27FC236}">
                <a16:creationId xmlns:a16="http://schemas.microsoft.com/office/drawing/2014/main" id="{C2981FE2-AFCD-48DC-8302-298F518EA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526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curl -fsSL https://chatgpt.com/codex/install.sh | sh</a:t>
            </a:r>
          </a:p>
        </p:txBody>
      </p:sp>
      <p:sp>
        <p:nvSpPr>
          <p:cNvPr id="6" name="windows-label">
            <a:extLst xmlns:a="http://schemas.openxmlformats.org/drawingml/2006/main">
              <a:ext uri="{FF2B5EF4-FFF2-40B4-BE49-F238E27FC236}">
                <a16:creationId xmlns:a16="http://schemas.microsoft.com/office/drawing/2014/main" id="{EB496FDE-F617-496F-BE59-66771062D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Windows PowerShell</a:t>
            </a:r>
          </a:p>
        </p:txBody>
      </p:sp>
      <p:sp>
        <p:nvSpPr>
          <p:cNvPr id="7" name="windows-command">
            <a:extLst xmlns:a="http://schemas.openxmlformats.org/drawingml/2006/main">
              <a:ext uri="{FF2B5EF4-FFF2-40B4-BE49-F238E27FC236}">
                <a16:creationId xmlns:a16="http://schemas.microsoft.com/office/drawing/2014/main" id="{440D290A-1030-4A6B-B8A9-3AC30555F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0000FF"/>
                </a:solidFill>
              </a:defRPr>
            </a:pPr>
            <a:r>
              <a:rPr sz="1275" b="0" i="0">
                <a:solidFill>
                  <a:srgbClr val="0000FF"/>
                </a:solidFill>
              </a:rPr>
              <a:t>powershell -ExecutionPolicy ByPass -c "irm https://chatgpt.com/codex/install.ps1 | iex"</a:t>
            </a:r>
          </a:p>
        </p:txBody>
      </p:sp>
      <p:sp>
        <p:nvSpPr>
          <p:cNvPr id="8" name="rule-78-363">
            <a:extLst xmlns:a="http://schemas.openxmlformats.org/drawingml/2006/main">
              <a:ext uri="{FF2B5EF4-FFF2-40B4-BE49-F238E27FC236}">
                <a16:creationId xmlns:a16="http://schemas.microsoft.com/office/drawing/2014/main" id="{F0AD3B43-1603-4CD2-B171-6D21E90F7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57575"/>
            <a:ext cx="10648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9" name="alternatives-label">
            <a:extLst xmlns:a="http://schemas.openxmlformats.org/drawingml/2006/main">
              <a:ext uri="{FF2B5EF4-FFF2-40B4-BE49-F238E27FC236}">
                <a16:creationId xmlns:a16="http://schemas.microsoft.com/office/drawing/2014/main" id="{F1CF9EC2-8037-4878-9AF0-EF1B6D31A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433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PACKAGE-MANAGER ALTERNATIVES</a:t>
            </a:r>
          </a:p>
        </p:txBody>
      </p:sp>
      <p:sp>
        <p:nvSpPr>
          <p:cNvPr id="10" name="npm-command">
            <a:extLst xmlns:a="http://schemas.openxmlformats.org/drawingml/2006/main">
              <a:ext uri="{FF2B5EF4-FFF2-40B4-BE49-F238E27FC236}">
                <a16:creationId xmlns:a16="http://schemas.microsoft.com/office/drawing/2014/main" id="{F63D43E0-233C-446D-A6A7-61E696E59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4337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npm install -g @openai/codex</a:t>
            </a:r>
          </a:p>
        </p:txBody>
      </p:sp>
      <p:sp>
        <p:nvSpPr>
          <p:cNvPr id="11" name="brew-command">
            <a:extLst xmlns:a="http://schemas.openxmlformats.org/drawingml/2006/main">
              <a:ext uri="{FF2B5EF4-FFF2-40B4-BE49-F238E27FC236}">
                <a16:creationId xmlns:a16="http://schemas.microsoft.com/office/drawing/2014/main" id="{E72F0D94-0176-4087-8DDA-09BEE1DA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4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brew install --cask codex</a:t>
            </a:r>
          </a:p>
        </p:txBody>
      </p:sp>
      <p:sp>
        <p:nvSpPr>
          <p:cNvPr id="12" name="verify-label">
            <a:extLst xmlns:a="http://schemas.openxmlformats.org/drawingml/2006/main">
              <a:ext uri="{FF2B5EF4-FFF2-40B4-BE49-F238E27FC236}">
                <a16:creationId xmlns:a16="http://schemas.microsoft.com/office/drawing/2014/main" id="{88701DF4-2C75-41DD-B9BC-A9F37DF86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577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VERIFY + START</a:t>
            </a:r>
          </a:p>
        </p:txBody>
      </p:sp>
      <p:sp>
        <p:nvSpPr>
          <p:cNvPr id="13" name="verify-command">
            <a:extLst xmlns:a="http://schemas.openxmlformats.org/drawingml/2006/main">
              <a:ext uri="{FF2B5EF4-FFF2-40B4-BE49-F238E27FC236}">
                <a16:creationId xmlns:a16="http://schemas.microsoft.com/office/drawing/2014/main" id="{FDE73538-1D45-4389-A5CE-5DDFC0891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57800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codex --version          codex</a:t>
            </a:r>
          </a:p>
        </p:txBody>
      </p:sp>
      <p:sp>
        <p:nvSpPr>
          <p:cNvPr id="14" name="takeaway">
            <a:extLst xmlns:a="http://schemas.openxmlformats.org/drawingml/2006/main">
              <a:ext uri="{FF2B5EF4-FFF2-40B4-BE49-F238E27FC236}">
                <a16:creationId xmlns:a16="http://schemas.microsoft.com/office/drawing/2014/main" id="{6EC62E68-AD19-4D08-9FA3-29FFB766E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67400"/>
            <a:ext cx="971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F0040"/>
                </a:solidFill>
              </a:defRPr>
            </a:pPr>
            <a:r>
              <a:rPr sz="1650" b="1" i="0">
                <a:solidFill>
                  <a:srgbClr val="BF0040"/>
                </a:solidFill>
              </a:rPr>
              <a:t>Use one installation path; duplicate installs can make PATH ambiguous.</a:t>
            </a:r>
          </a:p>
        </p:txBody>
      </p:sp>
    </p:spTree>
    <p:extLst>
      <p:ext uri="{BB962C8B-B14F-4D97-AF65-F5344CB8AC3E}">
        <p14:creationId xmlns:p14="http://schemas.microsoft.com/office/powerpoint/2010/main" val="15104069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56051B5-5E9E-41CD-9267-E9357BCF1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CC Switch: configure providers safely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0CFD0616-589A-4A61-A40F-1F8B1C20D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A0E90CF-381E-4671-B874-1441D1BDD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5 / 29</a:t>
            </a:r>
          </a:p>
        </p:txBody>
      </p:sp>
      <p:sp>
        <p:nvSpPr>
          <p:cNvPr id="4" name="mac-label">
            <a:extLst xmlns:a="http://schemas.openxmlformats.org/drawingml/2006/main">
              <a:ext uri="{FF2B5EF4-FFF2-40B4-BE49-F238E27FC236}">
                <a16:creationId xmlns:a16="http://schemas.microsoft.com/office/drawing/2014/main" id="{1BD5E726-C031-451F-A044-8C4F73096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335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macOS</a:t>
            </a:r>
          </a:p>
        </p:txBody>
      </p:sp>
      <p:sp>
        <p:nvSpPr>
          <p:cNvPr id="5" name="mac-command">
            <a:extLst xmlns:a="http://schemas.openxmlformats.org/drawingml/2006/main">
              <a:ext uri="{FF2B5EF4-FFF2-40B4-BE49-F238E27FC236}">
                <a16:creationId xmlns:a16="http://schemas.microsoft.com/office/drawing/2014/main" id="{BC307FA0-9EB9-4BBB-94E2-7DE9504FF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240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0000FF"/>
                </a:solidFill>
              </a:defRPr>
            </a:pPr>
            <a:r>
              <a:rPr sz="1350" b="0" i="0">
                <a:solidFill>
                  <a:srgbClr val="0000FF"/>
                </a:solidFill>
              </a:rPr>
              <a:t>brew install --cask cc-switch</a:t>
            </a:r>
          </a:p>
        </p:txBody>
      </p:sp>
      <p:sp>
        <p:nvSpPr>
          <p:cNvPr id="6" name="win-label">
            <a:extLst xmlns:a="http://schemas.openxmlformats.org/drawingml/2006/main">
              <a:ext uri="{FF2B5EF4-FFF2-40B4-BE49-F238E27FC236}">
                <a16:creationId xmlns:a16="http://schemas.microsoft.com/office/drawing/2014/main" id="{EB6D5BEE-B670-4763-857A-4FB3584AA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3335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Windows</a:t>
            </a:r>
          </a:p>
        </p:txBody>
      </p:sp>
      <p:sp>
        <p:nvSpPr>
          <p:cNvPr id="7" name="win-copy">
            <a:extLst xmlns:a="http://schemas.openxmlformats.org/drawingml/2006/main">
              <a:ext uri="{FF2B5EF4-FFF2-40B4-BE49-F238E27FC236}">
                <a16:creationId xmlns:a16="http://schemas.microsoft.com/office/drawing/2014/main" id="{69C44DD5-C944-4474-A200-E62D1690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724025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171C"/>
                </a:solidFill>
              </a:defRPr>
            </a:pPr>
            <a:r>
              <a:rPr sz="1500" b="0" i="0">
                <a:solidFill>
                  <a:srgbClr val="17171C"/>
                </a:solidFill>
              </a:rPr>
              <a:t>MSI or Portable ZIP from Releases</a:t>
            </a:r>
          </a:p>
        </p:txBody>
      </p:sp>
      <p:sp>
        <p:nvSpPr>
          <p:cNvPr id="8" name="linux-label">
            <a:extLst xmlns:a="http://schemas.openxmlformats.org/drawingml/2006/main">
              <a:ext uri="{FF2B5EF4-FFF2-40B4-BE49-F238E27FC236}">
                <a16:creationId xmlns:a16="http://schemas.microsoft.com/office/drawing/2014/main" id="{1F457D07-D6AC-47C7-89E9-561DD317B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3335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Linux</a:t>
            </a:r>
          </a:p>
        </p:txBody>
      </p:sp>
      <p:sp>
        <p:nvSpPr>
          <p:cNvPr id="9" name="linux-copy">
            <a:extLst xmlns:a="http://schemas.openxmlformats.org/drawingml/2006/main">
              <a:ext uri="{FF2B5EF4-FFF2-40B4-BE49-F238E27FC236}">
                <a16:creationId xmlns:a16="http://schemas.microsoft.com/office/drawing/2014/main" id="{E8FBF60E-1410-485E-A18A-80326EB5F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72402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171C"/>
                </a:solidFill>
              </a:defRPr>
            </a:pPr>
            <a:r>
              <a:rPr sz="1500" b="0" i="0">
                <a:solidFill>
                  <a:srgbClr val="17171C"/>
                </a:solidFill>
              </a:rPr>
              <a:t>.deb / .rpm / AppImage</a:t>
            </a:r>
          </a:p>
        </p:txBody>
      </p:sp>
      <p:sp>
        <p:nvSpPr>
          <p:cNvPr id="10" name="rule-78-242">
            <a:extLst xmlns:a="http://schemas.openxmlformats.org/drawingml/2006/main">
              <a:ext uri="{FF2B5EF4-FFF2-40B4-BE49-F238E27FC236}">
                <a16:creationId xmlns:a16="http://schemas.microsoft.com/office/drawing/2014/main" id="{3229C36E-4C98-40B7-9222-EE52A9DFD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10648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1" name="workflow-label">
            <a:extLst xmlns:a="http://schemas.openxmlformats.org/drawingml/2006/main">
              <a:ext uri="{FF2B5EF4-FFF2-40B4-BE49-F238E27FC236}">
                <a16:creationId xmlns:a16="http://schemas.microsoft.com/office/drawing/2014/main" id="{936C0295-96F8-4114-AB3D-71B024AA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908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FIRST LAUNCH</a:t>
            </a:r>
          </a:p>
        </p:txBody>
      </p:sp>
      <p:sp>
        <p:nvSpPr>
          <p:cNvPr id="12" name="workflow">
            <a:extLst xmlns:a="http://schemas.openxmlformats.org/drawingml/2006/main">
              <a:ext uri="{FF2B5EF4-FFF2-40B4-BE49-F238E27FC236}">
                <a16:creationId xmlns:a16="http://schemas.microsoft.com/office/drawing/2014/main" id="{F6C89BB2-DFAF-4AC6-B2A5-71708E1E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7171C"/>
                </a:solidFill>
              </a:defRPr>
            </a:pPr>
            <a:r>
              <a:rPr sz="1800" b="1" i="0">
                <a:solidFill>
                  <a:srgbClr val="17171C"/>
                </a:solidFill>
              </a:rPr>
              <a:t>Import existing configs   →   Add provider   →   Enable   →   Restart the relevant CLI</a:t>
            </a:r>
          </a:p>
        </p:txBody>
      </p:sp>
      <p:sp>
        <p:nvSpPr>
          <p:cNvPr id="13" name="restart-note">
            <a:extLst xmlns:a="http://schemas.openxmlformats.org/drawingml/2006/main">
              <a:ext uri="{FF2B5EF4-FFF2-40B4-BE49-F238E27FC236}">
                <a16:creationId xmlns:a16="http://schemas.microsoft.com/office/drawing/2014/main" id="{88F3A6C9-5D34-41CC-BE7F-FC185E863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29025"/>
            <a:ext cx="1009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C5C69"/>
                </a:solidFill>
              </a:defRPr>
            </a:pPr>
            <a:r>
              <a:rPr sz="1575" b="0" i="0">
                <a:solidFill>
                  <a:srgbClr val="5C5C69"/>
                </a:solidFill>
              </a:rPr>
              <a:t>Claude Code can hot-switch; restart other relevant CLI tools when prompted.</a:t>
            </a:r>
          </a:p>
        </p:txBody>
      </p:sp>
      <p:sp>
        <p:nvSpPr>
          <p:cNvPr id="14" name="safety-band">
            <a:extLst xmlns:a="http://schemas.openxmlformats.org/drawingml/2006/main">
              <a:ext uri="{FF2B5EF4-FFF2-40B4-BE49-F238E27FC236}">
                <a16:creationId xmlns:a16="http://schemas.microsoft.com/office/drawing/2014/main" id="{AA4FB606-1145-4E03-B493-CD1CE8927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29125"/>
            <a:ext cx="106489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afety-title">
            <a:extLst xmlns:a="http://schemas.openxmlformats.org/drawingml/2006/main">
              <a:ext uri="{FF2B5EF4-FFF2-40B4-BE49-F238E27FC236}">
                <a16:creationId xmlns:a16="http://schemas.microsoft.com/office/drawing/2014/main" id="{5C630959-1E00-4C38-A617-7AF7F11E4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00575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F0000"/>
                </a:solidFill>
              </a:defRPr>
            </a:pPr>
            <a:r>
              <a:rPr sz="1575" b="1" i="0">
                <a:solidFill>
                  <a:srgbClr val="FF0000"/>
                </a:solidFill>
              </a:rPr>
              <a:t>INSTALL ONLY FROM OFFICIAL CHANNELS</a:t>
            </a:r>
          </a:p>
        </p:txBody>
      </p:sp>
      <p:sp>
        <p:nvSpPr>
          <p:cNvPr id="16" name="official">
            <a:extLst xmlns:a="http://schemas.openxmlformats.org/drawingml/2006/main">
              <a:ext uri="{FF2B5EF4-FFF2-40B4-BE49-F238E27FC236}">
                <a16:creationId xmlns:a16="http://schemas.microsoft.com/office/drawing/2014/main" id="{D57E5FE1-4138-46EB-A6F7-23A9F49B7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81575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github.com/farion1231/cc-switch   •   ccswitch.io</a:t>
            </a:r>
          </a:p>
        </p:txBody>
      </p:sp>
      <p:sp>
        <p:nvSpPr>
          <p:cNvPr id="17" name="keys">
            <a:extLst xmlns:a="http://schemas.openxmlformats.org/drawingml/2006/main">
              <a:ext uri="{FF2B5EF4-FFF2-40B4-BE49-F238E27FC236}">
                <a16:creationId xmlns:a16="http://schemas.microsoft.com/office/drawing/2014/main" id="{76D627AF-E1D0-448D-9738-244F92B56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5305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0000"/>
                </a:solidFill>
              </a:defRPr>
            </a:pPr>
            <a:r>
              <a:rPr sz="1650" b="1" i="0">
                <a:solidFill>
                  <a:srgbClr val="FF0000"/>
                </a:solidFill>
              </a:rPr>
              <a:t>Never commit API keys or provider credentials.</a:t>
            </a:r>
          </a:p>
        </p:txBody>
      </p:sp>
    </p:spTree>
    <p:extLst>
      <p:ext uri="{BB962C8B-B14F-4D97-AF65-F5344CB8AC3E}">
        <p14:creationId xmlns:p14="http://schemas.microsoft.com/office/powerpoint/2010/main" val="90636017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31C4AB6-18E6-4AF9-8726-3B64F3A6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A 90-second setup check before the lab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3E559B06-187D-48DF-B39A-0376FE9A3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4B40D30-AE3A-4B4B-A5CC-CE52140F6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6 / 29</a:t>
            </a:r>
          </a:p>
        </p:txBody>
      </p:sp>
      <p:sp>
        <p:nvSpPr>
          <p:cNvPr id="4" name="check1">
            <a:extLst xmlns:a="http://schemas.openxmlformats.org/drawingml/2006/main">
              <a:ext uri="{FF2B5EF4-FFF2-40B4-BE49-F238E27FC236}">
                <a16:creationId xmlns:a16="http://schemas.microsoft.com/office/drawing/2014/main" id="{00193064-3723-4E94-A9D7-FC09D3FA3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52550"/>
            <a:ext cx="457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3333B2"/>
                </a:solidFill>
              </a:defRPr>
            </a:pPr>
            <a:r>
              <a:rPr sz="2400" b="1" i="0">
                <a:solidFill>
                  <a:srgbClr val="3333B2"/>
                </a:solidFill>
              </a:rPr>
              <a:t>1</a:t>
            </a:r>
          </a:p>
        </p:txBody>
      </p:sp>
      <p:sp>
        <p:nvSpPr>
          <p:cNvPr id="5" name="check1-command">
            <a:extLst xmlns:a="http://schemas.openxmlformats.org/drawingml/2006/main">
              <a:ext uri="{FF2B5EF4-FFF2-40B4-BE49-F238E27FC236}">
                <a16:creationId xmlns:a16="http://schemas.microsoft.com/office/drawing/2014/main" id="{8B9B3EAF-9BB1-40A6-BD74-3FC320D32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381125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0000FF"/>
                </a:solidFill>
              </a:defRPr>
            </a:pPr>
            <a:r>
              <a:rPr sz="1575" b="0" i="0">
                <a:solidFill>
                  <a:srgbClr val="0000FF"/>
                </a:solidFill>
              </a:rPr>
              <a:t>git --version    claude --version    codex --version</a:t>
            </a:r>
          </a:p>
        </p:txBody>
      </p:sp>
      <p:sp>
        <p:nvSpPr>
          <p:cNvPr id="6" name="check2">
            <a:extLst xmlns:a="http://schemas.openxmlformats.org/drawingml/2006/main">
              <a:ext uri="{FF2B5EF4-FFF2-40B4-BE49-F238E27FC236}">
                <a16:creationId xmlns:a16="http://schemas.microsoft.com/office/drawing/2014/main" id="{AA3DBA41-6522-4CAF-AEC8-23B50E3A4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43125"/>
            <a:ext cx="457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3333B2"/>
                </a:solidFill>
              </a:defRPr>
            </a:pPr>
            <a:r>
              <a:rPr sz="2400" b="1" i="0">
                <a:solidFill>
                  <a:srgbClr val="3333B2"/>
                </a:solidFill>
              </a:rPr>
              <a:t>2</a:t>
            </a:r>
          </a:p>
        </p:txBody>
      </p:sp>
      <p:sp>
        <p:nvSpPr>
          <p:cNvPr id="7" name="check2-command">
            <a:extLst xmlns:a="http://schemas.openxmlformats.org/drawingml/2006/main">
              <a:ext uri="{FF2B5EF4-FFF2-40B4-BE49-F238E27FC236}">
                <a16:creationId xmlns:a16="http://schemas.microsoft.com/office/drawing/2014/main" id="{80DDD63B-D995-4EC1-8E2D-7D901D149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1717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0000FF"/>
                </a:solidFill>
              </a:defRPr>
            </a:pPr>
            <a:r>
              <a:rPr sz="1575" b="0" i="0">
                <a:solidFill>
                  <a:srgbClr val="0000FF"/>
                </a:solidFill>
              </a:rPr>
              <a:t>claude doctor</a:t>
            </a:r>
          </a:p>
        </p:txBody>
      </p:sp>
      <p:sp>
        <p:nvSpPr>
          <p:cNvPr id="8" name="check3">
            <a:extLst xmlns:a="http://schemas.openxmlformats.org/drawingml/2006/main">
              <a:ext uri="{FF2B5EF4-FFF2-40B4-BE49-F238E27FC236}">
                <a16:creationId xmlns:a16="http://schemas.microsoft.com/office/drawing/2014/main" id="{DB8ED306-0758-4ED9-8C06-C3133A4F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457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3333B2"/>
                </a:solidFill>
              </a:defRPr>
            </a:pPr>
            <a:r>
              <a:rPr sz="2400" b="1" i="0">
                <a:solidFill>
                  <a:srgbClr val="3333B2"/>
                </a:solidFill>
              </a:rPr>
              <a:t>3</a:t>
            </a:r>
          </a:p>
        </p:txBody>
      </p:sp>
      <p:sp>
        <p:nvSpPr>
          <p:cNvPr id="9" name="check3-copy">
            <a:extLst xmlns:a="http://schemas.openxmlformats.org/drawingml/2006/main">
              <a:ext uri="{FF2B5EF4-FFF2-40B4-BE49-F238E27FC236}">
                <a16:creationId xmlns:a16="http://schemas.microsoft.com/office/drawing/2014/main" id="{3B35947E-B76D-4CD8-A6D5-B1053E061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962275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Open the lab project; launch claude and codex there.</a:t>
            </a:r>
          </a:p>
        </p:txBody>
      </p:sp>
      <p:sp>
        <p:nvSpPr>
          <p:cNvPr id="10" name="check4">
            <a:extLst xmlns:a="http://schemas.openxmlformats.org/drawingml/2006/main">
              <a:ext uri="{FF2B5EF4-FFF2-40B4-BE49-F238E27FC236}">
                <a16:creationId xmlns:a16="http://schemas.microsoft.com/office/drawing/2014/main" id="{03BADC09-02AD-4BDA-B365-916B06322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24275"/>
            <a:ext cx="457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3333B2"/>
                </a:solidFill>
              </a:defRPr>
            </a:pPr>
            <a:r>
              <a:rPr sz="2400" b="1" i="0">
                <a:solidFill>
                  <a:srgbClr val="3333B2"/>
                </a:solidFill>
              </a:rPr>
              <a:t>4</a:t>
            </a:r>
          </a:p>
        </p:txBody>
      </p:sp>
      <p:sp>
        <p:nvSpPr>
          <p:cNvPr id="11" name="check4-copy">
            <a:extLst xmlns:a="http://schemas.openxmlformats.org/drawingml/2006/main">
              <a:ext uri="{FF2B5EF4-FFF2-40B4-BE49-F238E27FC236}">
                <a16:creationId xmlns:a16="http://schemas.microsoft.com/office/drawing/2014/main" id="{4644DA3E-3FBF-44C9-A6F0-473E6F4EA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75285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Confirm CC Switch shows the provider you intend to use.</a:t>
            </a:r>
          </a:p>
        </p:txBody>
      </p:sp>
      <p:sp>
        <p:nvSpPr>
          <p:cNvPr id="12" name="check5">
            <a:extLst xmlns:a="http://schemas.openxmlformats.org/drawingml/2006/main">
              <a:ext uri="{FF2B5EF4-FFF2-40B4-BE49-F238E27FC236}">
                <a16:creationId xmlns:a16="http://schemas.microsoft.com/office/drawing/2014/main" id="{3169D461-6084-44DC-85A6-AB5306357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457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3333B2"/>
                </a:solidFill>
              </a:defRPr>
            </a:pPr>
            <a:r>
              <a:rPr sz="2400" b="1" i="0">
                <a:solidFill>
                  <a:srgbClr val="3333B2"/>
                </a:solidFill>
              </a:rPr>
              <a:t>5</a:t>
            </a:r>
          </a:p>
        </p:txBody>
      </p:sp>
      <p:sp>
        <p:nvSpPr>
          <p:cNvPr id="13" name="check5-copy">
            <a:extLst xmlns:a="http://schemas.openxmlformats.org/drawingml/2006/main">
              <a:ext uri="{FF2B5EF4-FFF2-40B4-BE49-F238E27FC236}">
                <a16:creationId xmlns:a16="http://schemas.microsoft.com/office/drawing/2014/main" id="{4F52F43D-AB90-4371-A9EF-A2B381A4F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543425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0000"/>
                </a:solidFill>
              </a:defRPr>
            </a:pPr>
            <a:r>
              <a:rPr sz="1800" b="1" i="0">
                <a:solidFill>
                  <a:srgbClr val="FF0000"/>
                </a:solidFill>
              </a:rPr>
              <a:t>Keep credentials local—never add them to the repository.</a:t>
            </a:r>
          </a:p>
        </p:txBody>
      </p:sp>
      <p:sp>
        <p:nvSpPr>
          <p:cNvPr id="14" name="takeaway">
            <a:extLst xmlns:a="http://schemas.openxmlformats.org/drawingml/2006/main">
              <a:ext uri="{FF2B5EF4-FFF2-40B4-BE49-F238E27FC236}">
                <a16:creationId xmlns:a16="http://schemas.microsoft.com/office/drawing/2014/main" id="{625ECEB3-43D8-4F63-B73C-866AD71BC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48325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BF0040"/>
                </a:solidFill>
              </a:defRPr>
            </a:pPr>
            <a:r>
              <a:rPr sz="2025" b="1" i="0">
                <a:solidFill>
                  <a:srgbClr val="BF0040"/>
                </a:solidFill>
              </a:rPr>
              <a:t>If any check fails, stop here and ask for help.</a:t>
            </a:r>
          </a:p>
        </p:txBody>
      </p:sp>
    </p:spTree>
    <p:extLst>
      <p:ext uri="{BB962C8B-B14F-4D97-AF65-F5344CB8AC3E}">
        <p14:creationId xmlns:p14="http://schemas.microsoft.com/office/powerpoint/2010/main" val="4085977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2E0F530-09BF-4C5D-B92D-E2139C564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Add StatsClaw to Codex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265F47E0-656B-4A03-BD14-65610F85D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334B9EA-DD9E-4F05-9A92-E20D78BA8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7 / 29</a:t>
            </a:r>
          </a:p>
        </p:txBody>
      </p:sp>
      <p:sp>
        <p:nvSpPr>
          <p:cNvPr id="4" name="prereq-label">
            <a:extLst xmlns:a="http://schemas.openxmlformats.org/drawingml/2006/main">
              <a:ext uri="{FF2B5EF4-FFF2-40B4-BE49-F238E27FC236}">
                <a16:creationId xmlns:a16="http://schemas.microsoft.com/office/drawing/2014/main" id="{D3195BFD-C977-45B2-8DAF-C1E4BBFD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144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PREREQUISITES</a:t>
            </a:r>
          </a:p>
        </p:txBody>
      </p:sp>
      <p:sp>
        <p:nvSpPr>
          <p:cNvPr id="5" name="prereq-copy">
            <a:extLst xmlns:a="http://schemas.openxmlformats.org/drawingml/2006/main">
              <a:ext uri="{FF2B5EF4-FFF2-40B4-BE49-F238E27FC236}">
                <a16:creationId xmlns:a16="http://schemas.microsoft.com/office/drawing/2014/main" id="{577ED163-4E4A-46AF-835F-7C237DD03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3144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Git + Codex CLI</a:t>
            </a:r>
          </a:p>
        </p:txBody>
      </p:sp>
      <p:sp>
        <p:nvSpPr>
          <p:cNvPr id="6" name="recommended-label">
            <a:extLst xmlns:a="http://schemas.openxmlformats.org/drawingml/2006/main">
              <a:ext uri="{FF2B5EF4-FFF2-40B4-BE49-F238E27FC236}">
                <a16:creationId xmlns:a16="http://schemas.microsoft.com/office/drawing/2014/main" id="{DD47219A-11CC-41FB-9294-5E94FB10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050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RECOMMENDED INSTALLER</a:t>
            </a:r>
          </a:p>
        </p:txBody>
      </p:sp>
      <p:sp>
        <p:nvSpPr>
          <p:cNvPr id="7" name="recommended-command">
            <a:extLst xmlns:a="http://schemas.openxmlformats.org/drawingml/2006/main">
              <a:ext uri="{FF2B5EF4-FFF2-40B4-BE49-F238E27FC236}">
                <a16:creationId xmlns:a16="http://schemas.microsoft.com/office/drawing/2014/main" id="{D6CE5EF0-B386-4A97-A46F-A9F9D5E83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2410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0000FF"/>
                </a:solidFill>
              </a:defRPr>
            </a:pPr>
            <a:r>
              <a:rPr sz="1275" b="0" i="0">
                <a:solidFill>
                  <a:srgbClr val="0000FF"/>
                </a:solidFill>
              </a:rPr>
              <a:t>curl -fsSL https://raw.githubusercontent.com/statsclaw/statsclaw-codex/main/install-remote.sh | bash</a:t>
            </a:r>
          </a:p>
        </p:txBody>
      </p:sp>
      <p:sp>
        <p:nvSpPr>
          <p:cNvPr id="8" name="rule-78-307">
            <a:extLst xmlns:a="http://schemas.openxmlformats.org/drawingml/2006/main">
              <a:ext uri="{FF2B5EF4-FFF2-40B4-BE49-F238E27FC236}">
                <a16:creationId xmlns:a16="http://schemas.microsoft.com/office/drawing/2014/main" id="{C980BA9A-335B-47D9-B1DF-2423097B6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24175"/>
            <a:ext cx="10648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9" name="new-terminal">
            <a:extLst xmlns:a="http://schemas.openxmlformats.org/drawingml/2006/main">
              <a:ext uri="{FF2B5EF4-FFF2-40B4-BE49-F238E27FC236}">
                <a16:creationId xmlns:a16="http://schemas.microsoft.com/office/drawing/2014/main" id="{D8A27B28-07A0-4EC8-8D57-AECC005DB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0000"/>
                </a:solidFill>
              </a:defRPr>
            </a:pPr>
            <a:r>
              <a:rPr sz="1650" b="1" i="0">
                <a:solidFill>
                  <a:srgbClr val="FF0000"/>
                </a:solidFill>
              </a:rPr>
              <a:t>Open a NEW terminal</a:t>
            </a:r>
          </a:p>
        </p:txBody>
      </p:sp>
      <p:sp>
        <p:nvSpPr>
          <p:cNvPr id="10" name="install-sequence">
            <a:extLst xmlns:a="http://schemas.openxmlformats.org/drawingml/2006/main">
              <a:ext uri="{FF2B5EF4-FFF2-40B4-BE49-F238E27FC236}">
                <a16:creationId xmlns:a16="http://schemas.microsoft.com/office/drawing/2014/main" id="{0728A283-BF34-4032-ABA3-2CD6E4A4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8135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000FF"/>
                </a:solidFill>
              </a:defRPr>
            </a:pPr>
            <a:r>
              <a:rPr sz="1650" b="1" i="0">
                <a:solidFill>
                  <a:srgbClr val="0000FF"/>
                </a:solidFill>
              </a:rPr>
              <a:t>codex   →   /plugins   →   install statsclaw</a:t>
            </a:r>
          </a:p>
        </p:txBody>
      </p:sp>
      <p:sp>
        <p:nvSpPr>
          <p:cNvPr id="11" name="verify-label">
            <a:extLst xmlns:a="http://schemas.openxmlformats.org/drawingml/2006/main">
              <a:ext uri="{FF2B5EF4-FFF2-40B4-BE49-F238E27FC236}">
                <a16:creationId xmlns:a16="http://schemas.microsoft.com/office/drawing/2014/main" id="{C3AA197B-1268-4D76-8C8A-B6BC11D3B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766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VERIFY</a:t>
            </a:r>
          </a:p>
        </p:txBody>
      </p:sp>
      <p:sp>
        <p:nvSpPr>
          <p:cNvPr id="12" name="verify-copy">
            <a:extLst xmlns:a="http://schemas.openxmlformats.org/drawingml/2006/main">
              <a:ext uri="{FF2B5EF4-FFF2-40B4-BE49-F238E27FC236}">
                <a16:creationId xmlns:a16="http://schemas.microsoft.com/office/drawing/2014/main" id="{EAC4B1DC-F339-4FB3-809E-B70D6370C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76675"/>
            <a:ext cx="809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7171C"/>
                </a:solidFill>
              </a:defRPr>
            </a:pPr>
            <a:r>
              <a:rPr sz="1650" b="1" i="0">
                <a:solidFill>
                  <a:srgbClr val="17171C"/>
                </a:solidFill>
              </a:rPr>
              <a:t>Run the StatsClaw review workflow: $review</a:t>
            </a:r>
          </a:p>
        </p:txBody>
      </p:sp>
      <p:sp>
        <p:nvSpPr>
          <p:cNvPr id="13" name="manual-label">
            <a:extLst xmlns:a="http://schemas.openxmlformats.org/drawingml/2006/main">
              <a:ext uri="{FF2B5EF4-FFF2-40B4-BE49-F238E27FC236}">
                <a16:creationId xmlns:a16="http://schemas.microsoft.com/office/drawing/2014/main" id="{18A0550B-52F8-4716-A4CE-FC6A7F6D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482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MANUAL ALTERNATIVE</a:t>
            </a:r>
          </a:p>
        </p:txBody>
      </p:sp>
      <p:sp>
        <p:nvSpPr>
          <p:cNvPr id="14" name="manual-command1">
            <a:extLst xmlns:a="http://schemas.openxmlformats.org/drawingml/2006/main">
              <a:ext uri="{FF2B5EF4-FFF2-40B4-BE49-F238E27FC236}">
                <a16:creationId xmlns:a16="http://schemas.microsoft.com/office/drawing/2014/main" id="{2E05E70F-C26D-4190-8327-315A37A96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482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0000FF"/>
                </a:solidFill>
              </a:defRPr>
            </a:pPr>
            <a:r>
              <a:rPr sz="1275" b="0" i="0">
                <a:solidFill>
                  <a:srgbClr val="0000FF"/>
                </a:solidFill>
              </a:rPr>
              <a:t>git clone https://github.com/statsclaw/statsclaw-codex ~/.codex/plugins/statsclaw</a:t>
            </a:r>
          </a:p>
        </p:txBody>
      </p:sp>
      <p:sp>
        <p:nvSpPr>
          <p:cNvPr id="15" name="manual-command2">
            <a:extLst xmlns:a="http://schemas.openxmlformats.org/drawingml/2006/main">
              <a:ext uri="{FF2B5EF4-FFF2-40B4-BE49-F238E27FC236}">
                <a16:creationId xmlns:a16="http://schemas.microsoft.com/office/drawing/2014/main" id="{14FFBA3B-BF87-4830-822C-BFB1D65B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292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0000FF"/>
                </a:solidFill>
              </a:defRPr>
            </a:pPr>
            <a:r>
              <a:rPr sz="1350" b="0" i="0">
                <a:solidFill>
                  <a:srgbClr val="0000FF"/>
                </a:solidFill>
              </a:rPr>
              <a:t>bash ~/.codex/plugins/statsclaw/install.sh</a:t>
            </a:r>
          </a:p>
        </p:txBody>
      </p:sp>
      <p:sp>
        <p:nvSpPr>
          <p:cNvPr id="16" name="takeaway">
            <a:extLst xmlns:a="http://schemas.openxmlformats.org/drawingml/2006/main">
              <a:ext uri="{FF2B5EF4-FFF2-40B4-BE49-F238E27FC236}">
                <a16:creationId xmlns:a16="http://schemas.microsoft.com/office/drawing/2014/main" id="{154B6433-457D-4C59-8DDF-6F2D42D4A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53125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BF0040"/>
                </a:solidFill>
              </a:defRPr>
            </a:pPr>
            <a:r>
              <a:rPr sz="1575" b="1" i="0">
                <a:solidFill>
                  <a:srgbClr val="BF0040"/>
                </a:solidFill>
              </a:rPr>
              <a:t>Installation changes your Codex environment—not the workshop repository.</a:t>
            </a:r>
          </a:p>
        </p:txBody>
      </p:sp>
    </p:spTree>
    <p:extLst>
      <p:ext uri="{BB962C8B-B14F-4D97-AF65-F5344CB8AC3E}">
        <p14:creationId xmlns:p14="http://schemas.microsoft.com/office/powerpoint/2010/main" val="36455871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F66646E-885F-4139-B68D-826220CB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Download the workshop data from the class branch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8221E794-59DF-4300-B8EE-C093E4F8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E70E9DF-B193-4CBE-A9F7-0AF8E3C98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8 / 29</a:t>
            </a:r>
          </a:p>
        </p:txBody>
      </p:sp>
      <p:sp>
        <p:nvSpPr>
          <p:cNvPr id="4" name="first-label">
            <a:extLst xmlns:a="http://schemas.openxmlformats.org/drawingml/2006/main">
              <a:ext uri="{FF2B5EF4-FFF2-40B4-BE49-F238E27FC236}">
                <a16:creationId xmlns:a16="http://schemas.microsoft.com/office/drawing/2014/main" id="{9168892D-F98F-4791-9E35-D2C4AE371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954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FIRST TIME — CLONE THE CLASS BRANCH</a:t>
            </a:r>
          </a:p>
        </p:txBody>
      </p:sp>
      <p:sp>
        <p:nvSpPr>
          <p:cNvPr id="5" name="clone-command">
            <a:extLst xmlns:a="http://schemas.openxmlformats.org/drawingml/2006/main">
              <a:ext uri="{FF2B5EF4-FFF2-40B4-BE49-F238E27FC236}">
                <a16:creationId xmlns:a16="http://schemas.microsoft.com/office/drawing/2014/main" id="{5475BBDA-D508-46F0-98AC-9466B7FFE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0000FF"/>
                </a:solidFill>
              </a:defRPr>
            </a:pPr>
            <a:r>
              <a:rPr sz="1200" b="0" i="0">
                <a:solidFill>
                  <a:srgbClr val="0000FF"/>
                </a:solidFill>
              </a:rPr>
              <a:t>git clone --branch codex/afternoon-lab --single-branch https://github.com/kprinceing/workspace.git</a:t>
            </a:r>
          </a:p>
        </p:txBody>
      </p:sp>
      <p:sp>
        <p:nvSpPr>
          <p:cNvPr id="6" name="cd-command">
            <a:extLst xmlns:a="http://schemas.openxmlformats.org/drawingml/2006/main">
              <a:ext uri="{FF2B5EF4-FFF2-40B4-BE49-F238E27FC236}">
                <a16:creationId xmlns:a16="http://schemas.microsoft.com/office/drawing/2014/main" id="{98922D70-3FD9-4ECF-AC07-53CEA906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43125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cd "workspace/summer school/afternoon_lab"</a:t>
            </a:r>
          </a:p>
        </p:txBody>
      </p:sp>
      <p:sp>
        <p:nvSpPr>
          <p:cNvPr id="7" name="ls-command">
            <a:extLst xmlns:a="http://schemas.openxmlformats.org/drawingml/2006/main">
              <a:ext uri="{FF2B5EF4-FFF2-40B4-BE49-F238E27FC236}">
                <a16:creationId xmlns:a16="http://schemas.microsoft.com/office/drawing/2014/main" id="{9B5D21D6-2D44-4EAF-AE55-FF689D09F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336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ls data/</a:t>
            </a:r>
          </a:p>
        </p:txBody>
      </p:sp>
      <p:sp>
        <p:nvSpPr>
          <p:cNvPr id="8" name="rule-78-307">
            <a:extLst xmlns:a="http://schemas.openxmlformats.org/drawingml/2006/main">
              <a:ext uri="{FF2B5EF4-FFF2-40B4-BE49-F238E27FC236}">
                <a16:creationId xmlns:a16="http://schemas.microsoft.com/office/drawing/2014/main" id="{70D571D4-57B3-4D7A-8C1D-DF1E3F925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24175"/>
            <a:ext cx="10648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9" name="existing-label">
            <a:extLst xmlns:a="http://schemas.openxmlformats.org/drawingml/2006/main">
              <a:ext uri="{FF2B5EF4-FFF2-40B4-BE49-F238E27FC236}">
                <a16:creationId xmlns:a16="http://schemas.microsoft.com/office/drawing/2014/main" id="{65EE8BDD-88B4-453B-963F-B847A7A60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609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ALREADY CLONED — UPDATE TO THE CLASS BRANCH</a:t>
            </a:r>
          </a:p>
        </p:txBody>
      </p:sp>
      <p:sp>
        <p:nvSpPr>
          <p:cNvPr id="10" name="switch-command">
            <a:extLst xmlns:a="http://schemas.openxmlformats.org/drawingml/2006/main">
              <a:ext uri="{FF2B5EF4-FFF2-40B4-BE49-F238E27FC236}">
                <a16:creationId xmlns:a16="http://schemas.microsoft.com/office/drawing/2014/main" id="{923F9490-1EF0-41E5-9EFB-F6EBB55EC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09975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git switch codex/afternoon-lab</a:t>
            </a:r>
          </a:p>
        </p:txBody>
      </p:sp>
      <p:sp>
        <p:nvSpPr>
          <p:cNvPr id="11" name="pull-command">
            <a:extLst xmlns:a="http://schemas.openxmlformats.org/drawingml/2006/main">
              <a:ext uri="{FF2B5EF4-FFF2-40B4-BE49-F238E27FC236}">
                <a16:creationId xmlns:a16="http://schemas.microsoft.com/office/drawing/2014/main" id="{293B8EA1-8D2B-4B94-84B4-C4B6FDA8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09975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git pull</a:t>
            </a:r>
          </a:p>
        </p:txBody>
      </p:sp>
      <p:sp>
        <p:nvSpPr>
          <p:cNvPr id="12" name="warning-band">
            <a:extLst xmlns:a="http://schemas.openxmlformats.org/drawingml/2006/main">
              <a:ext uri="{FF2B5EF4-FFF2-40B4-BE49-F238E27FC236}">
                <a16:creationId xmlns:a16="http://schemas.microsoft.com/office/drawing/2014/main" id="{288BFD1A-1ACD-4460-B8E5-995AA5058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29125"/>
            <a:ext cx="106489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warning-title">
            <a:extLst xmlns:a="http://schemas.openxmlformats.org/drawingml/2006/main">
              <a:ext uri="{FF2B5EF4-FFF2-40B4-BE49-F238E27FC236}">
                <a16:creationId xmlns:a16="http://schemas.microsoft.com/office/drawing/2014/main" id="{FF032B00-4779-4BC5-8BF7-1C7AABA57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00575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F0000"/>
                </a:solidFill>
              </a:defRPr>
            </a:pPr>
            <a:r>
              <a:rPr sz="1575" b="1" i="0">
                <a:solidFill>
                  <a:srgbClr val="FF0000"/>
                </a:solidFill>
              </a:rPr>
              <a:t>PROTECT THE RAW DATA</a:t>
            </a:r>
          </a:p>
        </p:txBody>
      </p:sp>
      <p:sp>
        <p:nvSpPr>
          <p:cNvPr id="14" name="warning-copy">
            <a:extLst xmlns:a="http://schemas.openxmlformats.org/drawingml/2006/main">
              <a:ext uri="{FF2B5EF4-FFF2-40B4-BE49-F238E27FC236}">
                <a16:creationId xmlns:a16="http://schemas.microsoft.com/office/drawing/2014/main" id="{23539CE9-8BC0-4237-A564-947A700F8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911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Do not edit raw data directly. Create your own branch before investigating.</a:t>
            </a:r>
          </a:p>
        </p:txBody>
      </p:sp>
      <p:sp>
        <p:nvSpPr>
          <p:cNvPr id="15" name="branch-command">
            <a:extLst xmlns:a="http://schemas.openxmlformats.org/drawingml/2006/main">
              <a:ext uri="{FF2B5EF4-FFF2-40B4-BE49-F238E27FC236}">
                <a16:creationId xmlns:a16="http://schemas.microsoft.com/office/drawing/2014/main" id="{58DF8607-E6E9-4E2A-9204-8587644DF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9115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000FF"/>
                </a:solidFill>
              </a:defRPr>
            </a:pPr>
            <a:r>
              <a:rPr sz="1425" b="0" i="0">
                <a:solidFill>
                  <a:srgbClr val="0000FF"/>
                </a:solidFill>
              </a:rPr>
              <a:t>git switch -c yourname/afternoon-lab</a:t>
            </a:r>
          </a:p>
        </p:txBody>
      </p:sp>
    </p:spTree>
    <p:extLst>
      <p:ext uri="{BB962C8B-B14F-4D97-AF65-F5344CB8AC3E}">
        <p14:creationId xmlns:p14="http://schemas.microsoft.com/office/powerpoint/2010/main" val="18668599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FA468BC-D209-4BCD-80A3-EDBC84815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Two missions, one standard of evidence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86B1F526-4B9E-471E-8E50-C9317A108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BCD5BAF-515F-4240-9D90-4012C0308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9 / 29</a:t>
            </a:r>
          </a:p>
        </p:txBody>
      </p:sp>
      <p:sp>
        <p:nvSpPr>
          <p:cNvPr id="4" name="one">
            <a:extLst xmlns:a="http://schemas.openxmlformats.org/drawingml/2006/main">
              <a:ext uri="{FF2B5EF4-FFF2-40B4-BE49-F238E27FC236}">
                <a16:creationId xmlns:a16="http://schemas.microsoft.com/office/drawing/2014/main" id="{F7B06561-29D5-40C9-928F-B65E2CB47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19250"/>
            <a:ext cx="762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250" b="1" i="0">
                <a:solidFill>
                  <a:srgbClr val="3333B2"/>
                </a:solidFill>
              </a:defRPr>
            </a:pPr>
            <a:r>
              <a:rPr sz="5250" b="1" i="0">
                <a:solidFill>
                  <a:srgbClr val="3333B2"/>
                </a:solidFill>
              </a:rPr>
              <a:t>1</a:t>
            </a:r>
          </a:p>
        </p:txBody>
      </p:sp>
      <p:sp>
        <p:nvSpPr>
          <p:cNvPr id="5" name="mission-one">
            <a:extLst xmlns:a="http://schemas.openxmlformats.org/drawingml/2006/main">
              <a:ext uri="{FF2B5EF4-FFF2-40B4-BE49-F238E27FC236}">
                <a16:creationId xmlns:a16="http://schemas.microsoft.com/office/drawing/2014/main" id="{C52BE2BA-427F-4486-9399-D8BD6AB6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66875"/>
            <a:ext cx="685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7171C"/>
                </a:solidFill>
              </a:defRPr>
            </a:pPr>
            <a:r>
              <a:rPr sz="2550" b="1" i="0">
                <a:solidFill>
                  <a:srgbClr val="17171C"/>
                </a:solidFill>
              </a:rPr>
              <a:t>Build a clean workflow</a:t>
            </a:r>
          </a:p>
        </p:txBody>
      </p:sp>
      <p:sp>
        <p:nvSpPr>
          <p:cNvPr id="6" name="mission-one-detail">
            <a:extLst xmlns:a="http://schemas.openxmlformats.org/drawingml/2006/main">
              <a:ext uri="{FF2B5EF4-FFF2-40B4-BE49-F238E27FC236}">
                <a16:creationId xmlns:a16="http://schemas.microsoft.com/office/drawing/2014/main" id="{FF60EF6E-BFA6-4411-9E05-DE6FB7E55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19325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5C5C69"/>
                </a:solidFill>
              </a:defRPr>
            </a:pPr>
            <a:r>
              <a:rPr sz="1725" b="0" i="0">
                <a:solidFill>
                  <a:srgbClr val="5C5C69"/>
                </a:solidFill>
              </a:rPr>
              <a:t>Make the design explicit before results exist.</a:t>
            </a:r>
          </a:p>
        </p:txBody>
      </p:sp>
      <p:sp>
        <p:nvSpPr>
          <p:cNvPr id="7" name="rule-88-320">
            <a:extLst xmlns:a="http://schemas.openxmlformats.org/drawingml/2006/main">
              <a:ext uri="{FF2B5EF4-FFF2-40B4-BE49-F238E27FC236}">
                <a16:creationId xmlns:a16="http://schemas.microsoft.com/office/drawing/2014/main" id="{CD14B7C5-1C03-44F9-8B6A-C8DA28CF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981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8" name="two">
            <a:extLst xmlns:a="http://schemas.openxmlformats.org/drawingml/2006/main">
              <a:ext uri="{FF2B5EF4-FFF2-40B4-BE49-F238E27FC236}">
                <a16:creationId xmlns:a16="http://schemas.microsoft.com/office/drawing/2014/main" id="{88BE3568-31BD-4278-A34A-3F81473D3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24250"/>
            <a:ext cx="762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250" b="1" i="0">
                <a:solidFill>
                  <a:srgbClr val="3333B2"/>
                </a:solidFill>
              </a:defRPr>
            </a:pPr>
            <a:r>
              <a:rPr sz="5250" b="1" i="0">
                <a:solidFill>
                  <a:srgbClr val="3333B2"/>
                </a:solidFill>
              </a:rPr>
              <a:t>2</a:t>
            </a:r>
          </a:p>
        </p:txBody>
      </p:sp>
      <p:sp>
        <p:nvSpPr>
          <p:cNvPr id="9" name="mission-two">
            <a:extLst xmlns:a="http://schemas.openxmlformats.org/drawingml/2006/main">
              <a:ext uri="{FF2B5EF4-FFF2-40B4-BE49-F238E27FC236}">
                <a16:creationId xmlns:a16="http://schemas.microsoft.com/office/drawing/2014/main" id="{1300445B-2217-435A-B09E-F0B404551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71875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7171C"/>
                </a:solidFill>
              </a:defRPr>
            </a:pPr>
            <a:r>
              <a:rPr sz="2550" b="1" i="0">
                <a:solidFill>
                  <a:srgbClr val="17171C"/>
                </a:solidFill>
              </a:rPr>
              <a:t>Audit an inherited analysis</a:t>
            </a:r>
          </a:p>
        </p:txBody>
      </p:sp>
      <p:sp>
        <p:nvSpPr>
          <p:cNvPr id="10" name="mission-two-detail">
            <a:extLst xmlns:a="http://schemas.openxmlformats.org/drawingml/2006/main">
              <a:ext uri="{FF2B5EF4-FFF2-40B4-BE49-F238E27FC236}">
                <a16:creationId xmlns:a16="http://schemas.microsoft.com/office/drawing/2014/main" id="{5FC1E50E-4059-4CA5-8AEB-8162F199D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124325"/>
            <a:ext cx="857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5C5C69"/>
                </a:solidFill>
              </a:defRPr>
            </a:pPr>
            <a:r>
              <a:rPr sz="1725" b="0" i="0">
                <a:solidFill>
                  <a:srgbClr val="5C5C69"/>
                </a:solidFill>
              </a:rPr>
              <a:t>Reconstruct what changed and decide whether to sign off.</a:t>
            </a:r>
          </a:p>
        </p:txBody>
      </p:sp>
      <p:sp>
        <p:nvSpPr>
          <p:cNvPr id="11" name="takeaway">
            <a:extLst xmlns:a="http://schemas.openxmlformats.org/drawingml/2006/main">
              <a:ext uri="{FF2B5EF4-FFF2-40B4-BE49-F238E27FC236}">
                <a16:creationId xmlns:a16="http://schemas.microsoft.com/office/drawing/2014/main" id="{DF06824E-3A8B-417B-BE82-55855B31B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245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BF0040"/>
                </a:solidFill>
              </a:defRPr>
            </a:pPr>
            <a:r>
              <a:rPr sz="2100" b="1" i="0">
                <a:solidFill>
                  <a:srgbClr val="BF0040"/>
                </a:solidFill>
              </a:rPr>
              <a:t>Design before results.</a:t>
            </a:r>
          </a:p>
        </p:txBody>
      </p:sp>
    </p:spTree>
    <p:extLst>
      <p:ext uri="{BB962C8B-B14F-4D97-AF65-F5344CB8AC3E}">
        <p14:creationId xmlns:p14="http://schemas.microsoft.com/office/powerpoint/2010/main" val="3511310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EBE060C-16A3-4BC6-BAB1-6D8A93D43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Case A — A clean handoff starts with the estimand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3B9C5BA2-B813-4282-84CD-BB6F76074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5C5C0ED-BA7B-442B-B30B-A4F0DFB6C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10 / 29</a:t>
            </a:r>
          </a:p>
        </p:txBody>
      </p:sp>
      <p:sp>
        <p:nvSpPr>
          <p:cNvPr id="4" name="case-label">
            <a:extLst xmlns:a="http://schemas.openxmlformats.org/drawingml/2006/main">
              <a:ext uri="{FF2B5EF4-FFF2-40B4-BE49-F238E27FC236}">
                <a16:creationId xmlns:a16="http://schemas.microsoft.com/office/drawing/2014/main" id="{8CC175FD-A8DC-46DF-9D45-38C6B196E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81125"/>
            <a:ext cx="666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333B2"/>
                </a:solidFill>
              </a:defRPr>
            </a:pPr>
            <a:r>
              <a:rPr sz="1350" b="1" i="0">
                <a:solidFill>
                  <a:srgbClr val="3333B2"/>
                </a:solidFill>
              </a:rPr>
              <a:t>RANDOMIZED JOB-TRAINING OFFER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2B093D2F-82B3-45C5-9113-991C93433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9525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F0000"/>
                </a:solidFill>
              </a:defRPr>
            </a:pPr>
            <a:r>
              <a:rPr sz="2850" b="1" i="0">
                <a:solidFill>
                  <a:srgbClr val="FF0000"/>
                </a:solidFill>
              </a:rPr>
              <a:t>What is the effect of being offered training</a:t>
            </a:r>
          </a:p>
          <a:p xmlns:a="http://schemas.openxmlformats.org/drawingml/2006/main">
            <a:pPr algn="l">
              <a:defRPr sz="2850" b="1" i="0">
                <a:solidFill>
                  <a:srgbClr val="FF0000"/>
                </a:solidFill>
              </a:defRPr>
            </a:pPr>
            <a:r>
              <a:rPr sz="2850" b="1" i="0">
                <a:solidFill>
                  <a:srgbClr val="FF0000"/>
                </a:solidFill>
              </a:rPr>
              <a:t>on employment six months later?</a:t>
            </a:r>
          </a:p>
        </p:txBody>
      </p:sp>
      <p:sp>
        <p:nvSpPr>
          <p:cNvPr id="6" name="design">
            <a:extLst xmlns:a="http://schemas.openxmlformats.org/drawingml/2006/main">
              <a:ext uri="{FF2B5EF4-FFF2-40B4-BE49-F238E27FC236}">
                <a16:creationId xmlns:a16="http://schemas.microsoft.com/office/drawing/2014/main" id="{EFD90746-BF4D-4F24-8BE5-0C633B36F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1475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Assignment is randomized.</a:t>
            </a:r>
          </a:p>
        </p:txBody>
      </p:sp>
      <p:sp>
        <p:nvSpPr>
          <p:cNvPr id="7" name="estimand">
            <a:extLst xmlns:a="http://schemas.openxmlformats.org/drawingml/2006/main">
              <a:ext uri="{FF2B5EF4-FFF2-40B4-BE49-F238E27FC236}">
                <a16:creationId xmlns:a16="http://schemas.microsoft.com/office/drawing/2014/main" id="{141213CD-030F-4DE0-95B0-480E58276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57675"/>
            <a:ext cx="695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3333B2"/>
                </a:solidFill>
              </a:defRPr>
            </a:pPr>
            <a:r>
              <a:rPr sz="1875" b="1" i="0">
                <a:solidFill>
                  <a:srgbClr val="3333B2"/>
                </a:solidFill>
              </a:rPr>
              <a:t>Primary estimand: intention to treat (ITT).</a:t>
            </a:r>
          </a:p>
        </p:txBody>
      </p:sp>
      <p:sp>
        <p:nvSpPr>
          <p:cNvPr id="8" name="unit">
            <a:extLst xmlns:a="http://schemas.openxmlformats.org/drawingml/2006/main">
              <a:ext uri="{FF2B5EF4-FFF2-40B4-BE49-F238E27FC236}">
                <a16:creationId xmlns:a16="http://schemas.microsoft.com/office/drawing/2014/main" id="{73111F73-4603-4373-B954-5C284F702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0060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Unit: applicant.</a:t>
            </a:r>
          </a:p>
        </p:txBody>
      </p:sp>
    </p:spTree>
    <p:extLst>
      <p:ext uri="{BB962C8B-B14F-4D97-AF65-F5344CB8AC3E}">
        <p14:creationId xmlns:p14="http://schemas.microsoft.com/office/powerpoint/2010/main" val="61926598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D773F33-A8BF-4196-947F-1FC3941A0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Case A — Minimal file inventory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EBCC0586-9A74-4419-B127-9C08F970C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55AEC70-8BCA-433B-9D81-FC09DA1F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11 / 29</a:t>
            </a:r>
          </a:p>
        </p:txBody>
      </p:sp>
      <p:sp>
        <p:nvSpPr>
          <p:cNvPr id="4" name="path1">
            <a:extLst xmlns:a="http://schemas.openxmlformats.org/drawingml/2006/main">
              <a:ext uri="{FF2B5EF4-FFF2-40B4-BE49-F238E27FC236}">
                <a16:creationId xmlns:a16="http://schemas.microsoft.com/office/drawing/2014/main" id="{1B07EB93-CF69-4C80-A170-A51115186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240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000FF"/>
                </a:solidFill>
              </a:defRPr>
            </a:pPr>
            <a:r>
              <a:rPr sz="1875" b="1" i="0">
                <a:solidFill>
                  <a:srgbClr val="0000FF"/>
                </a:solidFill>
              </a:rPr>
              <a:t>data/baseline.csv</a:t>
            </a:r>
          </a:p>
        </p:txBody>
      </p:sp>
      <p:sp>
        <p:nvSpPr>
          <p:cNvPr id="5" name="desc1">
            <a:extLst xmlns:a="http://schemas.openxmlformats.org/drawingml/2006/main">
              <a:ext uri="{FF2B5EF4-FFF2-40B4-BE49-F238E27FC236}">
                <a16:creationId xmlns:a16="http://schemas.microsoft.com/office/drawing/2014/main" id="{26F2C5E7-CAE9-44BB-90EB-47796D9DA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240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one row per applicant; pre-treatment attributes</a:t>
            </a:r>
          </a:p>
        </p:txBody>
      </p:sp>
      <p:sp>
        <p:nvSpPr>
          <p:cNvPr id="6" name="rule-96-217">
            <a:extLst xmlns:a="http://schemas.openxmlformats.org/drawingml/2006/main">
              <a:ext uri="{FF2B5EF4-FFF2-40B4-BE49-F238E27FC236}">
                <a16:creationId xmlns:a16="http://schemas.microsoft.com/office/drawing/2014/main" id="{3237B580-7FD9-4E2B-9C5A-35BC1402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66925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7" name="path2">
            <a:extLst xmlns:a="http://schemas.openxmlformats.org/drawingml/2006/main">
              <a:ext uri="{FF2B5EF4-FFF2-40B4-BE49-F238E27FC236}">
                <a16:creationId xmlns:a16="http://schemas.microsoft.com/office/drawing/2014/main" id="{597169B8-563C-450E-B086-547C6AD33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28875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000FF"/>
                </a:solidFill>
              </a:defRPr>
            </a:pPr>
            <a:r>
              <a:rPr sz="1875" b="1" i="0">
                <a:solidFill>
                  <a:srgbClr val="0000FF"/>
                </a:solidFill>
              </a:rPr>
              <a:t>data/assignment.csv</a:t>
            </a:r>
          </a:p>
        </p:txBody>
      </p:sp>
      <p:sp>
        <p:nvSpPr>
          <p:cNvPr id="8" name="desc2">
            <a:extLst xmlns:a="http://schemas.openxmlformats.org/drawingml/2006/main">
              <a:ext uri="{FF2B5EF4-FFF2-40B4-BE49-F238E27FC236}">
                <a16:creationId xmlns:a16="http://schemas.microsoft.com/office/drawing/2014/main" id="{5CE95412-DC74-4733-9F2F-08F2AF68C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28875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randomized offer status</a:t>
            </a:r>
          </a:p>
        </p:txBody>
      </p:sp>
      <p:sp>
        <p:nvSpPr>
          <p:cNvPr id="9" name="rule-96-312">
            <a:extLst xmlns:a="http://schemas.openxmlformats.org/drawingml/2006/main">
              <a:ext uri="{FF2B5EF4-FFF2-40B4-BE49-F238E27FC236}">
                <a16:creationId xmlns:a16="http://schemas.microsoft.com/office/drawing/2014/main" id="{2429F6E4-750F-47FD-8DCC-2D2823966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7180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0" name="path3">
            <a:extLst xmlns:a="http://schemas.openxmlformats.org/drawingml/2006/main">
              <a:ext uri="{FF2B5EF4-FFF2-40B4-BE49-F238E27FC236}">
                <a16:creationId xmlns:a16="http://schemas.microsoft.com/office/drawing/2014/main" id="{1EE82531-908B-4215-964A-056D3C60D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000FF"/>
                </a:solidFill>
              </a:defRPr>
            </a:pPr>
            <a:r>
              <a:rPr sz="1875" b="1" i="0">
                <a:solidFill>
                  <a:srgbClr val="0000FF"/>
                </a:solidFill>
              </a:rPr>
              <a:t>data/followup.csv</a:t>
            </a:r>
          </a:p>
        </p:txBody>
      </p:sp>
      <p:sp>
        <p:nvSpPr>
          <p:cNvPr id="11" name="desc3">
            <a:extLst xmlns:a="http://schemas.openxmlformats.org/drawingml/2006/main">
              <a:ext uri="{FF2B5EF4-FFF2-40B4-BE49-F238E27FC236}">
                <a16:creationId xmlns:a16="http://schemas.microsoft.com/office/drawing/2014/main" id="{53587A93-C1F5-4DD2-B701-B0444A438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six-month employment outcome</a:t>
            </a:r>
          </a:p>
        </p:txBody>
      </p:sp>
      <p:sp>
        <p:nvSpPr>
          <p:cNvPr id="12" name="question">
            <a:extLst xmlns:a="http://schemas.openxmlformats.org/drawingml/2006/main">
              <a:ext uri="{FF2B5EF4-FFF2-40B4-BE49-F238E27FC236}">
                <a16:creationId xmlns:a16="http://schemas.microsoft.com/office/drawing/2014/main" id="{7C0F0C60-AD1B-42ED-ACC1-48B3D633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F0000"/>
                </a:solidFill>
              </a:defRPr>
            </a:pPr>
            <a:r>
              <a:rPr sz="2250" b="1" i="0">
                <a:solidFill>
                  <a:srgbClr val="FF0000"/>
                </a:solidFill>
              </a:rPr>
              <a:t>Before merging: what must be true of applicant_id?</a:t>
            </a:r>
          </a:p>
        </p:txBody>
      </p:sp>
    </p:spTree>
    <p:extLst>
      <p:ext uri="{BB962C8B-B14F-4D97-AF65-F5344CB8AC3E}">
        <p14:creationId xmlns:p14="http://schemas.microsoft.com/office/powerpoint/2010/main" val="210718965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0C91D7C-8996-44DD-83F7-D05F119CC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Case A — Give StatsClaw a gated workflow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DFEBB817-DD67-4747-9E1B-A1EC562E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466D721-9AB1-45E1-8B66-71BDC64B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12 / 29</a:t>
            </a:r>
          </a:p>
        </p:txBody>
      </p:sp>
      <p:sp>
        <p:nvSpPr>
          <p:cNvPr id="4" name="prompt-rule">
            <a:extLst xmlns:a="http://schemas.openxmlformats.org/drawingml/2006/main">
              <a:ext uri="{FF2B5EF4-FFF2-40B4-BE49-F238E27FC236}">
                <a16:creationId xmlns:a16="http://schemas.microsoft.com/office/drawing/2014/main" id="{7C7E87AD-CB0B-4570-82FF-D6A717F4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66675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3B2"/>
          </a:solidFill>
          <a:ln xmlns:a="http://schemas.openxmlformats.org/drawingml/2006/main" w="0">
            <a:solidFill>
              <a:srgbClr val="3333B2"/>
            </a:solidFill>
            <a:prstDash val="solid"/>
          </a:ln>
        </p:spPr>
      </p:sp>
      <p:sp>
        <p:nvSpPr>
          <p:cNvPr id="5" name="prompt">
            <a:extLst xmlns:a="http://schemas.openxmlformats.org/drawingml/2006/main">
              <a:ext uri="{FF2B5EF4-FFF2-40B4-BE49-F238E27FC236}">
                <a16:creationId xmlns:a16="http://schemas.microsoft.com/office/drawing/2014/main" id="{01C28E32-A9A3-4A9F-9D94-0A628B7C1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428750"/>
            <a:ext cx="9715500" cy="3762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Use the StatsClaw planner to propose an applicant-level ITT analysis.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Lock the unit, applicant_id keys, complete 1:1 merge contract, randomized offered_training treatment, employed_6m outcome, and sample.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Do not authorize the builder yet. After accepting the plan, authorize the smallest build; assign an independent tester; run $review.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Only after PASS: commit locally. Do not push.</a:t>
            </a:r>
          </a:p>
        </p:txBody>
      </p:sp>
      <p:sp>
        <p:nvSpPr>
          <p:cNvPr id="6" name="instruction">
            <a:extLst xmlns:a="http://schemas.openxmlformats.org/drawingml/2006/main">
              <a:ext uri="{FF2B5EF4-FFF2-40B4-BE49-F238E27FC236}">
                <a16:creationId xmlns:a16="http://schemas.microsoft.com/office/drawing/2014/main" id="{CC6963BD-C228-431A-8F9E-B1A1FAEDC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495925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F0040"/>
                </a:solidFill>
              </a:defRPr>
            </a:pPr>
            <a:r>
              <a:rPr sz="1650" b="1" i="0">
                <a:solidFill>
                  <a:srgbClr val="BF0040"/>
                </a:solidFill>
              </a:rPr>
              <a:t>Builder authority is withheld until the StatsClaw plan is accepted.</a:t>
            </a:r>
          </a:p>
        </p:txBody>
      </p:sp>
    </p:spTree>
    <p:extLst>
      <p:ext uri="{BB962C8B-B14F-4D97-AF65-F5344CB8AC3E}">
        <p14:creationId xmlns:p14="http://schemas.microsoft.com/office/powerpoint/2010/main" val="46967770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655EACC-1CDC-452A-A9DE-8A2B689FC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Write a data-and-design contract before analysis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4C2075ED-0555-4301-B680-654C3423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D084098-3EA7-4489-8262-0A6F7AB1F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13 / 29</a:t>
            </a:r>
          </a:p>
        </p:txBody>
      </p:sp>
      <p:sp>
        <p:nvSpPr>
          <p:cNvPr id="4" name="bullet-145">
            <a:extLst xmlns:a="http://schemas.openxmlformats.org/drawingml/2006/main">
              <a:ext uri="{FF2B5EF4-FFF2-40B4-BE49-F238E27FC236}">
                <a16:creationId xmlns:a16="http://schemas.microsoft.com/office/drawing/2014/main" id="{E41E9572-412F-4EAF-905B-796828EA1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62075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3333B2"/>
                </a:solidFill>
              </a:defRPr>
            </a:pPr>
            <a:r>
              <a:rPr sz="2325" b="1" i="0">
                <a:solidFill>
                  <a:srgbClr val="3333B2"/>
                </a:solidFill>
              </a:rPr>
              <a:t>•</a:t>
            </a:r>
          </a:p>
        </p:txBody>
      </p:sp>
      <p:sp>
        <p:nvSpPr>
          <p:cNvPr id="5" name="bullet-label-145">
            <a:extLst xmlns:a="http://schemas.openxmlformats.org/drawingml/2006/main">
              <a:ext uri="{FF2B5EF4-FFF2-40B4-BE49-F238E27FC236}">
                <a16:creationId xmlns:a16="http://schemas.microsoft.com/office/drawing/2014/main" id="{E54149F4-4A76-446B-9F15-80B88173F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381125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3333B2"/>
                </a:solidFill>
              </a:defRPr>
            </a:pPr>
            <a:r>
              <a:rPr sz="2025" b="1" i="0">
                <a:solidFill>
                  <a:srgbClr val="3333B2"/>
                </a:solidFill>
              </a:rPr>
              <a:t>Unit and keys</a:t>
            </a:r>
          </a:p>
        </p:txBody>
      </p:sp>
      <p:sp>
        <p:nvSpPr>
          <p:cNvPr id="6" name="bullet-detail-145">
            <a:extLst xmlns:a="http://schemas.openxmlformats.org/drawingml/2006/main">
              <a:ext uri="{FF2B5EF4-FFF2-40B4-BE49-F238E27FC236}">
                <a16:creationId xmlns:a16="http://schemas.microsoft.com/office/drawing/2014/main" id="{59D0E6FA-B668-433C-B962-CBDE142A5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5260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171C"/>
                </a:solidFill>
              </a:defRPr>
            </a:pPr>
            <a:r>
              <a:rPr sz="1500" b="0" i="0">
                <a:solidFill>
                  <a:srgbClr val="17171C"/>
                </a:solidFill>
              </a:rPr>
              <a:t>One applicant per analysis row; applicant_id is unique where expected.</a:t>
            </a:r>
          </a:p>
        </p:txBody>
      </p:sp>
      <p:sp>
        <p:nvSpPr>
          <p:cNvPr id="7" name="bullet-235">
            <a:extLst xmlns:a="http://schemas.openxmlformats.org/drawingml/2006/main">
              <a:ext uri="{FF2B5EF4-FFF2-40B4-BE49-F238E27FC236}">
                <a16:creationId xmlns:a16="http://schemas.microsoft.com/office/drawing/2014/main" id="{1B866245-AFC4-4834-9EC1-E6ABFD4F3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19325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3333B2"/>
                </a:solidFill>
              </a:defRPr>
            </a:pPr>
            <a:r>
              <a:rPr sz="2325" b="1" i="0">
                <a:solidFill>
                  <a:srgbClr val="3333B2"/>
                </a:solidFill>
              </a:rPr>
              <a:t>•</a:t>
            </a:r>
          </a:p>
        </p:txBody>
      </p:sp>
      <p:sp>
        <p:nvSpPr>
          <p:cNvPr id="8" name="bullet-label-235">
            <a:extLst xmlns:a="http://schemas.openxmlformats.org/drawingml/2006/main">
              <a:ext uri="{FF2B5EF4-FFF2-40B4-BE49-F238E27FC236}">
                <a16:creationId xmlns:a16="http://schemas.microsoft.com/office/drawing/2014/main" id="{6899FE7F-D3D2-49AE-B606-7116D7EA1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38375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3333B2"/>
                </a:solidFill>
              </a:defRPr>
            </a:pPr>
            <a:r>
              <a:rPr sz="2025" b="1" i="0">
                <a:solidFill>
                  <a:srgbClr val="3333B2"/>
                </a:solidFill>
              </a:rPr>
              <a:t>Treatment and timing</a:t>
            </a:r>
          </a:p>
        </p:txBody>
      </p:sp>
      <p:sp>
        <p:nvSpPr>
          <p:cNvPr id="9" name="bullet-detail-235">
            <a:extLst xmlns:a="http://schemas.openxmlformats.org/drawingml/2006/main">
              <a:ext uri="{FF2B5EF4-FFF2-40B4-BE49-F238E27FC236}">
                <a16:creationId xmlns:a16="http://schemas.microsoft.com/office/drawing/2014/main" id="{A9F0252F-E1BF-4C1D-86F5-8A9CACFCC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0985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171C"/>
                </a:solidFill>
              </a:defRPr>
            </a:pPr>
            <a:r>
              <a:rPr sz="1500" b="0" i="0">
                <a:solidFill>
                  <a:srgbClr val="17171C"/>
                </a:solidFill>
              </a:rPr>
              <a:t>offered_training is assigned before outcomes; assignment is immutable.</a:t>
            </a:r>
          </a:p>
        </p:txBody>
      </p:sp>
      <p:sp>
        <p:nvSpPr>
          <p:cNvPr id="10" name="bullet-325">
            <a:extLst xmlns:a="http://schemas.openxmlformats.org/drawingml/2006/main">
              <a:ext uri="{FF2B5EF4-FFF2-40B4-BE49-F238E27FC236}">
                <a16:creationId xmlns:a16="http://schemas.microsoft.com/office/drawing/2014/main" id="{5BC023B3-99DB-46F8-8C33-5357907A1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76575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3333B2"/>
                </a:solidFill>
              </a:defRPr>
            </a:pPr>
            <a:r>
              <a:rPr sz="2325" b="1" i="0">
                <a:solidFill>
                  <a:srgbClr val="3333B2"/>
                </a:solidFill>
              </a:rPr>
              <a:t>•</a:t>
            </a:r>
          </a:p>
        </p:txBody>
      </p:sp>
      <p:sp>
        <p:nvSpPr>
          <p:cNvPr id="11" name="bullet-label-325">
            <a:extLst xmlns:a="http://schemas.openxmlformats.org/drawingml/2006/main">
              <a:ext uri="{FF2B5EF4-FFF2-40B4-BE49-F238E27FC236}">
                <a16:creationId xmlns:a16="http://schemas.microsoft.com/office/drawing/2014/main" id="{C3D3F230-C59E-4BA6-9237-3FCA9911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95625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3333B2"/>
                </a:solidFill>
              </a:defRPr>
            </a:pPr>
            <a:r>
              <a:rPr sz="2025" b="1" i="0">
                <a:solidFill>
                  <a:srgbClr val="3333B2"/>
                </a:solidFill>
              </a:rPr>
              <a:t>Outcome and horizon</a:t>
            </a:r>
          </a:p>
        </p:txBody>
      </p:sp>
      <p:sp>
        <p:nvSpPr>
          <p:cNvPr id="12" name="bullet-detail-325">
            <a:extLst xmlns:a="http://schemas.openxmlformats.org/drawingml/2006/main">
              <a:ext uri="{FF2B5EF4-FFF2-40B4-BE49-F238E27FC236}">
                <a16:creationId xmlns:a16="http://schemas.microsoft.com/office/drawing/2014/main" id="{69AC74DC-66AE-48B3-B8B5-542EE169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6710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171C"/>
                </a:solidFill>
              </a:defRPr>
            </a:pPr>
            <a:r>
              <a:rPr sz="1500" b="0" i="0">
                <a:solidFill>
                  <a:srgbClr val="17171C"/>
                </a:solidFill>
              </a:rPr>
              <a:t>employed_6m is defined consistently for all applicants.</a:t>
            </a:r>
          </a:p>
        </p:txBody>
      </p:sp>
      <p:sp>
        <p:nvSpPr>
          <p:cNvPr id="13" name="bullet-415">
            <a:extLst xmlns:a="http://schemas.openxmlformats.org/drawingml/2006/main">
              <a:ext uri="{FF2B5EF4-FFF2-40B4-BE49-F238E27FC236}">
                <a16:creationId xmlns:a16="http://schemas.microsoft.com/office/drawing/2014/main" id="{E5663049-C8FB-440C-9943-67C181714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33825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3333B2"/>
                </a:solidFill>
              </a:defRPr>
            </a:pPr>
            <a:r>
              <a:rPr sz="2325" b="1" i="0">
                <a:solidFill>
                  <a:srgbClr val="3333B2"/>
                </a:solidFill>
              </a:rPr>
              <a:t>•</a:t>
            </a:r>
          </a:p>
        </p:txBody>
      </p:sp>
      <p:sp>
        <p:nvSpPr>
          <p:cNvPr id="14" name="bullet-label-415">
            <a:extLst xmlns:a="http://schemas.openxmlformats.org/drawingml/2006/main">
              <a:ext uri="{FF2B5EF4-FFF2-40B4-BE49-F238E27FC236}">
                <a16:creationId xmlns:a16="http://schemas.microsoft.com/office/drawing/2014/main" id="{9ACF25AA-DE86-4B1C-AA44-F273D347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3333B2"/>
                </a:solidFill>
              </a:defRPr>
            </a:pPr>
            <a:r>
              <a:rPr sz="2025" b="1" i="0">
                <a:solidFill>
                  <a:srgbClr val="3333B2"/>
                </a:solidFill>
              </a:rPr>
              <a:t>Estimand and sample</a:t>
            </a:r>
          </a:p>
        </p:txBody>
      </p:sp>
      <p:sp>
        <p:nvSpPr>
          <p:cNvPr id="15" name="bullet-detail-415">
            <a:extLst xmlns:a="http://schemas.openxmlformats.org/drawingml/2006/main">
              <a:ext uri="{FF2B5EF4-FFF2-40B4-BE49-F238E27FC236}">
                <a16:creationId xmlns:a16="http://schemas.microsoft.com/office/drawing/2014/main" id="{A99A6DCA-1775-42ED-A5FC-5BE1D699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2435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171C"/>
                </a:solidFill>
              </a:defRPr>
            </a:pPr>
            <a:r>
              <a:rPr sz="1500" b="0" i="0">
                <a:solidFill>
                  <a:srgbClr val="17171C"/>
                </a:solidFill>
              </a:rPr>
              <a:t>ITT among randomized applicants; exclusions must be pre-specified.</a:t>
            </a:r>
          </a:p>
        </p:txBody>
      </p:sp>
      <p:sp>
        <p:nvSpPr>
          <p:cNvPr id="16" name="stop">
            <a:extLst xmlns:a="http://schemas.openxmlformats.org/drawingml/2006/main">
              <a:ext uri="{FF2B5EF4-FFF2-40B4-BE49-F238E27FC236}">
                <a16:creationId xmlns:a16="http://schemas.microsoft.com/office/drawing/2014/main" id="{50DA816F-8E6F-4F24-8ADB-0037BABF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91125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0000"/>
                </a:solidFill>
              </a:defRPr>
            </a:pPr>
            <a:r>
              <a:rPr sz="1800" b="1" i="0">
                <a:solidFill>
                  <a:srgbClr val="FF0000"/>
                </a:solidFill>
              </a:rPr>
              <a:t>WITHHOLD BUILDER AUTHORITY until the StatsClaw planner locks this contract.</a:t>
            </a:r>
          </a:p>
        </p:txBody>
      </p:sp>
      <p:sp>
        <p:nvSpPr>
          <p:cNvPr id="17" name="stop2">
            <a:extLst xmlns:a="http://schemas.openxmlformats.org/drawingml/2006/main">
              <a:ext uri="{FF2B5EF4-FFF2-40B4-BE49-F238E27FC236}">
                <a16:creationId xmlns:a16="http://schemas.microsoft.com/office/drawing/2014/main" id="{4F3FC28D-BF3A-4A9D-AE51-C539C1AD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00700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0000"/>
                </a:solidFill>
              </a:defRPr>
            </a:pPr>
            <a:r>
              <a:rPr sz="1650" b="1" i="0">
                <a:solidFill>
                  <a:srgbClr val="FF0000"/>
                </a:solidFill>
              </a:rPr>
              <a:t>STOP if keys fail, treatment changes, or exclusions are unexplained.</a:t>
            </a:r>
          </a:p>
        </p:txBody>
      </p:sp>
    </p:spTree>
    <p:extLst>
      <p:ext uri="{BB962C8B-B14F-4D97-AF65-F5344CB8AC3E}">
        <p14:creationId xmlns:p14="http://schemas.microsoft.com/office/powerpoint/2010/main" val="1369082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CA058BC-D3A2-4A9F-A46B-B7F2AA57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StatsClaw separates planning, building, and verification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7CA620C5-F3E6-4355-8016-8AA432B2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7337266-4B8F-4882-83DE-9EAA98A7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14 / 29</a:t>
            </a:r>
          </a:p>
        </p:txBody>
      </p:sp>
      <p:sp>
        <p:nvSpPr>
          <p:cNvPr id="4" name="step-0">
            <a:extLst xmlns:a="http://schemas.openxmlformats.org/drawingml/2006/main">
              <a:ext uri="{FF2B5EF4-FFF2-40B4-BE49-F238E27FC236}">
                <a16:creationId xmlns:a16="http://schemas.microsoft.com/office/drawing/2014/main" id="{9ECFFF05-7BFE-4FBE-96D5-A9925B566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95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StatsClaw</a:t>
            </a:r>
          </a:p>
          <a:p xmlns:a="http://schemas.openxmlformats.org/drawingml/2006/main">
            <a:pPr algn="ctr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planner</a:t>
            </a:r>
          </a:p>
        </p:txBody>
      </p:sp>
      <p:sp>
        <p:nvSpPr>
          <p:cNvPr id="5" name="arrow-0">
            <a:extLst xmlns:a="http://schemas.openxmlformats.org/drawingml/2006/main">
              <a:ext uri="{FF2B5EF4-FFF2-40B4-BE49-F238E27FC236}">
                <a16:creationId xmlns:a16="http://schemas.microsoft.com/office/drawing/2014/main" id="{77F16248-8162-427C-8230-C98C04074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223837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0" i="0">
                <a:solidFill>
                  <a:srgbClr val="5C5C69"/>
                </a:solidFill>
              </a:defRPr>
            </a:pPr>
            <a:r>
              <a:rPr sz="2100" b="0" i="0">
                <a:solidFill>
                  <a:srgbClr val="5C5C69"/>
                </a:solidFill>
              </a:rPr>
              <a:t>→</a:t>
            </a:r>
          </a:p>
        </p:txBody>
      </p:sp>
      <p:sp>
        <p:nvSpPr>
          <p:cNvPr id="6" name="step-1">
            <a:extLst xmlns:a="http://schemas.openxmlformats.org/drawingml/2006/main">
              <a:ext uri="{FF2B5EF4-FFF2-40B4-BE49-F238E27FC236}">
                <a16:creationId xmlns:a16="http://schemas.microsoft.com/office/drawing/2014/main" id="{5DDE41FC-45BF-4E70-AD29-183970099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095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F0000"/>
                </a:solidFill>
              </a:defRPr>
            </a:pPr>
            <a:r>
              <a:rPr sz="1500" b="1" i="0">
                <a:solidFill>
                  <a:srgbClr val="FF0000"/>
                </a:solidFill>
              </a:rPr>
              <a:t>authorized</a:t>
            </a:r>
          </a:p>
          <a:p xmlns:a="http://schemas.openxmlformats.org/drawingml/2006/main">
            <a:pPr algn="ctr">
              <a:defRPr sz="1500" b="1" i="0">
                <a:solidFill>
                  <a:srgbClr val="FF0000"/>
                </a:solidFill>
              </a:defRPr>
            </a:pPr>
            <a:r>
              <a:rPr sz="1500" b="1" i="0">
                <a:solidFill>
                  <a:srgbClr val="FF0000"/>
                </a:solidFill>
              </a:rPr>
              <a:t>builder</a:t>
            </a:r>
          </a:p>
        </p:txBody>
      </p:sp>
      <p:sp>
        <p:nvSpPr>
          <p:cNvPr id="7" name="arrow-1">
            <a:extLst xmlns:a="http://schemas.openxmlformats.org/drawingml/2006/main">
              <a:ext uri="{FF2B5EF4-FFF2-40B4-BE49-F238E27FC236}">
                <a16:creationId xmlns:a16="http://schemas.microsoft.com/office/drawing/2014/main" id="{34561298-A6BB-4E21-A846-5283CB9EB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23837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0" i="0">
                <a:solidFill>
                  <a:srgbClr val="5C5C69"/>
                </a:solidFill>
              </a:defRPr>
            </a:pPr>
            <a:r>
              <a:rPr sz="2100" b="0" i="0">
                <a:solidFill>
                  <a:srgbClr val="5C5C69"/>
                </a:solidFill>
              </a:rPr>
              <a:t>→</a:t>
            </a:r>
          </a:p>
        </p:txBody>
      </p:sp>
      <p:sp>
        <p:nvSpPr>
          <p:cNvPr id="8" name="step-2">
            <a:extLst xmlns:a="http://schemas.openxmlformats.org/drawingml/2006/main">
              <a:ext uri="{FF2B5EF4-FFF2-40B4-BE49-F238E27FC236}">
                <a16:creationId xmlns:a16="http://schemas.microsoft.com/office/drawing/2014/main" id="{19617574-12E3-4744-8F77-88F83863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095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independent</a:t>
            </a:r>
          </a:p>
          <a:p xmlns:a="http://schemas.openxmlformats.org/drawingml/2006/main">
            <a:pPr algn="ctr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tester</a:t>
            </a:r>
          </a:p>
        </p:txBody>
      </p:sp>
      <p:sp>
        <p:nvSpPr>
          <p:cNvPr id="9" name="arrow-2">
            <a:extLst xmlns:a="http://schemas.openxmlformats.org/drawingml/2006/main">
              <a:ext uri="{FF2B5EF4-FFF2-40B4-BE49-F238E27FC236}">
                <a16:creationId xmlns:a16="http://schemas.microsoft.com/office/drawing/2014/main" id="{C35F269D-6982-4EB9-87D7-2C6B90DCD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223837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0" i="0">
                <a:solidFill>
                  <a:srgbClr val="5C5C69"/>
                </a:solidFill>
              </a:defRPr>
            </a:pPr>
            <a:r>
              <a:rPr sz="2100" b="0" i="0">
                <a:solidFill>
                  <a:srgbClr val="5C5C69"/>
                </a:solidFill>
              </a:rPr>
              <a:t>→</a:t>
            </a:r>
          </a:p>
        </p:txBody>
      </p:sp>
      <p:sp>
        <p:nvSpPr>
          <p:cNvPr id="10" name="step-3">
            <a:extLst xmlns:a="http://schemas.openxmlformats.org/drawingml/2006/main">
              <a:ext uri="{FF2B5EF4-FFF2-40B4-BE49-F238E27FC236}">
                <a16:creationId xmlns:a16="http://schemas.microsoft.com/office/drawing/2014/main" id="{2BB75FBB-B2A5-43B4-BB44-BD06A14D0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095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$review</a:t>
            </a:r>
          </a:p>
        </p:txBody>
      </p:sp>
      <p:sp>
        <p:nvSpPr>
          <p:cNvPr id="11" name="arrow-3">
            <a:extLst xmlns:a="http://schemas.openxmlformats.org/drawingml/2006/main">
              <a:ext uri="{FF2B5EF4-FFF2-40B4-BE49-F238E27FC236}">
                <a16:creationId xmlns:a16="http://schemas.microsoft.com/office/drawing/2014/main" id="{2EAC7B7E-AFB0-46C8-B5AA-46FE5B1C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23837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0" i="0">
                <a:solidFill>
                  <a:srgbClr val="5C5C69"/>
                </a:solidFill>
              </a:defRPr>
            </a:pPr>
            <a:r>
              <a:rPr sz="2100" b="0" i="0">
                <a:solidFill>
                  <a:srgbClr val="5C5C69"/>
                </a:solidFill>
              </a:rPr>
              <a:t>→</a:t>
            </a:r>
          </a:p>
        </p:txBody>
      </p:sp>
      <p:sp>
        <p:nvSpPr>
          <p:cNvPr id="12" name="step-4">
            <a:extLst xmlns:a="http://schemas.openxmlformats.org/drawingml/2006/main">
              <a:ext uri="{FF2B5EF4-FFF2-40B4-BE49-F238E27FC236}">
                <a16:creationId xmlns:a16="http://schemas.microsoft.com/office/drawing/2014/main" id="{56805884-B44C-4EC6-99D7-DA86B92A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0955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local Git commit</a:t>
            </a:r>
          </a:p>
          <a:p xmlns:a="http://schemas.openxmlformats.org/drawingml/2006/main">
            <a:pPr algn="ctr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after PASS</a:t>
            </a:r>
          </a:p>
        </p:txBody>
      </p:sp>
      <p:sp>
        <p:nvSpPr>
          <p:cNvPr id="13" name="cmd-355">
            <a:extLst xmlns:a="http://schemas.openxmlformats.org/drawingml/2006/main">
              <a:ext uri="{FF2B5EF4-FFF2-40B4-BE49-F238E27FC236}">
                <a16:creationId xmlns:a16="http://schemas.microsoft.com/office/drawing/2014/main" id="{AD647DFD-D32C-4820-BDC6-24870BB10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81375"/>
            <a:ext cx="695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switch -c yourname/case-a-itt</a:t>
            </a:r>
          </a:p>
        </p:txBody>
      </p:sp>
      <p:sp>
        <p:nvSpPr>
          <p:cNvPr id="14" name="pass-rule">
            <a:extLst xmlns:a="http://schemas.openxmlformats.org/drawingml/2006/main">
              <a:ext uri="{FF2B5EF4-FFF2-40B4-BE49-F238E27FC236}">
                <a16:creationId xmlns:a16="http://schemas.microsoft.com/office/drawing/2014/main" id="{9E4E64E9-86C4-4D3B-92D5-F202659A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647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BF0040"/>
                </a:solidFill>
              </a:defRPr>
            </a:pPr>
            <a:r>
              <a:rPr sz="2250" b="1" i="0">
                <a:solidFill>
                  <a:srgbClr val="BF0040"/>
                </a:solidFill>
              </a:rPr>
              <a:t>Commit locally only after PASS.</a:t>
            </a:r>
          </a:p>
        </p:txBody>
      </p:sp>
      <p:sp>
        <p:nvSpPr>
          <p:cNvPr id="15" name="no-ship">
            <a:extLst xmlns:a="http://schemas.openxmlformats.org/drawingml/2006/main">
              <a:ext uri="{FF2B5EF4-FFF2-40B4-BE49-F238E27FC236}">
                <a16:creationId xmlns:a16="http://schemas.microsoft.com/office/drawing/2014/main" id="{DACAE969-E97A-42E5-A86C-C8F5E6053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95875"/>
            <a:ext cx="723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F0000"/>
                </a:solidFill>
              </a:defRPr>
            </a:pPr>
            <a:r>
              <a:rPr sz="2100" b="1" i="0">
                <a:solidFill>
                  <a:srgbClr val="FF0000"/>
                </a:solidFill>
              </a:rPr>
              <a:t>No $ship-it in class. Do not push.</a:t>
            </a:r>
          </a:p>
        </p:txBody>
      </p:sp>
    </p:spTree>
    <p:extLst>
      <p:ext uri="{BB962C8B-B14F-4D97-AF65-F5344CB8AC3E}">
        <p14:creationId xmlns:p14="http://schemas.microsoft.com/office/powerpoint/2010/main" val="36357327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91912CC-D819-4F95-9C90-B48C7335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Every clean gate has a stage owner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9B3EB0E3-9E1C-404C-BEBC-145CD0EAA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042AE42-6534-4B1E-B050-0927CA1C4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15 / 29</a:t>
            </a:r>
          </a:p>
        </p:txBody>
      </p:sp>
      <p:sp>
        <p:nvSpPr>
          <p:cNvPr id="4" name="gate-0">
            <a:extLst xmlns:a="http://schemas.openxmlformats.org/drawingml/2006/main">
              <a:ext uri="{FF2B5EF4-FFF2-40B4-BE49-F238E27FC236}">
                <a16:creationId xmlns:a16="http://schemas.microsoft.com/office/drawing/2014/main" id="{03F1A5F0-ED54-4AE6-8D61-0B7F3037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62075"/>
            <a:ext cx="2476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PLANNER</a:t>
            </a:r>
          </a:p>
        </p:txBody>
      </p:sp>
      <p:sp>
        <p:nvSpPr>
          <p:cNvPr id="5" name="gate-desc-0">
            <a:extLst xmlns:a="http://schemas.openxmlformats.org/drawingml/2006/main">
              <a:ext uri="{FF2B5EF4-FFF2-40B4-BE49-F238E27FC236}">
                <a16:creationId xmlns:a16="http://schemas.microsoft.com/office/drawing/2014/main" id="{9488A494-C614-478E-A129-998F6619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362075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locks applicant unit, ITT estimand, and expected N</a:t>
            </a:r>
          </a:p>
        </p:txBody>
      </p:sp>
      <p:sp>
        <p:nvSpPr>
          <p:cNvPr id="6" name="rule-88-196">
            <a:extLst xmlns:a="http://schemas.openxmlformats.org/drawingml/2006/main">
              <a:ext uri="{FF2B5EF4-FFF2-40B4-BE49-F238E27FC236}">
                <a16:creationId xmlns:a16="http://schemas.microsoft.com/office/drawing/2014/main" id="{587507C1-DEDA-40CA-AACB-C56A2CC8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669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7" name="gate-1">
            <a:extLst xmlns:a="http://schemas.openxmlformats.org/drawingml/2006/main">
              <a:ext uri="{FF2B5EF4-FFF2-40B4-BE49-F238E27FC236}">
                <a16:creationId xmlns:a16="http://schemas.microsoft.com/office/drawing/2014/main" id="{6989C483-2825-4FA3-B6FF-6FCA707C2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05025"/>
            <a:ext cx="2476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PLANNER</a:t>
            </a:r>
          </a:p>
        </p:txBody>
      </p:sp>
      <p:sp>
        <p:nvSpPr>
          <p:cNvPr id="8" name="gate-desc-1">
            <a:extLst xmlns:a="http://schemas.openxmlformats.org/drawingml/2006/main">
              <a:ext uri="{FF2B5EF4-FFF2-40B4-BE49-F238E27FC236}">
                <a16:creationId xmlns:a16="http://schemas.microsoft.com/office/drawing/2014/main" id="{24C44157-4582-4338-B85B-07093ABF8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05025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locks unique keys and the complete 1:1 merge contract</a:t>
            </a:r>
          </a:p>
        </p:txBody>
      </p:sp>
      <p:sp>
        <p:nvSpPr>
          <p:cNvPr id="9" name="rule-88-274">
            <a:extLst xmlns:a="http://schemas.openxmlformats.org/drawingml/2006/main">
              <a:ext uri="{FF2B5EF4-FFF2-40B4-BE49-F238E27FC236}">
                <a16:creationId xmlns:a16="http://schemas.microsoft.com/office/drawing/2014/main" id="{274701C1-5805-4F10-839F-85D6F583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0" name="gate-2">
            <a:extLst xmlns:a="http://schemas.openxmlformats.org/drawingml/2006/main">
              <a:ext uri="{FF2B5EF4-FFF2-40B4-BE49-F238E27FC236}">
                <a16:creationId xmlns:a16="http://schemas.microsoft.com/office/drawing/2014/main" id="{69A62884-69F6-4C6C-A9E1-B8632927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47975"/>
            <a:ext cx="2476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AUTHORIZED BUILDER</a:t>
            </a:r>
          </a:p>
        </p:txBody>
      </p:sp>
      <p:sp>
        <p:nvSpPr>
          <p:cNvPr id="11" name="gate-desc-2">
            <a:extLst xmlns:a="http://schemas.openxmlformats.org/drawingml/2006/main">
              <a:ext uri="{FF2B5EF4-FFF2-40B4-BE49-F238E27FC236}">
                <a16:creationId xmlns:a16="http://schemas.microsoft.com/office/drawing/2014/main" id="{F51FA90A-65AD-4639-AFAD-69666FB3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847975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implements only the accepted plan</a:t>
            </a:r>
          </a:p>
        </p:txBody>
      </p:sp>
      <p:sp>
        <p:nvSpPr>
          <p:cNvPr id="12" name="rule-88-352">
            <a:extLst xmlns:a="http://schemas.openxmlformats.org/drawingml/2006/main">
              <a:ext uri="{FF2B5EF4-FFF2-40B4-BE49-F238E27FC236}">
                <a16:creationId xmlns:a16="http://schemas.microsoft.com/office/drawing/2014/main" id="{E9CF7B6B-169F-4565-95FC-CDC66F6CD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3" name="gate-3">
            <a:extLst xmlns:a="http://schemas.openxmlformats.org/drawingml/2006/main">
              <a:ext uri="{FF2B5EF4-FFF2-40B4-BE49-F238E27FC236}">
                <a16:creationId xmlns:a16="http://schemas.microsoft.com/office/drawing/2014/main" id="{3FCF8C12-F99D-44A8-A14D-0799C1D05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90925"/>
            <a:ext cx="2476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INDEPENDENT TESTER</a:t>
            </a:r>
          </a:p>
        </p:txBody>
      </p:sp>
      <p:sp>
        <p:nvSpPr>
          <p:cNvPr id="14" name="gate-desc-3">
            <a:extLst xmlns:a="http://schemas.openxmlformats.org/drawingml/2006/main">
              <a:ext uri="{FF2B5EF4-FFF2-40B4-BE49-F238E27FC236}">
                <a16:creationId xmlns:a16="http://schemas.microsoft.com/office/drawing/2014/main" id="{A93391D1-9204-4F99-B6EE-3BCA6AF55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90925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checks N, keys, assignment, merges, and outcomes</a:t>
            </a:r>
          </a:p>
        </p:txBody>
      </p:sp>
      <p:sp>
        <p:nvSpPr>
          <p:cNvPr id="15" name="rule-88-430">
            <a:extLst xmlns:a="http://schemas.openxmlformats.org/drawingml/2006/main">
              <a:ext uri="{FF2B5EF4-FFF2-40B4-BE49-F238E27FC236}">
                <a16:creationId xmlns:a16="http://schemas.microsoft.com/office/drawing/2014/main" id="{F4D8E74A-257A-40F6-BB91-649D094F0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6" name="gate-4">
            <a:extLst xmlns:a="http://schemas.openxmlformats.org/drawingml/2006/main">
              <a:ext uri="{FF2B5EF4-FFF2-40B4-BE49-F238E27FC236}">
                <a16:creationId xmlns:a16="http://schemas.microsoft.com/office/drawing/2014/main" id="{2EE04A5E-0B58-49B8-B685-574FE153D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33875"/>
            <a:ext cx="2476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$REVIEW</a:t>
            </a:r>
          </a:p>
        </p:txBody>
      </p:sp>
      <p:sp>
        <p:nvSpPr>
          <p:cNvPr id="17" name="gate-desc-4">
            <a:extLst xmlns:a="http://schemas.openxmlformats.org/drawingml/2006/main">
              <a:ext uri="{FF2B5EF4-FFF2-40B4-BE49-F238E27FC236}">
                <a16:creationId xmlns:a16="http://schemas.microsoft.com/office/drawing/2014/main" id="{52CFD0D6-103F-4CF3-8782-5F957B4AC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33875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compares plan, build, and test; issues a status</a:t>
            </a:r>
          </a:p>
        </p:txBody>
      </p:sp>
      <p:sp>
        <p:nvSpPr>
          <p:cNvPr id="18" name="rule-88-508">
            <a:extLst xmlns:a="http://schemas.openxmlformats.org/drawingml/2006/main">
              <a:ext uri="{FF2B5EF4-FFF2-40B4-BE49-F238E27FC236}">
                <a16:creationId xmlns:a16="http://schemas.microsoft.com/office/drawing/2014/main" id="{AD7D1D61-841F-4B0E-A366-E15833CFA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387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9" name="gate-5">
            <a:extLst xmlns:a="http://schemas.openxmlformats.org/drawingml/2006/main">
              <a:ext uri="{FF2B5EF4-FFF2-40B4-BE49-F238E27FC236}">
                <a16:creationId xmlns:a16="http://schemas.microsoft.com/office/drawing/2014/main" id="{57E59A16-6DF5-470D-8966-92A225A05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76825"/>
            <a:ext cx="2476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LOCAL GIT</a:t>
            </a:r>
          </a:p>
        </p:txBody>
      </p:sp>
      <p:sp>
        <p:nvSpPr>
          <p:cNvPr id="20" name="gate-desc-5">
            <a:extLst xmlns:a="http://schemas.openxmlformats.org/drawingml/2006/main">
              <a:ext uri="{FF2B5EF4-FFF2-40B4-BE49-F238E27FC236}">
                <a16:creationId xmlns:a16="http://schemas.microsoft.com/office/drawing/2014/main" id="{54D4B159-CB0D-4976-B598-A7C13C260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76825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commit only after PASS; no push and no $ship-it</a:t>
            </a:r>
          </a:p>
        </p:txBody>
      </p:sp>
    </p:spTree>
    <p:extLst>
      <p:ext uri="{BB962C8B-B14F-4D97-AF65-F5344CB8AC3E}">
        <p14:creationId xmlns:p14="http://schemas.microsoft.com/office/powerpoint/2010/main" val="65172029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DA20AA6-D4BD-4F09-9BDF-8CF1D3CDF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Case A — Expected independent tester output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E2A5D3FD-67AE-4028-9C6F-CC9D7F375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08510FE-71F1-4F53-A3E4-868B73883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16 / 29</a:t>
            </a:r>
          </a:p>
        </p:txBody>
      </p:sp>
      <p:sp>
        <p:nvSpPr>
          <p:cNvPr id="4" name="tester-label-0">
            <a:extLst xmlns:a="http://schemas.openxmlformats.org/drawingml/2006/main">
              <a:ext uri="{FF2B5EF4-FFF2-40B4-BE49-F238E27FC236}">
                <a16:creationId xmlns:a16="http://schemas.microsoft.com/office/drawing/2014/main" id="{39BF6AB2-6C41-4A35-9F69-4A0CE3875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573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ANALYSIS N</a:t>
            </a:r>
          </a:p>
        </p:txBody>
      </p:sp>
      <p:sp>
        <p:nvSpPr>
          <p:cNvPr id="5" name="tester-value-0">
            <a:extLst xmlns:a="http://schemas.openxmlformats.org/drawingml/2006/main">
              <a:ext uri="{FF2B5EF4-FFF2-40B4-BE49-F238E27FC236}">
                <a16:creationId xmlns:a16="http://schemas.microsoft.com/office/drawing/2014/main" id="{3C8B99E4-A5A6-4359-814D-F3CBC992B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2573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3,000 applicants</a:t>
            </a:r>
          </a:p>
        </p:txBody>
      </p:sp>
      <p:sp>
        <p:nvSpPr>
          <p:cNvPr id="6" name="rule-82-177">
            <a:extLst xmlns:a="http://schemas.openxmlformats.org/drawingml/2006/main">
              <a:ext uri="{FF2B5EF4-FFF2-40B4-BE49-F238E27FC236}">
                <a16:creationId xmlns:a16="http://schemas.microsoft.com/office/drawing/2014/main" id="{C169D4C0-9E65-4F26-9DBF-67700F31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85925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7" name="tester-label-1">
            <a:extLst xmlns:a="http://schemas.openxmlformats.org/drawingml/2006/main">
              <a:ext uri="{FF2B5EF4-FFF2-40B4-BE49-F238E27FC236}">
                <a16:creationId xmlns:a16="http://schemas.microsoft.com/office/drawing/2014/main" id="{85342C20-C186-4D1B-8F9D-A215BAE61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764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UNIQUE IDs</a:t>
            </a:r>
          </a:p>
        </p:txBody>
      </p:sp>
      <p:sp>
        <p:nvSpPr>
          <p:cNvPr id="8" name="tester-value-1">
            <a:extLst xmlns:a="http://schemas.openxmlformats.org/drawingml/2006/main">
              <a:ext uri="{FF2B5EF4-FFF2-40B4-BE49-F238E27FC236}">
                <a16:creationId xmlns:a16="http://schemas.microsoft.com/office/drawing/2014/main" id="{E3B34C04-19AF-4017-BE9A-9AC5FBFC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876425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3,000 applicant_id values</a:t>
            </a:r>
          </a:p>
        </p:txBody>
      </p:sp>
      <p:sp>
        <p:nvSpPr>
          <p:cNvPr id="9" name="rule-82-242">
            <a:extLst xmlns:a="http://schemas.openxmlformats.org/drawingml/2006/main">
              <a:ext uri="{FF2B5EF4-FFF2-40B4-BE49-F238E27FC236}">
                <a16:creationId xmlns:a16="http://schemas.microsoft.com/office/drawing/2014/main" id="{2FF3C36A-17C7-4E7E-8222-55ECA5AB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050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0" name="tester-label-2">
            <a:extLst xmlns:a="http://schemas.openxmlformats.org/drawingml/2006/main">
              <a:ext uri="{FF2B5EF4-FFF2-40B4-BE49-F238E27FC236}">
                <a16:creationId xmlns:a16="http://schemas.microsoft.com/office/drawing/2014/main" id="{FF87C3E1-4E33-44CC-83FE-B85707DD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955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ASSIGNMENT</a:t>
            </a:r>
          </a:p>
        </p:txBody>
      </p:sp>
      <p:sp>
        <p:nvSpPr>
          <p:cNvPr id="11" name="tester-value-2">
            <a:extLst xmlns:a="http://schemas.openxmlformats.org/drawingml/2006/main">
              <a:ext uri="{FF2B5EF4-FFF2-40B4-BE49-F238E27FC236}">
                <a16:creationId xmlns:a16="http://schemas.microsoft.com/office/drawing/2014/main" id="{2E30DCAD-511E-4D7D-9550-D46918CB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4955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Control 1,500  •  Offered 1,500</a:t>
            </a:r>
          </a:p>
        </p:txBody>
      </p:sp>
      <p:sp>
        <p:nvSpPr>
          <p:cNvPr id="12" name="rule-82-307">
            <a:extLst xmlns:a="http://schemas.openxmlformats.org/drawingml/2006/main">
              <a:ext uri="{FF2B5EF4-FFF2-40B4-BE49-F238E27FC236}">
                <a16:creationId xmlns:a16="http://schemas.microsoft.com/office/drawing/2014/main" id="{D3E1F2B4-2402-4E7E-B1B9-C9F3C620C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24175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3" name="tester-label-3">
            <a:extLst xmlns:a="http://schemas.openxmlformats.org/drawingml/2006/main">
              <a:ext uri="{FF2B5EF4-FFF2-40B4-BE49-F238E27FC236}">
                <a16:creationId xmlns:a16="http://schemas.microsoft.com/office/drawing/2014/main" id="{E5BA33AA-1D41-4336-930B-BBE69A69B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146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MERGES</a:t>
            </a:r>
          </a:p>
        </p:txBody>
      </p:sp>
      <p:sp>
        <p:nvSpPr>
          <p:cNvPr id="14" name="tester-value-3">
            <a:extLst xmlns:a="http://schemas.openxmlformats.org/drawingml/2006/main">
              <a:ext uri="{FF2B5EF4-FFF2-40B4-BE49-F238E27FC236}">
                <a16:creationId xmlns:a16="http://schemas.microsoft.com/office/drawing/2014/main" id="{5F31B391-9A2D-470B-8A71-FE6EEA62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114675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Complete 1:1 applicant-level matches</a:t>
            </a:r>
          </a:p>
        </p:txBody>
      </p:sp>
      <p:sp>
        <p:nvSpPr>
          <p:cNvPr id="15" name="rule-82-372">
            <a:extLst xmlns:a="http://schemas.openxmlformats.org/drawingml/2006/main">
              <a:ext uri="{FF2B5EF4-FFF2-40B4-BE49-F238E27FC236}">
                <a16:creationId xmlns:a16="http://schemas.microsoft.com/office/drawing/2014/main" id="{900DF031-1A87-4863-875C-85D71B0C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4330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6" name="tester-label-4">
            <a:extLst xmlns:a="http://schemas.openxmlformats.org/drawingml/2006/main">
              <a:ext uri="{FF2B5EF4-FFF2-40B4-BE49-F238E27FC236}">
                <a16:creationId xmlns:a16="http://schemas.microsoft.com/office/drawing/2014/main" id="{3C8AFB1E-4DEC-42D8-B420-04BCC1EC9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CONTROL EMPLOYED</a:t>
            </a:r>
          </a:p>
        </p:txBody>
      </p:sp>
      <p:sp>
        <p:nvSpPr>
          <p:cNvPr id="17" name="tester-value-4">
            <a:extLst xmlns:a="http://schemas.openxmlformats.org/drawingml/2006/main">
              <a:ext uri="{FF2B5EF4-FFF2-40B4-BE49-F238E27FC236}">
                <a16:creationId xmlns:a16="http://schemas.microsoft.com/office/drawing/2014/main" id="{1511E521-708F-439E-8539-D80E4BA92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7338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945 / 1,500 = 63%</a:t>
            </a:r>
          </a:p>
        </p:txBody>
      </p:sp>
      <p:sp>
        <p:nvSpPr>
          <p:cNvPr id="18" name="rule-82-437">
            <a:extLst xmlns:a="http://schemas.openxmlformats.org/drawingml/2006/main">
              <a:ext uri="{FF2B5EF4-FFF2-40B4-BE49-F238E27FC236}">
                <a16:creationId xmlns:a16="http://schemas.microsoft.com/office/drawing/2014/main" id="{8B718B5B-28DD-4EAF-B7E5-BC072AF2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62425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9" name="tester-label-5">
            <a:extLst xmlns:a="http://schemas.openxmlformats.org/drawingml/2006/main">
              <a:ext uri="{FF2B5EF4-FFF2-40B4-BE49-F238E27FC236}">
                <a16:creationId xmlns:a16="http://schemas.microsoft.com/office/drawing/2014/main" id="{C63AB404-5D86-4B8C-906A-D83CE0F91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529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OFFERED EMPLOYED</a:t>
            </a:r>
          </a:p>
        </p:txBody>
      </p:sp>
      <p:sp>
        <p:nvSpPr>
          <p:cNvPr id="20" name="tester-value-5">
            <a:extLst xmlns:a="http://schemas.openxmlformats.org/drawingml/2006/main">
              <a:ext uri="{FF2B5EF4-FFF2-40B4-BE49-F238E27FC236}">
                <a16:creationId xmlns:a16="http://schemas.microsoft.com/office/drawing/2014/main" id="{869A605F-4FB6-4472-8C5C-79E1066F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52925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1,050 / 1,500 = 70%</a:t>
            </a:r>
          </a:p>
        </p:txBody>
      </p:sp>
      <p:sp>
        <p:nvSpPr>
          <p:cNvPr id="21" name="rule-82-502">
            <a:extLst xmlns:a="http://schemas.openxmlformats.org/drawingml/2006/main">
              <a:ext uri="{FF2B5EF4-FFF2-40B4-BE49-F238E27FC236}">
                <a16:creationId xmlns:a16="http://schemas.microsoft.com/office/drawing/2014/main" id="{8844F3E3-342D-4F7F-8502-3CF91F14C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815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22" name="tester-label-6">
            <a:extLst xmlns:a="http://schemas.openxmlformats.org/drawingml/2006/main">
              <a:ext uri="{FF2B5EF4-FFF2-40B4-BE49-F238E27FC236}">
                <a16:creationId xmlns:a16="http://schemas.microsoft.com/office/drawing/2014/main" id="{FF48CD0B-4BA3-419E-88DA-A2B960105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72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333B2"/>
                </a:solidFill>
              </a:defRPr>
            </a:pPr>
            <a:r>
              <a:rPr sz="1425" b="1" i="0">
                <a:solidFill>
                  <a:srgbClr val="3333B2"/>
                </a:solidFill>
              </a:rPr>
              <a:t>ITT</a:t>
            </a:r>
          </a:p>
        </p:txBody>
      </p:sp>
      <p:sp>
        <p:nvSpPr>
          <p:cNvPr id="23" name="tester-value-6">
            <a:extLst xmlns:a="http://schemas.openxmlformats.org/drawingml/2006/main">
              <a:ext uri="{FF2B5EF4-FFF2-40B4-BE49-F238E27FC236}">
                <a16:creationId xmlns:a16="http://schemas.microsoft.com/office/drawing/2014/main" id="{CAE9F28E-1C5B-42B7-8969-8C245D33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9720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BF0040"/>
                </a:solidFill>
              </a:defRPr>
            </a:pPr>
            <a:r>
              <a:rPr sz="2025" b="1" i="0">
                <a:solidFill>
                  <a:srgbClr val="BF0040"/>
                </a:solidFill>
              </a:rPr>
              <a:t>+7 percentage points</a:t>
            </a:r>
          </a:p>
        </p:txBody>
      </p:sp>
      <p:sp>
        <p:nvSpPr>
          <p:cNvPr id="24" name="framing">
            <a:extLst xmlns:a="http://schemas.openxmlformats.org/drawingml/2006/main">
              <a:ext uri="{FF2B5EF4-FFF2-40B4-BE49-F238E27FC236}">
                <a16:creationId xmlns:a16="http://schemas.microsoft.com/office/drawing/2014/main" id="{20A3F30D-4F65-4A41-A9BB-D2E1D50C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9120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BF0040"/>
                </a:solidFill>
              </a:defRPr>
            </a:pPr>
            <a:r>
              <a:rPr sz="1800" b="1" i="0">
                <a:solidFill>
                  <a:srgbClr val="BF0040"/>
                </a:solidFill>
              </a:rPr>
              <a:t>Verification target—not a good or bad result.</a:t>
            </a:r>
          </a:p>
        </p:txBody>
      </p:sp>
    </p:spTree>
    <p:extLst>
      <p:ext uri="{BB962C8B-B14F-4D97-AF65-F5344CB8AC3E}">
        <p14:creationId xmlns:p14="http://schemas.microsoft.com/office/powerpoint/2010/main" val="60069210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B6388EA-1030-4A66-ACBE-F4F9667EC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Case A — Verified employment rates differ by 7 pp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F6B772DA-8C46-4647-98B4-10EDF0EC6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75A15C0-49F4-4B19-A866-1DDEF178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17 / 29</a:t>
            </a:r>
          </a:p>
        </p:txBody>
      </p:sp>
      <p:sp>
        <p:nvSpPr>
          <p:cNvPr id="4" name="rule-130-570">
            <a:extLst xmlns:a="http://schemas.openxmlformats.org/drawingml/2006/main">
              <a:ext uri="{FF2B5EF4-FFF2-40B4-BE49-F238E27FC236}">
                <a16:creationId xmlns:a16="http://schemas.microsoft.com/office/drawing/2014/main" id="{26CCE36A-89C9-4256-B952-A598EA0A9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29250"/>
            <a:ext cx="6762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5C69"/>
          </a:solidFill>
          <a:ln xmlns:a="http://schemas.openxmlformats.org/drawingml/2006/main" w="0">
            <a:solidFill>
              <a:srgbClr val="5C5C69"/>
            </a:solidFill>
            <a:prstDash val="solid"/>
          </a:ln>
        </p:spPr>
      </p:sp>
      <p:sp>
        <p:nvSpPr>
          <p:cNvPr id="5" name="case-a-axis-0">
            <a:extLst xmlns:a="http://schemas.openxmlformats.org/drawingml/2006/main">
              <a:ext uri="{FF2B5EF4-FFF2-40B4-BE49-F238E27FC236}">
                <a16:creationId xmlns:a16="http://schemas.microsoft.com/office/drawing/2014/main" id="{67CD1072-1902-456F-9609-DB5CFE14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05425"/>
            <a:ext cx="619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0%</a:t>
            </a:r>
          </a:p>
        </p:txBody>
      </p:sp>
      <p:sp>
        <p:nvSpPr>
          <p:cNvPr id="6" name="rule-130-492">
            <a:extLst xmlns:a="http://schemas.openxmlformats.org/drawingml/2006/main">
              <a:ext uri="{FF2B5EF4-FFF2-40B4-BE49-F238E27FC236}">
                <a16:creationId xmlns:a16="http://schemas.microsoft.com/office/drawing/2014/main" id="{517F933A-FFF4-45FF-A824-51519593F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8630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7" name="case-a-axis-20">
            <a:extLst xmlns:a="http://schemas.openxmlformats.org/drawingml/2006/main">
              <a:ext uri="{FF2B5EF4-FFF2-40B4-BE49-F238E27FC236}">
                <a16:creationId xmlns:a16="http://schemas.microsoft.com/office/drawing/2014/main" id="{B15259E8-B32B-49E0-9FC1-22620C7A3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62475"/>
            <a:ext cx="619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20%</a:t>
            </a:r>
          </a:p>
        </p:txBody>
      </p:sp>
      <p:sp>
        <p:nvSpPr>
          <p:cNvPr id="8" name="rule-130-414">
            <a:extLst xmlns:a="http://schemas.openxmlformats.org/drawingml/2006/main">
              <a:ext uri="{FF2B5EF4-FFF2-40B4-BE49-F238E27FC236}">
                <a16:creationId xmlns:a16="http://schemas.microsoft.com/office/drawing/2014/main" id="{DC3568C0-0C52-45E2-A7A1-6703D6732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433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9" name="case-a-axis-40">
            <a:extLst xmlns:a="http://schemas.openxmlformats.org/drawingml/2006/main">
              <a:ext uri="{FF2B5EF4-FFF2-40B4-BE49-F238E27FC236}">
                <a16:creationId xmlns:a16="http://schemas.microsoft.com/office/drawing/2014/main" id="{E27347A0-E85C-4F79-81EA-0866236D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9525"/>
            <a:ext cx="619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40%</a:t>
            </a:r>
          </a:p>
        </p:txBody>
      </p:sp>
      <p:sp>
        <p:nvSpPr>
          <p:cNvPr id="10" name="rule-130-336">
            <a:extLst xmlns:a="http://schemas.openxmlformats.org/drawingml/2006/main">
              <a:ext uri="{FF2B5EF4-FFF2-40B4-BE49-F238E27FC236}">
                <a16:creationId xmlns:a16="http://schemas.microsoft.com/office/drawing/2014/main" id="{628D8269-00A5-48A9-B4F9-5735D921F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0040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1" name="case-a-axis-60">
            <a:extLst xmlns:a="http://schemas.openxmlformats.org/drawingml/2006/main">
              <a:ext uri="{FF2B5EF4-FFF2-40B4-BE49-F238E27FC236}">
                <a16:creationId xmlns:a16="http://schemas.microsoft.com/office/drawing/2014/main" id="{9D8E8A5D-A9E9-4764-BEB0-B7E2A3A3F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76575"/>
            <a:ext cx="619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60%</a:t>
            </a:r>
          </a:p>
        </p:txBody>
      </p:sp>
      <p:sp>
        <p:nvSpPr>
          <p:cNvPr id="12" name="rule-130-258">
            <a:extLst xmlns:a="http://schemas.openxmlformats.org/drawingml/2006/main">
              <a:ext uri="{FF2B5EF4-FFF2-40B4-BE49-F238E27FC236}">
                <a16:creationId xmlns:a16="http://schemas.microsoft.com/office/drawing/2014/main" id="{68779982-AE87-4978-A62A-B0B018EA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57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3" name="case-a-axis-80">
            <a:extLst xmlns:a="http://schemas.openxmlformats.org/drawingml/2006/main">
              <a:ext uri="{FF2B5EF4-FFF2-40B4-BE49-F238E27FC236}">
                <a16:creationId xmlns:a16="http://schemas.microsoft.com/office/drawing/2014/main" id="{FE3034E4-8B0C-4305-9B8E-953BDD6D9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33625"/>
            <a:ext cx="619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80%</a:t>
            </a:r>
          </a:p>
        </p:txBody>
      </p:sp>
      <p:sp>
        <p:nvSpPr>
          <p:cNvPr id="14" name="rule-130-180">
            <a:extLst xmlns:a="http://schemas.openxmlformats.org/drawingml/2006/main">
              <a:ext uri="{FF2B5EF4-FFF2-40B4-BE49-F238E27FC236}">
                <a16:creationId xmlns:a16="http://schemas.microsoft.com/office/drawing/2014/main" id="{00729D70-CE11-445D-99E1-6BD485E8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71450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5" name="case-a-axis-100">
            <a:extLst xmlns:a="http://schemas.openxmlformats.org/drawingml/2006/main">
              <a:ext uri="{FF2B5EF4-FFF2-40B4-BE49-F238E27FC236}">
                <a16:creationId xmlns:a16="http://schemas.microsoft.com/office/drawing/2014/main" id="{89C33919-EA91-4EAA-830D-0E965B949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90675"/>
            <a:ext cx="619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100%</a:t>
            </a:r>
          </a:p>
        </p:txBody>
      </p:sp>
      <p:sp>
        <p:nvSpPr>
          <p:cNvPr id="16" name="case-a-control-bar">
            <a:extLst xmlns:a="http://schemas.openxmlformats.org/drawingml/2006/main">
              <a:ext uri="{FF2B5EF4-FFF2-40B4-BE49-F238E27FC236}">
                <a16:creationId xmlns:a16="http://schemas.microsoft.com/office/drawing/2014/main" id="{FF3FA710-D8FF-44C4-902B-65C83BC6F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86100"/>
            <a:ext cx="1476375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5C69"/>
          </a:solidFill>
          <a:ln xmlns:a="http://schemas.openxmlformats.org/drawingml/2006/main" w="0">
            <a:solidFill>
              <a:srgbClr val="5C5C69"/>
            </a:solidFill>
            <a:prstDash val="solid"/>
          </a:ln>
        </p:spPr>
      </p:sp>
      <p:sp>
        <p:nvSpPr>
          <p:cNvPr id="17" name="case-a-offered-bar">
            <a:extLst xmlns:a="http://schemas.openxmlformats.org/drawingml/2006/main">
              <a:ext uri="{FF2B5EF4-FFF2-40B4-BE49-F238E27FC236}">
                <a16:creationId xmlns:a16="http://schemas.microsoft.com/office/drawing/2014/main" id="{88F7CB90-E3D0-4E65-B33E-B00F1999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828925"/>
            <a:ext cx="1476375" cy="2600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3B2"/>
          </a:solidFill>
          <a:ln xmlns:a="http://schemas.openxmlformats.org/drawingml/2006/main" w="0">
            <a:solidFill>
              <a:srgbClr val="3333B2"/>
            </a:solidFill>
            <a:prstDash val="solid"/>
          </a:ln>
        </p:spPr>
      </p:sp>
      <p:sp>
        <p:nvSpPr>
          <p:cNvPr id="18" name="case-a-control-label">
            <a:extLst xmlns:a="http://schemas.openxmlformats.org/drawingml/2006/main">
              <a:ext uri="{FF2B5EF4-FFF2-40B4-BE49-F238E27FC236}">
                <a16:creationId xmlns:a16="http://schemas.microsoft.com/office/drawing/2014/main" id="{53D2688D-DE25-4FA5-95EF-E3775ECB7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724150"/>
            <a:ext cx="1476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7171C"/>
                </a:solidFill>
              </a:defRPr>
            </a:pPr>
            <a:r>
              <a:rPr sz="1800" b="1" i="0">
                <a:solidFill>
                  <a:srgbClr val="17171C"/>
                </a:solidFill>
              </a:rPr>
              <a:t>63%</a:t>
            </a:r>
          </a:p>
        </p:txBody>
      </p:sp>
      <p:sp>
        <p:nvSpPr>
          <p:cNvPr id="19" name="case-a-offered-label">
            <a:extLst xmlns:a="http://schemas.openxmlformats.org/drawingml/2006/main">
              <a:ext uri="{FF2B5EF4-FFF2-40B4-BE49-F238E27FC236}">
                <a16:creationId xmlns:a16="http://schemas.microsoft.com/office/drawing/2014/main" id="{98D68CD3-CB44-459D-8B1C-993D7E75B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466975"/>
            <a:ext cx="1476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3333B2"/>
                </a:solidFill>
              </a:defRPr>
            </a:pPr>
            <a:r>
              <a:rPr sz="1800" b="1" i="0">
                <a:solidFill>
                  <a:srgbClr val="3333B2"/>
                </a:solidFill>
              </a:rPr>
              <a:t>70%</a:t>
            </a:r>
          </a:p>
        </p:txBody>
      </p:sp>
      <p:sp>
        <p:nvSpPr>
          <p:cNvPr id="20" name="case-a-control-category">
            <a:extLst xmlns:a="http://schemas.openxmlformats.org/drawingml/2006/main">
              <a:ext uri="{FF2B5EF4-FFF2-40B4-BE49-F238E27FC236}">
                <a16:creationId xmlns:a16="http://schemas.microsoft.com/office/drawing/2014/main" id="{B0A2EE67-FCB7-43E3-B360-B54A7662D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524500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7171C"/>
                </a:solidFill>
              </a:defRPr>
            </a:pPr>
            <a:r>
              <a:rPr sz="1500" b="1" i="0">
                <a:solidFill>
                  <a:srgbClr val="17171C"/>
                </a:solidFill>
              </a:rPr>
              <a:t>Control</a:t>
            </a:r>
          </a:p>
        </p:txBody>
      </p:sp>
      <p:sp>
        <p:nvSpPr>
          <p:cNvPr id="21" name="case-a-offered-category">
            <a:extLst xmlns:a="http://schemas.openxmlformats.org/drawingml/2006/main">
              <a:ext uri="{FF2B5EF4-FFF2-40B4-BE49-F238E27FC236}">
                <a16:creationId xmlns:a16="http://schemas.microsoft.com/office/drawing/2014/main" id="{E7907741-20CB-4F0F-9A85-03A828597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524500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7171C"/>
                </a:solidFill>
              </a:defRPr>
            </a:pPr>
            <a:r>
              <a:rPr sz="1500" b="1" i="0">
                <a:solidFill>
                  <a:srgbClr val="17171C"/>
                </a:solidFill>
              </a:rPr>
              <a:t>Offered</a:t>
            </a:r>
          </a:p>
        </p:txBody>
      </p:sp>
      <p:sp>
        <p:nvSpPr>
          <p:cNvPr id="22" name="case-a-y-title">
            <a:extLst xmlns:a="http://schemas.openxmlformats.org/drawingml/2006/main">
              <a:ext uri="{FF2B5EF4-FFF2-40B4-BE49-F238E27FC236}">
                <a16:creationId xmlns:a16="http://schemas.microsoft.com/office/drawing/2014/main" id="{E26CE720-0CE7-44F2-BA12-867C6B441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" y="28575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5C5C69"/>
                </a:solidFill>
              </a:defRPr>
            </a:pPr>
            <a:r>
              <a:rPr sz="1200" b="0" i="0">
                <a:solidFill>
                  <a:srgbClr val="5C5C69"/>
                </a:solidFill>
              </a:rPr>
              <a:t>Employment at 6 months</a:t>
            </a:r>
          </a:p>
        </p:txBody>
      </p:sp>
      <p:sp>
        <p:nvSpPr>
          <p:cNvPr id="23" name="control-exact">
            <a:extLst xmlns:a="http://schemas.openxmlformats.org/drawingml/2006/main">
              <a:ext uri="{FF2B5EF4-FFF2-40B4-BE49-F238E27FC236}">
                <a16:creationId xmlns:a16="http://schemas.microsoft.com/office/drawing/2014/main" id="{3F3360B6-9512-40EB-BB2C-1D56F8B8E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714500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Control</a:t>
            </a:r>
          </a:p>
          <a:p xmlns:a="http://schemas.openxmlformats.org/drawingml/2006/main">
            <a:pPr algn="ctr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945 / 1,500</a:t>
            </a:r>
          </a:p>
          <a:p xmlns:a="http://schemas.openxmlformats.org/drawingml/2006/main">
            <a:pPr algn="ctr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63%</a:t>
            </a:r>
          </a:p>
        </p:txBody>
      </p:sp>
      <p:sp>
        <p:nvSpPr>
          <p:cNvPr id="24" name="offered-exact">
            <a:extLst xmlns:a="http://schemas.openxmlformats.org/drawingml/2006/main">
              <a:ext uri="{FF2B5EF4-FFF2-40B4-BE49-F238E27FC236}">
                <a16:creationId xmlns:a16="http://schemas.microsoft.com/office/drawing/2014/main" id="{B3FDB54E-EE75-4866-A2F5-4D13D018C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048000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Offered</a:t>
            </a:r>
          </a:p>
          <a:p xmlns:a="http://schemas.openxmlformats.org/drawingml/2006/main">
            <a:pPr algn="ctr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1,050 / 1,500</a:t>
            </a:r>
          </a:p>
          <a:p xmlns:a="http://schemas.openxmlformats.org/drawingml/2006/main">
            <a:pPr algn="ctr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70%</a:t>
            </a:r>
          </a:p>
        </p:txBody>
      </p:sp>
      <p:sp>
        <p:nvSpPr>
          <p:cNvPr id="25" name="itt-callout">
            <a:extLst xmlns:a="http://schemas.openxmlformats.org/drawingml/2006/main">
              <a:ext uri="{FF2B5EF4-FFF2-40B4-BE49-F238E27FC236}">
                <a16:creationId xmlns:a16="http://schemas.microsoft.com/office/drawing/2014/main" id="{4B75A23E-C7B7-47DF-95C1-3EDA44564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552950"/>
            <a:ext cx="257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400" b="1" i="0">
                <a:solidFill>
                  <a:srgbClr val="BF0040"/>
                </a:solidFill>
              </a:defRPr>
            </a:pPr>
            <a:r>
              <a:rPr sz="2400" b="1" i="0">
                <a:solidFill>
                  <a:srgbClr val="BF0040"/>
                </a:solidFill>
              </a:rPr>
              <a:t>ITT  +7 pp</a:t>
            </a:r>
          </a:p>
        </p:txBody>
      </p:sp>
      <p:sp>
        <p:nvSpPr>
          <p:cNvPr id="26" name="framing">
            <a:extLst xmlns:a="http://schemas.openxmlformats.org/drawingml/2006/main">
              <a:ext uri="{FF2B5EF4-FFF2-40B4-BE49-F238E27FC236}">
                <a16:creationId xmlns:a16="http://schemas.microsoft.com/office/drawing/2014/main" id="{FF0EABF5-4F79-4666-AB1F-8768166D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5286375"/>
            <a:ext cx="304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5C5C69"/>
                </a:solidFill>
              </a:defRPr>
            </a:pPr>
            <a:r>
              <a:rPr sz="1350" b="0" i="0">
                <a:solidFill>
                  <a:srgbClr val="5C5C69"/>
                </a:solidFill>
              </a:rPr>
              <a:t>A tester target—not a verdict on substantive value.</a:t>
            </a:r>
          </a:p>
        </p:txBody>
      </p:sp>
    </p:spTree>
    <p:extLst>
      <p:ext uri="{BB962C8B-B14F-4D97-AF65-F5344CB8AC3E}">
        <p14:creationId xmlns:p14="http://schemas.microsoft.com/office/powerpoint/2010/main" val="79432211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C1A7771-1367-495B-AD76-23EEC6FD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Case A decision — PASS is earned by evidence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07DBB7BA-A733-473E-AF29-CFC78C6BA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BF90997-9046-4D01-AA7C-56CDEF0EA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18 / 29</a:t>
            </a:r>
          </a:p>
        </p:txBody>
      </p:sp>
      <p:sp>
        <p:nvSpPr>
          <p:cNvPr id="4" name="decision">
            <a:extLst xmlns:a="http://schemas.openxmlformats.org/drawingml/2006/main">
              <a:ext uri="{FF2B5EF4-FFF2-40B4-BE49-F238E27FC236}">
                <a16:creationId xmlns:a16="http://schemas.microsoft.com/office/drawing/2014/main" id="{CCEECE48-55C9-4F24-8E3B-7FBFDCAA3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38300"/>
            <a:ext cx="4000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3333B2"/>
                </a:solidFill>
              </a:defRPr>
            </a:pPr>
            <a:r>
              <a:rPr sz="4200" b="1" i="0">
                <a:solidFill>
                  <a:srgbClr val="3333B2"/>
                </a:solidFill>
              </a:rPr>
              <a:t>PASS</a:t>
            </a:r>
          </a:p>
        </p:txBody>
      </p:sp>
      <p:sp>
        <p:nvSpPr>
          <p:cNvPr id="5" name="condition">
            <a:extLst xmlns:a="http://schemas.openxmlformats.org/drawingml/2006/main">
              <a:ext uri="{FF2B5EF4-FFF2-40B4-BE49-F238E27FC236}">
                <a16:creationId xmlns:a16="http://schemas.microsoft.com/office/drawing/2014/main" id="{5A9CA42D-6A70-4214-AF58-53A67BD5B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43175"/>
            <a:ext cx="885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7171C"/>
                </a:solidFill>
              </a:defRPr>
            </a:pPr>
            <a:r>
              <a:rPr sz="2100" b="0" i="0">
                <a:solidFill>
                  <a:srgbClr val="17171C"/>
                </a:solidFill>
              </a:rPr>
              <a:t>only if the design contract and all six gates are supported.</a:t>
            </a:r>
          </a:p>
        </p:txBody>
      </p:sp>
      <p:sp>
        <p:nvSpPr>
          <p:cNvPr id="6" name="evidence1">
            <a:extLst xmlns:a="http://schemas.openxmlformats.org/drawingml/2006/main">
              <a:ext uri="{FF2B5EF4-FFF2-40B4-BE49-F238E27FC236}">
                <a16:creationId xmlns:a16="http://schemas.microsoft.com/office/drawing/2014/main" id="{82E69657-95D2-4757-B3C9-D9C670BFA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38550"/>
            <a:ext cx="714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✓ assignment remains the treatment</a:t>
            </a:r>
          </a:p>
        </p:txBody>
      </p:sp>
      <p:sp>
        <p:nvSpPr>
          <p:cNvPr id="7" name="evidence2">
            <a:extLst xmlns:a="http://schemas.openxmlformats.org/drawingml/2006/main">
              <a:ext uri="{FF2B5EF4-FFF2-40B4-BE49-F238E27FC236}">
                <a16:creationId xmlns:a16="http://schemas.microsoft.com/office/drawing/2014/main" id="{A0659873-F915-4F44-9E76-76622DDE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38625"/>
            <a:ext cx="714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✓ applicant-level keys survive the merge</a:t>
            </a:r>
          </a:p>
        </p:txBody>
      </p:sp>
      <p:sp>
        <p:nvSpPr>
          <p:cNvPr id="8" name="evidence3">
            <a:extLst xmlns:a="http://schemas.openxmlformats.org/drawingml/2006/main">
              <a:ext uri="{FF2B5EF4-FFF2-40B4-BE49-F238E27FC236}">
                <a16:creationId xmlns:a16="http://schemas.microsoft.com/office/drawing/2014/main" id="{BD49AB96-2B29-4FCF-A230-476BC266E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38700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✓ outcome and estimand match the contract</a:t>
            </a:r>
          </a:p>
        </p:txBody>
      </p:sp>
      <p:sp>
        <p:nvSpPr>
          <p:cNvPr id="9" name="debrief">
            <a:extLst xmlns:a="http://schemas.openxmlformats.org/drawingml/2006/main">
              <a:ext uri="{FF2B5EF4-FFF2-40B4-BE49-F238E27FC236}">
                <a16:creationId xmlns:a16="http://schemas.microsoft.com/office/drawing/2014/main" id="{24012FD1-09F3-4910-A8BE-9686C9820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29275"/>
            <a:ext cx="781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BF0040"/>
                </a:solidFill>
              </a:defRPr>
            </a:pPr>
            <a:r>
              <a:rPr sz="1800" b="1" i="0">
                <a:solidFill>
                  <a:srgbClr val="BF0040"/>
                </a:solidFill>
              </a:rPr>
              <a:t>After PASS: commit locally. Do not push.</a:t>
            </a:r>
          </a:p>
        </p:txBody>
      </p:sp>
    </p:spTree>
    <p:extLst>
      <p:ext uri="{BB962C8B-B14F-4D97-AF65-F5344CB8AC3E}">
        <p14:creationId xmlns:p14="http://schemas.microsoft.com/office/powerpoint/2010/main" val="30643334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FE61186-6153-460C-9D25-EDBC76C2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19 / 29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BA095EF-7594-41B8-85C5-5B3E8603D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335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3333B2"/>
                </a:solidFill>
              </a:defRPr>
            </a:pPr>
            <a:r>
              <a:rPr sz="1800" b="1" i="0">
                <a:solidFill>
                  <a:srgbClr val="3333B2"/>
                </a:solidFill>
              </a:rPr>
              <a:t>CASE B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C4820AE-07F9-4F14-B1ED-5084140F4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857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17171C"/>
                </a:solidFill>
              </a:defRPr>
            </a:pPr>
            <a:r>
              <a:rPr sz="4350" b="1" i="0">
                <a:solidFill>
                  <a:srgbClr val="17171C"/>
                </a:solidFill>
              </a:rPr>
              <a:t>Inherited analysis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466093F5-EAB8-4F57-B419-02212D2D2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528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BF0040"/>
                </a:solidFill>
              </a:defRPr>
            </a:pPr>
            <a:r>
              <a:rPr sz="2250" b="1" i="0">
                <a:solidFill>
                  <a:srgbClr val="BF0040"/>
                </a:solidFill>
              </a:rPr>
              <a:t>Reconstruct the experiment before trusting the output.</a:t>
            </a:r>
          </a:p>
        </p:txBody>
      </p:sp>
      <p:sp>
        <p:nvSpPr>
          <p:cNvPr id="5" name="rule-82-480">
            <a:extLst xmlns:a="http://schemas.openxmlformats.org/drawingml/2006/main">
              <a:ext uri="{FF2B5EF4-FFF2-40B4-BE49-F238E27FC236}">
                <a16:creationId xmlns:a16="http://schemas.microsoft.com/office/drawing/2014/main" id="{3D5CED55-1F94-48C7-A471-79DDD311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0"/>
            <a:ext cx="5905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3B2"/>
          </a:solidFill>
          <a:ln xmlns:a="http://schemas.openxmlformats.org/drawingml/2006/main" w="0">
            <a:solidFill>
              <a:srgbClr val="3333B2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2371837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E942B76-E66F-4345-A3EF-A22B83720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Case B — The inherited output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50AEF437-6B27-46A7-98D6-02E3F1073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EA59D51-A56C-4871-9CD2-D0E4FA278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20 / 29</a:t>
            </a:r>
          </a:p>
        </p:txBody>
      </p:sp>
      <p:sp>
        <p:nvSpPr>
          <p:cNvPr id="4" name="n-label">
            <a:extLst xmlns:a="http://schemas.openxmlformats.org/drawingml/2006/main">
              <a:ext uri="{FF2B5EF4-FFF2-40B4-BE49-F238E27FC236}">
                <a16:creationId xmlns:a16="http://schemas.microsoft.com/office/drawing/2014/main" id="{F912DD58-D122-4D75-AC03-C279D7F2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333B2"/>
                </a:solidFill>
              </a:defRPr>
            </a:pPr>
            <a:r>
              <a:rPr sz="1350" b="1" i="0">
                <a:solidFill>
                  <a:srgbClr val="3333B2"/>
                </a:solidFill>
              </a:rPr>
              <a:t>ANALYSIS SAMPLE</a:t>
            </a:r>
          </a:p>
        </p:txBody>
      </p:sp>
      <p:sp>
        <p:nvSpPr>
          <p:cNvPr id="5" name="n-value">
            <a:extLst xmlns:a="http://schemas.openxmlformats.org/drawingml/2006/main">
              <a:ext uri="{FF2B5EF4-FFF2-40B4-BE49-F238E27FC236}">
                <a16:creationId xmlns:a16="http://schemas.microsoft.com/office/drawing/2014/main" id="{A6FF4649-9C0F-4F8A-AE59-C50565C49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7171C"/>
                </a:solidFill>
              </a:defRPr>
            </a:pPr>
            <a:r>
              <a:rPr sz="2325" b="1" i="0">
                <a:solidFill>
                  <a:srgbClr val="17171C"/>
                </a:solidFill>
              </a:rPr>
              <a:t>N = 3,430 rows</a:t>
            </a:r>
          </a:p>
        </p:txBody>
      </p:sp>
      <p:sp>
        <p:nvSpPr>
          <p:cNvPr id="6" name="participants-label">
            <a:extLst xmlns:a="http://schemas.openxmlformats.org/drawingml/2006/main">
              <a:ext uri="{FF2B5EF4-FFF2-40B4-BE49-F238E27FC236}">
                <a16:creationId xmlns:a16="http://schemas.microsoft.com/office/drawing/2014/main" id="{5351063F-A574-481E-8983-255058DB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333B2"/>
                </a:solidFill>
              </a:defRPr>
            </a:pPr>
            <a:r>
              <a:rPr sz="1350" b="1" i="0">
                <a:solidFill>
                  <a:srgbClr val="3333B2"/>
                </a:solidFill>
              </a:rPr>
              <a:t>PROGRAM PARTICIPANTS</a:t>
            </a:r>
          </a:p>
        </p:txBody>
      </p:sp>
      <p:sp>
        <p:nvSpPr>
          <p:cNvPr id="7" name="participants-value">
            <a:extLst xmlns:a="http://schemas.openxmlformats.org/drawingml/2006/main">
              <a:ext uri="{FF2B5EF4-FFF2-40B4-BE49-F238E27FC236}">
                <a16:creationId xmlns:a16="http://schemas.microsoft.com/office/drawing/2014/main" id="{C9B8E15E-C5C8-4336-B321-9B0F923B2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860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1,825 rows  •  1,248 employed  •  68.4%</a:t>
            </a:r>
          </a:p>
        </p:txBody>
      </p:sp>
      <p:sp>
        <p:nvSpPr>
          <p:cNvPr id="8" name="nonparticipants-label">
            <a:extLst xmlns:a="http://schemas.openxmlformats.org/drawingml/2006/main">
              <a:ext uri="{FF2B5EF4-FFF2-40B4-BE49-F238E27FC236}">
                <a16:creationId xmlns:a16="http://schemas.microsoft.com/office/drawing/2014/main" id="{CA3C63FD-4F55-4DC5-85F0-04AC28636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9565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333B2"/>
                </a:solidFill>
              </a:defRPr>
            </a:pPr>
            <a:r>
              <a:rPr sz="1350" b="1" i="0">
                <a:solidFill>
                  <a:srgbClr val="3333B2"/>
                </a:solidFill>
              </a:rPr>
              <a:t>NONPARTICIPANTS</a:t>
            </a:r>
          </a:p>
        </p:txBody>
      </p:sp>
      <p:sp>
        <p:nvSpPr>
          <p:cNvPr id="9" name="nonparticipants-value">
            <a:extLst xmlns:a="http://schemas.openxmlformats.org/drawingml/2006/main">
              <a:ext uri="{FF2B5EF4-FFF2-40B4-BE49-F238E27FC236}">
                <a16:creationId xmlns:a16="http://schemas.microsoft.com/office/drawing/2014/main" id="{78A4884E-5365-447B-B1A5-742C2D541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385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1,605 rows  •  1,008 employed  •  62.8%</a:t>
            </a:r>
          </a:p>
        </p:txBody>
      </p:sp>
      <p:sp>
        <p:nvSpPr>
          <p:cNvPr id="10" name="difference">
            <a:extLst xmlns:a="http://schemas.openxmlformats.org/drawingml/2006/main">
              <a:ext uri="{FF2B5EF4-FFF2-40B4-BE49-F238E27FC236}">
                <a16:creationId xmlns:a16="http://schemas.microsoft.com/office/drawing/2014/main" id="{AAA7FB97-BFB9-45D6-B8B7-0DBC2DB65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62450"/>
            <a:ext cx="581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BF0040"/>
                </a:solidFill>
              </a:defRPr>
            </a:pPr>
            <a:r>
              <a:rPr sz="2175" b="1" i="0">
                <a:solidFill>
                  <a:srgbClr val="BF0040"/>
                </a:solidFill>
              </a:rPr>
              <a:t>Reported difference: +5.6 pp</a:t>
            </a:r>
          </a:p>
        </p:txBody>
      </p:sp>
      <p:sp>
        <p:nvSpPr>
          <p:cNvPr id="11" name="quote-band">
            <a:extLst xmlns:a="http://schemas.openxmlformats.org/drawingml/2006/main">
              <a:ext uri="{FF2B5EF4-FFF2-40B4-BE49-F238E27FC236}">
                <a16:creationId xmlns:a16="http://schemas.microsoft.com/office/drawing/2014/main" id="{B5B8E9EC-0A38-47AD-9B00-1A824440B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00625"/>
            <a:ext cx="581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quote">
            <a:extLst xmlns:a="http://schemas.openxmlformats.org/drawingml/2006/main">
              <a:ext uri="{FF2B5EF4-FFF2-40B4-BE49-F238E27FC236}">
                <a16:creationId xmlns:a16="http://schemas.microsoft.com/office/drawing/2014/main" id="{CDC1D430-8A3A-4C8E-99F2-B51722B60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181600"/>
            <a:ext cx="547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1">
                <a:solidFill>
                  <a:srgbClr val="17171C"/>
                </a:solidFill>
              </a:defRPr>
            </a:pPr>
            <a:r>
              <a:rPr sz="1725" b="1" i="1">
                <a:solidFill>
                  <a:srgbClr val="17171C"/>
                </a:solidFill>
              </a:rPr>
              <a:t>“Training participation increased employment.”</a:t>
            </a:r>
          </a:p>
        </p:txBody>
      </p:sp>
      <p:sp>
        <p:nvSpPr>
          <p:cNvPr id="13" name="rule-728-142">
            <a:extLst xmlns:a="http://schemas.openxmlformats.org/drawingml/2006/main">
              <a:ext uri="{FF2B5EF4-FFF2-40B4-BE49-F238E27FC236}">
                <a16:creationId xmlns:a16="http://schemas.microsoft.com/office/drawing/2014/main" id="{9DBD07B6-4F79-41FF-A974-7F7F8FAF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352550"/>
            <a:ext cx="1905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4" name="audit-title">
            <a:extLst xmlns:a="http://schemas.openxmlformats.org/drawingml/2006/main">
              <a:ext uri="{FF2B5EF4-FFF2-40B4-BE49-F238E27FC236}">
                <a16:creationId xmlns:a16="http://schemas.microsoft.com/office/drawing/2014/main" id="{7F87CB37-1F1C-47A2-A001-BDF6A201D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352550"/>
            <a:ext cx="390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3333B2"/>
                </a:solidFill>
              </a:defRPr>
            </a:pPr>
            <a:r>
              <a:rPr sz="1950" b="1" i="0">
                <a:solidFill>
                  <a:srgbClr val="3333B2"/>
                </a:solidFill>
              </a:rPr>
              <a:t>StatsClaw read-only audit</a:t>
            </a:r>
          </a:p>
        </p:txBody>
      </p:sp>
      <p:sp>
        <p:nvSpPr>
          <p:cNvPr id="15" name="audit-request">
            <a:extLst xmlns:a="http://schemas.openxmlformats.org/drawingml/2006/main">
              <a:ext uri="{FF2B5EF4-FFF2-40B4-BE49-F238E27FC236}">
                <a16:creationId xmlns:a16="http://schemas.microsoft.com/office/drawing/2014/main" id="{4723D909-8202-42EE-875B-F733404D7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914525"/>
            <a:ext cx="40005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Trace: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unit of observation</a:t>
            </a:r>
          </a:p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applicant_id key</a:t>
            </a:r>
          </a:p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join cardinality</a:t>
            </a:r>
          </a:p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treatment definition</a:t>
            </a:r>
          </a:p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estimand</a:t>
            </a:r>
          </a:p>
        </p:txBody>
      </p:sp>
      <p:sp>
        <p:nvSpPr>
          <p:cNvPr id="16" name="audit-status">
            <a:extLst xmlns:a="http://schemas.openxmlformats.org/drawingml/2006/main">
              <a:ext uri="{FF2B5EF4-FFF2-40B4-BE49-F238E27FC236}">
                <a16:creationId xmlns:a16="http://schemas.microsoft.com/office/drawing/2014/main" id="{D3C16366-0775-4B19-8474-8348BEC17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448175"/>
            <a:ext cx="4000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0000"/>
                </a:solidFill>
              </a:defRPr>
            </a:pPr>
            <a:r>
              <a:rPr sz="1650" b="1" i="0">
                <a:solidFill>
                  <a:srgbClr val="FF0000"/>
                </a:solidFill>
              </a:rPr>
              <a:t>Issue status before changes:</a:t>
            </a:r>
          </a:p>
          <a:p xmlns:a="http://schemas.openxmlformats.org/drawingml/2006/main">
            <a:pPr algn="l">
              <a:defRPr sz="1650" b="1" i="0">
                <a:solidFill>
                  <a:srgbClr val="FF0000"/>
                </a:solidFill>
              </a:defRPr>
            </a:pPr>
            <a:r>
              <a:rPr sz="1650" b="1" i="0">
                <a:solidFill>
                  <a:srgbClr val="FF0000"/>
                </a:solidFill>
              </a:rPr>
              <a:t>PASS / REPAIR / BLOCK /</a:t>
            </a:r>
          </a:p>
          <a:p xmlns:a="http://schemas.openxmlformats.org/drawingml/2006/main">
            <a:pPr algn="l">
              <a:defRPr sz="1650" b="1" i="0">
                <a:solidFill>
                  <a:srgbClr val="FF0000"/>
                </a:solidFill>
              </a:defRPr>
            </a:pPr>
            <a:r>
              <a:rPr sz="1650" b="1" i="0">
                <a:solidFill>
                  <a:srgbClr val="FF0000"/>
                </a:solidFill>
              </a:rPr>
              <a:t>DESIGN REVIEW</a:t>
            </a:r>
          </a:p>
        </p:txBody>
      </p:sp>
    </p:spTree>
    <p:extLst>
      <p:ext uri="{BB962C8B-B14F-4D97-AF65-F5344CB8AC3E}">
        <p14:creationId xmlns:p14="http://schemas.microsoft.com/office/powerpoint/2010/main" val="125680081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F525654-E6F6-41C3-85F2-FEA0FA760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Inherited files: assignment, behavior, and output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4F477253-67DD-4D60-B871-B239F0559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6D6B61C-F613-4631-AF61-074ECB701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21 / 29</a:t>
            </a:r>
          </a:p>
        </p:txBody>
      </p:sp>
      <p:sp>
        <p:nvSpPr>
          <p:cNvPr id="4" name="file-0">
            <a:extLst xmlns:a="http://schemas.openxmlformats.org/drawingml/2006/main">
              <a:ext uri="{FF2B5EF4-FFF2-40B4-BE49-F238E27FC236}">
                <a16:creationId xmlns:a16="http://schemas.microsoft.com/office/drawing/2014/main" id="{C13E7461-4A71-4206-BB35-4EE3BD709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52550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0000FF"/>
                </a:solidFill>
              </a:defRPr>
            </a:pPr>
            <a:r>
              <a:rPr sz="1725" b="1" i="0">
                <a:solidFill>
                  <a:srgbClr val="0000FF"/>
                </a:solidFill>
              </a:rPr>
              <a:t>data/baseline.csv</a:t>
            </a:r>
          </a:p>
        </p:txBody>
      </p:sp>
      <p:sp>
        <p:nvSpPr>
          <p:cNvPr id="5" name="file-desc-0">
            <a:extLst xmlns:a="http://schemas.openxmlformats.org/drawingml/2006/main">
              <a:ext uri="{FF2B5EF4-FFF2-40B4-BE49-F238E27FC236}">
                <a16:creationId xmlns:a16="http://schemas.microsoft.com/office/drawing/2014/main" id="{551D8A92-2589-4E50-8130-E4B053E1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5255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applicant characteristics</a:t>
            </a:r>
          </a:p>
        </p:txBody>
      </p:sp>
      <p:sp>
        <p:nvSpPr>
          <p:cNvPr id="6" name="rule-84-197">
            <a:extLst xmlns:a="http://schemas.openxmlformats.org/drawingml/2006/main">
              <a:ext uri="{FF2B5EF4-FFF2-40B4-BE49-F238E27FC236}">
                <a16:creationId xmlns:a16="http://schemas.microsoft.com/office/drawing/2014/main" id="{C1B43E24-1E7B-4B74-A8FE-F0C0F31F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7" name="file-1">
            <a:extLst xmlns:a="http://schemas.openxmlformats.org/drawingml/2006/main">
              <a:ext uri="{FF2B5EF4-FFF2-40B4-BE49-F238E27FC236}">
                <a16:creationId xmlns:a16="http://schemas.microsoft.com/office/drawing/2014/main" id="{F70BCB97-654B-4D96-8681-239B21D14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43125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0000FF"/>
                </a:solidFill>
              </a:defRPr>
            </a:pPr>
            <a:r>
              <a:rPr sz="1725" b="1" i="0">
                <a:solidFill>
                  <a:srgbClr val="0000FF"/>
                </a:solidFill>
              </a:rPr>
              <a:t>data/assignment.csv</a:t>
            </a:r>
          </a:p>
        </p:txBody>
      </p:sp>
      <p:sp>
        <p:nvSpPr>
          <p:cNvPr id="8" name="file-desc-1">
            <a:extLst xmlns:a="http://schemas.openxmlformats.org/drawingml/2006/main">
              <a:ext uri="{FF2B5EF4-FFF2-40B4-BE49-F238E27FC236}">
                <a16:creationId xmlns:a16="http://schemas.microsoft.com/office/drawing/2014/main" id="{F5D5685D-1FB3-4A99-92D6-905A2AA1A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43125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randomized offer</a:t>
            </a:r>
          </a:p>
        </p:txBody>
      </p:sp>
      <p:sp>
        <p:nvSpPr>
          <p:cNvPr id="9" name="rule-84-280">
            <a:extLst xmlns:a="http://schemas.openxmlformats.org/drawingml/2006/main">
              <a:ext uri="{FF2B5EF4-FFF2-40B4-BE49-F238E27FC236}">
                <a16:creationId xmlns:a16="http://schemas.microsoft.com/office/drawing/2014/main" id="{D16587B6-5FDF-444C-A708-E18DAB57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0" name="file-2">
            <a:extLst xmlns:a="http://schemas.openxmlformats.org/drawingml/2006/main">
              <a:ext uri="{FF2B5EF4-FFF2-40B4-BE49-F238E27FC236}">
                <a16:creationId xmlns:a16="http://schemas.microsoft.com/office/drawing/2014/main" id="{F2DDE358-B1CF-46F1-AD77-122475B1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0000FF"/>
                </a:solidFill>
              </a:defRPr>
            </a:pPr>
            <a:r>
              <a:rPr sz="1725" b="1" i="0">
                <a:solidFill>
                  <a:srgbClr val="0000FF"/>
                </a:solidFill>
              </a:rPr>
              <a:t>data/followup.csv</a:t>
            </a:r>
          </a:p>
        </p:txBody>
      </p:sp>
      <p:sp>
        <p:nvSpPr>
          <p:cNvPr id="11" name="file-desc-2">
            <a:extLst xmlns:a="http://schemas.openxmlformats.org/drawingml/2006/main">
              <a:ext uri="{FF2B5EF4-FFF2-40B4-BE49-F238E27FC236}">
                <a16:creationId xmlns:a16="http://schemas.microsoft.com/office/drawing/2014/main" id="{902F000E-6FC5-4034-BEBD-CCE49A15B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3370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six-month employment</a:t>
            </a:r>
          </a:p>
        </p:txBody>
      </p:sp>
      <p:sp>
        <p:nvSpPr>
          <p:cNvPr id="12" name="rule-84-363">
            <a:extLst xmlns:a="http://schemas.openxmlformats.org/drawingml/2006/main">
              <a:ext uri="{FF2B5EF4-FFF2-40B4-BE49-F238E27FC236}">
                <a16:creationId xmlns:a16="http://schemas.microsoft.com/office/drawing/2014/main" id="{05D22CD2-6F4F-4B7D-AB97-8B083806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57575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3" name="file-3">
            <a:extLst xmlns:a="http://schemas.openxmlformats.org/drawingml/2006/main">
              <a:ext uri="{FF2B5EF4-FFF2-40B4-BE49-F238E27FC236}">
                <a16:creationId xmlns:a16="http://schemas.microsoft.com/office/drawing/2014/main" id="{0A0C8B13-69C8-4626-A755-627BC8A5C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24275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0000FF"/>
                </a:solidFill>
              </a:defRPr>
            </a:pPr>
            <a:r>
              <a:rPr sz="1725" b="1" i="0">
                <a:solidFill>
                  <a:srgbClr val="0000FF"/>
                </a:solidFill>
              </a:rPr>
              <a:t>data/attendance_log.csv</a:t>
            </a:r>
          </a:p>
        </p:txBody>
      </p:sp>
      <p:sp>
        <p:nvSpPr>
          <p:cNvPr id="14" name="file-desc-3">
            <a:extLst xmlns:a="http://schemas.openxmlformats.org/drawingml/2006/main">
              <a:ext uri="{FF2B5EF4-FFF2-40B4-BE49-F238E27FC236}">
                <a16:creationId xmlns:a16="http://schemas.microsoft.com/office/drawing/2014/main" id="{3B175D8A-EC31-4C90-8E22-687EB68B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24275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training attendance events</a:t>
            </a:r>
          </a:p>
        </p:txBody>
      </p:sp>
      <p:sp>
        <p:nvSpPr>
          <p:cNvPr id="15" name="rule-84-446">
            <a:extLst xmlns:a="http://schemas.openxmlformats.org/drawingml/2006/main">
              <a:ext uri="{FF2B5EF4-FFF2-40B4-BE49-F238E27FC236}">
                <a16:creationId xmlns:a16="http://schemas.microsoft.com/office/drawing/2014/main" id="{8AB0722E-1DE2-4974-AF14-62B19D603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6" name="file-4">
            <a:extLst xmlns:a="http://schemas.openxmlformats.org/drawingml/2006/main">
              <a:ext uri="{FF2B5EF4-FFF2-40B4-BE49-F238E27FC236}">
                <a16:creationId xmlns:a16="http://schemas.microsoft.com/office/drawing/2014/main" id="{D6DF5D40-49D9-49B9-9E59-1EDCAE9EE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0000FF"/>
                </a:solidFill>
              </a:defRPr>
            </a:pPr>
            <a:r>
              <a:rPr sz="1725" b="1" i="0">
                <a:solidFill>
                  <a:srgbClr val="0000FF"/>
                </a:solidFill>
              </a:rPr>
              <a:t>data/case_b_analysis_received.csv</a:t>
            </a:r>
          </a:p>
        </p:txBody>
      </p:sp>
      <p:sp>
        <p:nvSpPr>
          <p:cNvPr id="17" name="file-desc-4">
            <a:extLst xmlns:a="http://schemas.openxmlformats.org/drawingml/2006/main">
              <a:ext uri="{FF2B5EF4-FFF2-40B4-BE49-F238E27FC236}">
                <a16:creationId xmlns:a16="http://schemas.microsoft.com/office/drawing/2014/main" id="{B3DEDC28-32BD-4CD7-A05D-AC8007E23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51485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analysis received from prior researcher</a:t>
            </a:r>
          </a:p>
        </p:txBody>
      </p:sp>
      <p:sp>
        <p:nvSpPr>
          <p:cNvPr id="18" name="question">
            <a:extLst xmlns:a="http://schemas.openxmlformats.org/drawingml/2006/main">
              <a:ext uri="{FF2B5EF4-FFF2-40B4-BE49-F238E27FC236}">
                <a16:creationId xmlns:a16="http://schemas.microsoft.com/office/drawing/2014/main" id="{F839614C-FA6D-4ABE-9460-DD1541876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245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0000"/>
                </a:solidFill>
              </a:defRPr>
            </a:pPr>
            <a:r>
              <a:rPr sz="1800" b="1" i="0">
                <a:solidFill>
                  <a:srgbClr val="FF0000"/>
                </a:solidFill>
              </a:rPr>
              <a:t>Which file describes assignment—and which only records behavior after assignment?</a:t>
            </a:r>
          </a:p>
        </p:txBody>
      </p:sp>
    </p:spTree>
    <p:extLst>
      <p:ext uri="{BB962C8B-B14F-4D97-AF65-F5344CB8AC3E}">
        <p14:creationId xmlns:p14="http://schemas.microsoft.com/office/powerpoint/2010/main" val="33498705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599AB8B-16B8-47AC-B27D-ED6D481A4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Case B — Begin with a read-only StatsClaw audit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DFC07A1C-DBB9-4F08-8979-4B4794FE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85E490B-11EF-4FC3-A23B-3F0C1185B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22 / 29</a:t>
            </a:r>
          </a:p>
        </p:txBody>
      </p:sp>
      <p:sp>
        <p:nvSpPr>
          <p:cNvPr id="4" name="prompt-rule">
            <a:extLst xmlns:a="http://schemas.openxmlformats.org/drawingml/2006/main">
              <a:ext uri="{FF2B5EF4-FFF2-40B4-BE49-F238E27FC236}">
                <a16:creationId xmlns:a16="http://schemas.microsoft.com/office/drawing/2014/main" id="{A98CDFA1-A657-4F4C-894A-9CF2A75C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66675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3B2"/>
          </a:solidFill>
          <a:ln xmlns:a="http://schemas.openxmlformats.org/drawingml/2006/main" w="0">
            <a:solidFill>
              <a:srgbClr val="3333B2"/>
            </a:solidFill>
            <a:prstDash val="solid"/>
          </a:ln>
        </p:spPr>
      </p:sp>
      <p:sp>
        <p:nvSpPr>
          <p:cNvPr id="5" name="prompt">
            <a:extLst xmlns:a="http://schemas.openxmlformats.org/drawingml/2006/main">
              <a:ext uri="{FF2B5EF4-FFF2-40B4-BE49-F238E27FC236}">
                <a16:creationId xmlns:a16="http://schemas.microsoft.com/office/drawing/2014/main" id="{1A27DAE4-7BD6-498F-A594-8C5B641DA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428750"/>
            <a:ext cx="9810750" cy="3762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Ask StatsClaw to audit in read-only mode. Do not edit or repair.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Trace units, applicant_id uniqueness, merge cardinality, treatment definition, sample, and estimand across the inherited files.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Before any change, issue one status: PASS / REPAIR / BLOCK / DESIGN 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Only if the status permits REPAIR: propose the smallest applicant-level repair and wait for authorization.</a:t>
            </a:r>
          </a:p>
        </p:txBody>
      </p:sp>
      <p:sp>
        <p:nvSpPr>
          <p:cNvPr id="6" name="instruction">
            <a:extLst xmlns:a="http://schemas.openxmlformats.org/drawingml/2006/main">
              <a:ext uri="{FF2B5EF4-FFF2-40B4-BE49-F238E27FC236}">
                <a16:creationId xmlns:a16="http://schemas.microsoft.com/office/drawing/2014/main" id="{0C57354E-7ADB-4453-8E56-F5E636B5B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476875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F0040"/>
                </a:solidFill>
              </a:defRPr>
            </a:pPr>
            <a:r>
              <a:rPr sz="1650" b="1" i="0">
                <a:solidFill>
                  <a:srgbClr val="BF0040"/>
                </a:solidFill>
              </a:rPr>
              <a:t>No builder authority during the audit.</a:t>
            </a:r>
          </a:p>
        </p:txBody>
      </p:sp>
    </p:spTree>
    <p:extLst>
      <p:ext uri="{BB962C8B-B14F-4D97-AF65-F5344CB8AC3E}">
        <p14:creationId xmlns:p14="http://schemas.microsoft.com/office/powerpoint/2010/main" val="159676877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0B01C80-710D-4CBE-88AE-897C42BB0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Pause and make the investigation legible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01EC929E-898D-45B6-9932-0051B7C60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B5089B0-B643-47A8-8B65-1FB23B393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23 / 29</a:t>
            </a:r>
          </a:p>
        </p:txBody>
      </p:sp>
      <p:sp>
        <p:nvSpPr>
          <p:cNvPr id="4" name="qhead-0">
            <a:extLst xmlns:a="http://schemas.openxmlformats.org/drawingml/2006/main">
              <a:ext uri="{FF2B5EF4-FFF2-40B4-BE49-F238E27FC236}">
                <a16:creationId xmlns:a16="http://schemas.microsoft.com/office/drawing/2014/main" id="{A541188E-E7D1-4AE1-8EB2-3F56B57AE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CURRENT BELIEF</a:t>
            </a:r>
          </a:p>
        </p:txBody>
      </p:sp>
      <p:sp>
        <p:nvSpPr>
          <p:cNvPr id="5" name="qbody-0">
            <a:extLst xmlns:a="http://schemas.openxmlformats.org/drawingml/2006/main">
              <a:ext uri="{FF2B5EF4-FFF2-40B4-BE49-F238E27FC236}">
                <a16:creationId xmlns:a16="http://schemas.microsoft.com/office/drawing/2014/main" id="{5EA705E9-5A67-428C-9CD8-ED718F27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4287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What experiment do you think was run?</a:t>
            </a:r>
          </a:p>
        </p:txBody>
      </p:sp>
      <p:sp>
        <p:nvSpPr>
          <p:cNvPr id="6" name="qhead-1">
            <a:extLst xmlns:a="http://schemas.openxmlformats.org/drawingml/2006/main">
              <a:ext uri="{FF2B5EF4-FFF2-40B4-BE49-F238E27FC236}">
                <a16:creationId xmlns:a16="http://schemas.microsoft.com/office/drawing/2014/main" id="{3C0176FD-7BA9-45A9-9E75-EAF8974CA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955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BEST EVIDENCE</a:t>
            </a:r>
          </a:p>
        </p:txBody>
      </p:sp>
      <p:sp>
        <p:nvSpPr>
          <p:cNvPr id="7" name="qbody-1">
            <a:extLst xmlns:a="http://schemas.openxmlformats.org/drawingml/2006/main">
              <a:ext uri="{FF2B5EF4-FFF2-40B4-BE49-F238E27FC236}">
                <a16:creationId xmlns:a16="http://schemas.microsoft.com/office/drawing/2014/main" id="{887F98E2-B5AB-4D93-A5E7-8723EDD33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955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Which file, field, or history entry supports that belief?</a:t>
            </a:r>
          </a:p>
        </p:txBody>
      </p:sp>
      <p:sp>
        <p:nvSpPr>
          <p:cNvPr id="8" name="qhead-2">
            <a:extLst xmlns:a="http://schemas.openxmlformats.org/drawingml/2006/main">
              <a:ext uri="{FF2B5EF4-FFF2-40B4-BE49-F238E27FC236}">
                <a16:creationId xmlns:a16="http://schemas.microsoft.com/office/drawing/2014/main" id="{D113F104-0A8B-4D34-A5A4-4BACBCE5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UNRESOLVED</a:t>
            </a:r>
          </a:p>
        </p:txBody>
      </p:sp>
      <p:sp>
        <p:nvSpPr>
          <p:cNvPr id="9" name="qbody-2">
            <a:extLst xmlns:a="http://schemas.openxmlformats.org/drawingml/2006/main">
              <a:ext uri="{FF2B5EF4-FFF2-40B4-BE49-F238E27FC236}">
                <a16:creationId xmlns:a16="http://schemas.microsoft.com/office/drawing/2014/main" id="{229A493E-1835-4292-84FA-9E629CD4E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5623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7171C"/>
                </a:solidFill>
              </a:defRPr>
            </a:pPr>
            <a:r>
              <a:rPr sz="1875" b="0" i="0">
                <a:solidFill>
                  <a:srgbClr val="17171C"/>
                </a:solidFill>
              </a:rPr>
              <a:t>What could still overturn your conclusion?</a:t>
            </a:r>
          </a:p>
        </p:txBody>
      </p:sp>
      <p:sp>
        <p:nvSpPr>
          <p:cNvPr id="10" name="qhead-3">
            <a:extLst xmlns:a="http://schemas.openxmlformats.org/drawingml/2006/main">
              <a:ext uri="{FF2B5EF4-FFF2-40B4-BE49-F238E27FC236}">
                <a16:creationId xmlns:a16="http://schemas.microsoft.com/office/drawing/2014/main" id="{4E334A34-AAB9-44AF-A3B7-07C2222C4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291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333B2"/>
                </a:solidFill>
              </a:defRPr>
            </a:pPr>
            <a:r>
              <a:rPr sz="1500" b="1" i="0">
                <a:solidFill>
                  <a:srgbClr val="3333B2"/>
                </a:solidFill>
              </a:rPr>
              <a:t>NEXT CHECK</a:t>
            </a:r>
          </a:p>
        </p:txBody>
      </p:sp>
      <p:sp>
        <p:nvSpPr>
          <p:cNvPr id="11" name="qbody-3">
            <a:extLst xmlns:a="http://schemas.openxmlformats.org/drawingml/2006/main">
              <a:ext uri="{FF2B5EF4-FFF2-40B4-BE49-F238E27FC236}">
                <a16:creationId xmlns:a16="http://schemas.microsoft.com/office/drawing/2014/main" id="{780EB397-9DC6-4FD2-B119-23744011D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6291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F0000"/>
                </a:solidFill>
              </a:defRPr>
            </a:pPr>
            <a:r>
              <a:rPr sz="1875" b="1" i="0">
                <a:solidFill>
                  <a:srgbClr val="FF0000"/>
                </a:solidFill>
              </a:rPr>
              <a:t>What will you inspect now—and why?</a:t>
            </a:r>
          </a:p>
        </p:txBody>
      </p:sp>
    </p:spTree>
    <p:extLst>
      <p:ext uri="{BB962C8B-B14F-4D97-AF65-F5344CB8AC3E}">
        <p14:creationId xmlns:p14="http://schemas.microsoft.com/office/powerpoint/2010/main" val="120822554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BDE021A-6857-4B8C-AA5B-6EE13CC80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Git is part of the research record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4AB2E986-D267-4510-BAF0-1252F14D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C8ECD41-8688-42BA-9102-FED5DA3C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24 / 29</a:t>
            </a:r>
          </a:p>
        </p:txBody>
      </p:sp>
      <p:sp>
        <p:nvSpPr>
          <p:cNvPr id="4" name="cmd-155">
            <a:extLst xmlns:a="http://schemas.openxmlformats.org/drawingml/2006/main">
              <a:ext uri="{FF2B5EF4-FFF2-40B4-BE49-F238E27FC236}">
                <a16:creationId xmlns:a16="http://schemas.microsoft.com/office/drawing/2014/main" id="{3470B5FF-94A0-4AE5-95FB-2AD88294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476375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status</a:t>
            </a:r>
          </a:p>
        </p:txBody>
      </p:sp>
      <p:sp>
        <p:nvSpPr>
          <p:cNvPr id="5" name="cmd-218">
            <a:extLst xmlns:a="http://schemas.openxmlformats.org/drawingml/2006/main">
              <a:ext uri="{FF2B5EF4-FFF2-40B4-BE49-F238E27FC236}">
                <a16:creationId xmlns:a16="http://schemas.microsoft.com/office/drawing/2014/main" id="{41220E45-C249-4E50-9677-FE1933048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7645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log --oneline --all --decorate</a:t>
            </a:r>
          </a:p>
        </p:txBody>
      </p:sp>
      <p:sp>
        <p:nvSpPr>
          <p:cNvPr id="6" name="cmd-281">
            <a:extLst xmlns:a="http://schemas.openxmlformats.org/drawingml/2006/main">
              <a:ext uri="{FF2B5EF4-FFF2-40B4-BE49-F238E27FC236}">
                <a16:creationId xmlns:a16="http://schemas.microsoft.com/office/drawing/2014/main" id="{AF3D345F-80D7-4258-8CD3-17D7CF5A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76525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diff</a:t>
            </a:r>
          </a:p>
        </p:txBody>
      </p:sp>
      <p:sp>
        <p:nvSpPr>
          <p:cNvPr id="7" name="cmd-344">
            <a:extLst xmlns:a="http://schemas.openxmlformats.org/drawingml/2006/main">
              <a:ext uri="{FF2B5EF4-FFF2-40B4-BE49-F238E27FC236}">
                <a16:creationId xmlns:a16="http://schemas.microsoft.com/office/drawing/2014/main" id="{B265F3FB-D4BB-4A03-B844-51407952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7660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show &lt;commit&gt;</a:t>
            </a:r>
          </a:p>
        </p:txBody>
      </p:sp>
      <p:sp>
        <p:nvSpPr>
          <p:cNvPr id="8" name="cmd-407">
            <a:extLst xmlns:a="http://schemas.openxmlformats.org/drawingml/2006/main">
              <a:ext uri="{FF2B5EF4-FFF2-40B4-BE49-F238E27FC236}">
                <a16:creationId xmlns:a16="http://schemas.microsoft.com/office/drawing/2014/main" id="{1A44EC22-B479-459D-8748-2A438AD97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76675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000FF"/>
                </a:solidFill>
              </a:defRPr>
            </a:pPr>
            <a:r>
              <a:rPr sz="1650" b="0" i="0">
                <a:solidFill>
                  <a:srgbClr val="0000FF"/>
                </a:solidFill>
              </a:rPr>
              <a:t>git blame &lt;file&gt;</a:t>
            </a:r>
          </a:p>
        </p:txBody>
      </p:sp>
      <p:sp>
        <p:nvSpPr>
          <p:cNvPr id="9" name="question">
            <a:extLst xmlns:a="http://schemas.openxmlformats.org/drawingml/2006/main">
              <a:ext uri="{FF2B5EF4-FFF2-40B4-BE49-F238E27FC236}">
                <a16:creationId xmlns:a16="http://schemas.microsoft.com/office/drawing/2014/main" id="{F3F135BB-803E-4AB6-86BC-07D005E39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5300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FF0000"/>
                </a:solidFill>
              </a:defRPr>
            </a:pPr>
            <a:r>
              <a:rPr sz="2325" b="1" i="0">
                <a:solidFill>
                  <a:srgbClr val="FF0000"/>
                </a:solidFill>
              </a:rPr>
              <a:t>What can history tell you that the current files cannot?</a:t>
            </a:r>
          </a:p>
        </p:txBody>
      </p:sp>
    </p:spTree>
    <p:extLst>
      <p:ext uri="{BB962C8B-B14F-4D97-AF65-F5344CB8AC3E}">
        <p14:creationId xmlns:p14="http://schemas.microsoft.com/office/powerpoint/2010/main" val="99170722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E420B96-4BF3-42AA-88E4-E516E386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StatsClaw must issue a status before any change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B3B34A8D-5BE1-4CAD-BB03-68A262922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61B9C9B-87E2-4200-8103-4B1D171B5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25 / 29</a:t>
            </a:r>
          </a:p>
        </p:txBody>
      </p:sp>
      <p:sp>
        <p:nvSpPr>
          <p:cNvPr id="4" name="decision-0">
            <a:extLst xmlns:a="http://schemas.openxmlformats.org/drawingml/2006/main">
              <a:ext uri="{FF2B5EF4-FFF2-40B4-BE49-F238E27FC236}">
                <a16:creationId xmlns:a16="http://schemas.microsoft.com/office/drawing/2014/main" id="{73E0B9E6-DDB0-4399-9EEB-5DE785C38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81125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3333B2"/>
                </a:solidFill>
              </a:defRPr>
            </a:pPr>
            <a:r>
              <a:rPr sz="2025" b="1" i="0">
                <a:solidFill>
                  <a:srgbClr val="3333B2"/>
                </a:solidFill>
              </a:rPr>
              <a:t>PASS</a:t>
            </a:r>
          </a:p>
        </p:txBody>
      </p:sp>
      <p:sp>
        <p:nvSpPr>
          <p:cNvPr id="5" name="decision-desc-0">
            <a:extLst xmlns:a="http://schemas.openxmlformats.org/drawingml/2006/main">
              <a:ext uri="{FF2B5EF4-FFF2-40B4-BE49-F238E27FC236}">
                <a16:creationId xmlns:a16="http://schemas.microsoft.com/office/drawing/2014/main" id="{39D7ECF0-CD46-4B96-A3B9-7A8839D63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381125"/>
            <a:ext cx="700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design is intentional and supported</a:t>
            </a:r>
          </a:p>
        </p:txBody>
      </p:sp>
      <p:sp>
        <p:nvSpPr>
          <p:cNvPr id="6" name="decision-1">
            <a:extLst xmlns:a="http://schemas.openxmlformats.org/drawingml/2006/main">
              <a:ext uri="{FF2B5EF4-FFF2-40B4-BE49-F238E27FC236}">
                <a16:creationId xmlns:a16="http://schemas.microsoft.com/office/drawing/2014/main" id="{2B3B6ABB-2DAD-4E4D-9B4E-5FCC34E3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3333B2"/>
                </a:solidFill>
              </a:defRPr>
            </a:pPr>
            <a:r>
              <a:rPr sz="2025" b="1" i="0">
                <a:solidFill>
                  <a:srgbClr val="3333B2"/>
                </a:solidFill>
              </a:rPr>
              <a:t>REPAIR</a:t>
            </a:r>
          </a:p>
        </p:txBody>
      </p:sp>
      <p:sp>
        <p:nvSpPr>
          <p:cNvPr id="7" name="decision-desc-1">
            <a:extLst xmlns:a="http://schemas.openxmlformats.org/drawingml/2006/main">
              <a:ext uri="{FF2B5EF4-FFF2-40B4-BE49-F238E27FC236}">
                <a16:creationId xmlns:a16="http://schemas.microsoft.com/office/drawing/2014/main" id="{C4C2B1E1-C402-473A-97DF-F4F0D625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81250"/>
            <a:ext cx="700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a bounded implementation error can be corrected</a:t>
            </a:r>
          </a:p>
        </p:txBody>
      </p:sp>
      <p:sp>
        <p:nvSpPr>
          <p:cNvPr id="8" name="decision-2">
            <a:extLst xmlns:a="http://schemas.openxmlformats.org/drawingml/2006/main">
              <a:ext uri="{FF2B5EF4-FFF2-40B4-BE49-F238E27FC236}">
                <a16:creationId xmlns:a16="http://schemas.microsoft.com/office/drawing/2014/main" id="{D32E1908-33F5-4D38-9738-CFDCAAB7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81375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3333B2"/>
                </a:solidFill>
              </a:defRPr>
            </a:pPr>
            <a:r>
              <a:rPr sz="2025" b="1" i="0">
                <a:solidFill>
                  <a:srgbClr val="3333B2"/>
                </a:solidFill>
              </a:rPr>
              <a:t>BLOCK</a:t>
            </a:r>
          </a:p>
        </p:txBody>
      </p:sp>
      <p:sp>
        <p:nvSpPr>
          <p:cNvPr id="9" name="decision-desc-2">
            <a:extLst xmlns:a="http://schemas.openxmlformats.org/drawingml/2006/main">
              <a:ext uri="{FF2B5EF4-FFF2-40B4-BE49-F238E27FC236}">
                <a16:creationId xmlns:a16="http://schemas.microsoft.com/office/drawing/2014/main" id="{93C442BF-5ADA-42D1-850A-64692875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381375"/>
            <a:ext cx="700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current result should not be presented</a:t>
            </a:r>
          </a:p>
        </p:txBody>
      </p:sp>
      <p:sp>
        <p:nvSpPr>
          <p:cNvPr id="10" name="decision-3">
            <a:extLst xmlns:a="http://schemas.openxmlformats.org/drawingml/2006/main">
              <a:ext uri="{FF2B5EF4-FFF2-40B4-BE49-F238E27FC236}">
                <a16:creationId xmlns:a16="http://schemas.microsoft.com/office/drawing/2014/main" id="{A4BEA8DC-A939-47DD-9509-BE499648B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3333B2"/>
                </a:solidFill>
              </a:defRPr>
            </a:pPr>
            <a:r>
              <a:rPr sz="2025" b="1" i="0">
                <a:solidFill>
                  <a:srgbClr val="3333B2"/>
                </a:solidFill>
              </a:rPr>
              <a:t>DESIGN REVIEW</a:t>
            </a:r>
          </a:p>
        </p:txBody>
      </p:sp>
      <p:sp>
        <p:nvSpPr>
          <p:cNvPr id="11" name="decision-desc-3">
            <a:extLst xmlns:a="http://schemas.openxmlformats.org/drawingml/2006/main">
              <a:ext uri="{FF2B5EF4-FFF2-40B4-BE49-F238E27FC236}">
                <a16:creationId xmlns:a16="http://schemas.microsoft.com/office/drawing/2014/main" id="{11C4A920-951B-4876-AFE5-ECA708109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381500"/>
            <a:ext cx="700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171C"/>
                </a:solidFill>
              </a:defRPr>
            </a:pPr>
            <a:r>
              <a:rPr sz="1800" b="0" i="0">
                <a:solidFill>
                  <a:srgbClr val="17171C"/>
                </a:solidFill>
              </a:rPr>
              <a:t>the intended experiment is unresolved</a:t>
            </a:r>
          </a:p>
        </p:txBody>
      </p:sp>
      <p:sp>
        <p:nvSpPr>
          <p:cNvPr id="12" name="sentence">
            <a:extLst xmlns:a="http://schemas.openxmlformats.org/drawingml/2006/main">
              <a:ext uri="{FF2B5EF4-FFF2-40B4-BE49-F238E27FC236}">
                <a16:creationId xmlns:a16="http://schemas.microsoft.com/office/drawing/2014/main" id="{D916F0B7-4EEE-451E-924C-C88B40E6A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7212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BF0040"/>
                </a:solidFill>
              </a:defRPr>
            </a:pPr>
            <a:r>
              <a:rPr sz="1800" b="1" i="0">
                <a:solidFill>
                  <a:srgbClr val="BF0040"/>
                </a:solidFill>
              </a:rPr>
              <a:t>Only REPAIR authorizes a smallest repair. BLOCK forbids presentation.</a:t>
            </a:r>
          </a:p>
        </p:txBody>
      </p:sp>
    </p:spTree>
    <p:extLst>
      <p:ext uri="{BB962C8B-B14F-4D97-AF65-F5344CB8AC3E}">
        <p14:creationId xmlns:p14="http://schemas.microsoft.com/office/powerpoint/2010/main" val="106947189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reveal-band">
            <a:extLst xmlns:a="http://schemas.openxmlformats.org/drawingml/2006/main">
              <a:ext uri="{FF2B5EF4-FFF2-40B4-BE49-F238E27FC236}">
                <a16:creationId xmlns:a16="http://schemas.microsoft.com/office/drawing/2014/main" id="{279120B5-4875-4C9F-94A9-915D8DFA7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0">
            <a:solidFill>
              <a:srgbClr val="FF0000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C137FBB-CC1B-4038-BA92-C47E7CE2D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FF0000"/>
                </a:solidFill>
              </a:defRPr>
            </a:pPr>
            <a:r>
              <a:rPr sz="2925" b="1" i="0">
                <a:solidFill>
                  <a:srgbClr val="FF0000"/>
                </a:solidFill>
              </a:rPr>
              <a:t>REVEAL — Two failures changed the experiment</a:t>
            </a:r>
          </a:p>
        </p:txBody>
      </p:sp>
      <p:sp>
        <p:nvSpPr>
          <p:cNvPr id="3" name="rule-68-107">
            <a:extLst xmlns:a="http://schemas.openxmlformats.org/drawingml/2006/main">
              <a:ext uri="{FF2B5EF4-FFF2-40B4-BE49-F238E27FC236}">
                <a16:creationId xmlns:a16="http://schemas.microsoft.com/office/drawing/2014/main" id="{A725D1AB-7D1E-4EA8-8230-79789243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1A2EB5A-0EE5-458B-9C6D-E131DBCAA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26 / 29</a:t>
            </a:r>
          </a:p>
        </p:txBody>
      </p:sp>
      <p:sp>
        <p:nvSpPr>
          <p:cNvPr id="5" name="reveal-bg">
            <a:extLst xmlns:a="http://schemas.openxmlformats.org/drawingml/2006/main">
              <a:ext uri="{FF2B5EF4-FFF2-40B4-BE49-F238E27FC236}">
                <a16:creationId xmlns:a16="http://schemas.microsoft.com/office/drawing/2014/main" id="{AAD5E145-F288-4C9D-9E42-46FEE4AC1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19200"/>
            <a:ext cx="10953750" cy="455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ailure1-number">
            <a:extLst xmlns:a="http://schemas.openxmlformats.org/drawingml/2006/main">
              <a:ext uri="{FF2B5EF4-FFF2-40B4-BE49-F238E27FC236}">
                <a16:creationId xmlns:a16="http://schemas.microsoft.com/office/drawing/2014/main" id="{BB39AF3B-375D-4B87-9903-EFFDA22B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81125"/>
            <a:ext cx="495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FF0000"/>
                </a:solidFill>
              </a:defRPr>
            </a:pPr>
            <a:r>
              <a:rPr sz="3150" b="1" i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7" name="failure1-title">
            <a:extLst xmlns:a="http://schemas.openxmlformats.org/drawingml/2006/main">
              <a:ext uri="{FF2B5EF4-FFF2-40B4-BE49-F238E27FC236}">
                <a16:creationId xmlns:a16="http://schemas.microsoft.com/office/drawing/2014/main" id="{1579A0E9-88E6-42F3-8BDD-4FB870B1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438275"/>
            <a:ext cx="419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FF0000"/>
                </a:solidFill>
              </a:defRPr>
            </a:pPr>
            <a:r>
              <a:rPr sz="2175" b="1" i="0">
                <a:solidFill>
                  <a:srgbClr val="FF0000"/>
                </a:solidFill>
              </a:rPr>
              <a:t>Unit / cardinality drift</a:t>
            </a:r>
          </a:p>
        </p:txBody>
      </p:sp>
      <p:sp>
        <p:nvSpPr>
          <p:cNvPr id="8" name="failure1-drift">
            <a:extLst xmlns:a="http://schemas.openxmlformats.org/drawingml/2006/main">
              <a:ext uri="{FF2B5EF4-FFF2-40B4-BE49-F238E27FC236}">
                <a16:creationId xmlns:a16="http://schemas.microsoft.com/office/drawing/2014/main" id="{98E08B9A-E130-46B1-B54E-DAEFFCD75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2882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7171C"/>
                </a:solidFill>
              </a:defRPr>
            </a:pPr>
            <a:r>
              <a:rPr sz="1875" b="1" i="0">
                <a:solidFill>
                  <a:srgbClr val="17171C"/>
                </a:solidFill>
              </a:rPr>
              <a:t>3,000 applicants  →  3,430 rows</a:t>
            </a:r>
          </a:p>
        </p:txBody>
      </p:sp>
      <p:sp>
        <p:nvSpPr>
          <p:cNvPr id="9" name="failure1-counts">
            <a:extLst xmlns:a="http://schemas.openxmlformats.org/drawingml/2006/main">
              <a:ext uri="{FF2B5EF4-FFF2-40B4-BE49-F238E27FC236}">
                <a16:creationId xmlns:a16="http://schemas.microsoft.com/office/drawing/2014/main" id="{0E3D1C85-E393-47F5-8B39-32172AB13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43175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171C"/>
                </a:solidFill>
              </a:defRPr>
            </a:pPr>
            <a:r>
              <a:rPr sz="1725" b="0" i="0">
                <a:solidFill>
                  <a:srgbClr val="17171C"/>
                </a:solidFill>
              </a:rPr>
              <a:t>350 duplicate IDs  •  430 excess rows</a:t>
            </a:r>
          </a:p>
        </p:txBody>
      </p:sp>
      <p:sp>
        <p:nvSpPr>
          <p:cNvPr id="10" name="failure1-pattern">
            <a:extLst xmlns:a="http://schemas.openxmlformats.org/drawingml/2006/main">
              <a:ext uri="{FF2B5EF4-FFF2-40B4-BE49-F238E27FC236}">
                <a16:creationId xmlns:a16="http://schemas.microsoft.com/office/drawing/2014/main" id="{A610E6F8-C32B-49C7-BB49-81011DB97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57525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All duplicates are offered applicants;</a:t>
            </a:r>
          </a:p>
          <a:p xmlns:a="http://schemas.openxmlformats.org/drawingml/2006/main">
            <a:pPr algn="l">
              <a:defRPr sz="1650" b="0" i="0">
                <a:solidFill>
                  <a:srgbClr val="17171C"/>
                </a:solidFill>
              </a:defRPr>
            </a:pPr>
            <a:r>
              <a:rPr sz="1650" b="0" i="0">
                <a:solidFill>
                  <a:srgbClr val="17171C"/>
                </a:solidFill>
              </a:rPr>
              <a:t>frequent attenders receive extra weight.</a:t>
            </a:r>
          </a:p>
        </p:txBody>
      </p:sp>
      <p:sp>
        <p:nvSpPr>
          <p:cNvPr id="11" name="rule-625-150">
            <a:extLst xmlns:a="http://schemas.openxmlformats.org/drawingml/2006/main">
              <a:ext uri="{FF2B5EF4-FFF2-40B4-BE49-F238E27FC236}">
                <a16:creationId xmlns:a16="http://schemas.microsoft.com/office/drawing/2014/main" id="{5CAF398B-2C22-488C-B3DC-A2488603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428750"/>
            <a:ext cx="1905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2" name="failure2-number">
            <a:extLst xmlns:a="http://schemas.openxmlformats.org/drawingml/2006/main">
              <a:ext uri="{FF2B5EF4-FFF2-40B4-BE49-F238E27FC236}">
                <a16:creationId xmlns:a16="http://schemas.microsoft.com/office/drawing/2014/main" id="{A435533C-5C13-4C9E-8B36-B56E1D39F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81125"/>
            <a:ext cx="495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FF0000"/>
                </a:solidFill>
              </a:defRPr>
            </a:pPr>
            <a:r>
              <a:rPr sz="3150" b="1" i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3" name="failure2-title">
            <a:extLst xmlns:a="http://schemas.openxmlformats.org/drawingml/2006/main">
              <a:ext uri="{FF2B5EF4-FFF2-40B4-BE49-F238E27FC236}">
                <a16:creationId xmlns:a16="http://schemas.microsoft.com/office/drawing/2014/main" id="{5C2821FE-B426-4F86-B997-9EAA7D3DE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438275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FF0000"/>
                </a:solidFill>
              </a:defRPr>
            </a:pPr>
            <a:r>
              <a:rPr sz="2175" b="1" i="0">
                <a:solidFill>
                  <a:srgbClr val="FF0000"/>
                </a:solidFill>
              </a:rPr>
              <a:t>Estimand drift</a:t>
            </a:r>
          </a:p>
        </p:txBody>
      </p:sp>
      <p:sp>
        <p:nvSpPr>
          <p:cNvPr id="14" name="failure2-randomized">
            <a:extLst xmlns:a="http://schemas.openxmlformats.org/drawingml/2006/main">
              <a:ext uri="{FF2B5EF4-FFF2-40B4-BE49-F238E27FC236}">
                <a16:creationId xmlns:a16="http://schemas.microsoft.com/office/drawing/2014/main" id="{E3783D74-BFE8-444E-8251-B9F376056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028825"/>
            <a:ext cx="466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Randomized treatment:</a:t>
            </a:r>
          </a:p>
          <a:p xmlns:a="http://schemas.openxmlformats.org/drawingml/2006/main">
            <a:pPr algn="l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offered_training</a:t>
            </a:r>
          </a:p>
        </p:txBody>
      </p:sp>
      <p:sp>
        <p:nvSpPr>
          <p:cNvPr id="15" name="failure2-used">
            <a:extLst xmlns:a="http://schemas.openxmlformats.org/drawingml/2006/main">
              <a:ext uri="{FF2B5EF4-FFF2-40B4-BE49-F238E27FC236}">
                <a16:creationId xmlns:a16="http://schemas.microsoft.com/office/drawing/2014/main" id="{2DC650AF-BA66-4610-8962-E934CC33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09875"/>
            <a:ext cx="4857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0000"/>
                </a:solidFill>
              </a:defRPr>
            </a:pPr>
            <a:r>
              <a:rPr sz="1650" b="1" i="0">
                <a:solidFill>
                  <a:srgbClr val="FF0000"/>
                </a:solidFill>
              </a:rPr>
              <a:t>Inherited comparison:</a:t>
            </a:r>
          </a:p>
          <a:p xmlns:a="http://schemas.openxmlformats.org/drawingml/2006/main">
            <a:pPr algn="l">
              <a:defRPr sz="1650" b="1" i="0">
                <a:solidFill>
                  <a:srgbClr val="FF0000"/>
                </a:solidFill>
              </a:defRPr>
            </a:pPr>
            <a:r>
              <a:rPr sz="1650" b="1" i="0">
                <a:solidFill>
                  <a:srgbClr val="FF0000"/>
                </a:solidFill>
              </a:rPr>
              <a:t>post-randomization program_participant</a:t>
            </a:r>
          </a:p>
        </p:txBody>
      </p:sp>
      <p:sp>
        <p:nvSpPr>
          <p:cNvPr id="16" name="matrix-title">
            <a:extLst xmlns:a="http://schemas.openxmlformats.org/drawingml/2006/main">
              <a:ext uri="{FF2B5EF4-FFF2-40B4-BE49-F238E27FC236}">
                <a16:creationId xmlns:a16="http://schemas.microsoft.com/office/drawing/2014/main" id="{138012B5-8B17-45A8-BEA4-113C99ABA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957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333B2"/>
                </a:solidFill>
              </a:defRPr>
            </a:pPr>
            <a:r>
              <a:rPr sz="1350" b="1" i="0">
                <a:solidFill>
                  <a:srgbClr val="3333B2"/>
                </a:solidFill>
              </a:rPr>
              <a:t>Compliance matrix</a:t>
            </a:r>
          </a:p>
        </p:txBody>
      </p:sp>
      <p:sp>
        <p:nvSpPr>
          <p:cNvPr id="17" name="matrix-head">
            <a:extLst xmlns:a="http://schemas.openxmlformats.org/drawingml/2006/main">
              <a:ext uri="{FF2B5EF4-FFF2-40B4-BE49-F238E27FC236}">
                <a16:creationId xmlns:a16="http://schemas.microsoft.com/office/drawing/2014/main" id="{88F42AAB-14C5-4236-B2DC-98CC1F567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957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333B2"/>
                </a:solidFill>
              </a:defRPr>
            </a:pPr>
            <a:r>
              <a:rPr sz="1350" b="1" i="0">
                <a:solidFill>
                  <a:srgbClr val="3333B2"/>
                </a:solidFill>
              </a:rPr>
              <a:t>Participate     No</a:t>
            </a:r>
          </a:p>
        </p:txBody>
      </p:sp>
      <p:sp>
        <p:nvSpPr>
          <p:cNvPr id="18" name="matrix-offered">
            <a:extLst xmlns:a="http://schemas.openxmlformats.org/drawingml/2006/main">
              <a:ext uri="{FF2B5EF4-FFF2-40B4-BE49-F238E27FC236}">
                <a16:creationId xmlns:a16="http://schemas.microsoft.com/office/drawing/2014/main" id="{A7CB080B-222D-4363-943D-F9EE0997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04812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7171C"/>
                </a:solidFill>
              </a:defRPr>
            </a:pPr>
            <a:r>
              <a:rPr sz="1425" b="1" i="0">
                <a:solidFill>
                  <a:srgbClr val="17171C"/>
                </a:solidFill>
              </a:rPr>
              <a:t>Offered</a:t>
            </a:r>
          </a:p>
        </p:txBody>
      </p:sp>
      <p:sp>
        <p:nvSpPr>
          <p:cNvPr id="19" name="matrix-offered-values">
            <a:extLst xmlns:a="http://schemas.openxmlformats.org/drawingml/2006/main">
              <a:ext uri="{FF2B5EF4-FFF2-40B4-BE49-F238E27FC236}">
                <a16:creationId xmlns:a16="http://schemas.microsoft.com/office/drawing/2014/main" id="{D49F8CF7-3AC6-42E2-BFE7-B974E6248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4812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7171C"/>
                </a:solidFill>
              </a:defRPr>
            </a:pPr>
            <a:r>
              <a:rPr sz="1425" b="0" i="0">
                <a:solidFill>
                  <a:srgbClr val="17171C"/>
                </a:solidFill>
              </a:rPr>
              <a:t>1,350          150</a:t>
            </a:r>
          </a:p>
        </p:txBody>
      </p:sp>
      <p:sp>
        <p:nvSpPr>
          <p:cNvPr id="20" name="matrix-control">
            <a:extLst xmlns:a="http://schemas.openxmlformats.org/drawingml/2006/main">
              <a:ext uri="{FF2B5EF4-FFF2-40B4-BE49-F238E27FC236}">
                <a16:creationId xmlns:a16="http://schemas.microsoft.com/office/drawing/2014/main" id="{9112C9B1-952A-42DE-B0E9-ADBEED875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400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7171C"/>
                </a:solidFill>
              </a:defRPr>
            </a:pPr>
            <a:r>
              <a:rPr sz="1425" b="1" i="0">
                <a:solidFill>
                  <a:srgbClr val="17171C"/>
                </a:solidFill>
              </a:rPr>
              <a:t>Control</a:t>
            </a:r>
          </a:p>
        </p:txBody>
      </p:sp>
      <p:sp>
        <p:nvSpPr>
          <p:cNvPr id="21" name="matrix-control-values">
            <a:extLst xmlns:a="http://schemas.openxmlformats.org/drawingml/2006/main">
              <a:ext uri="{FF2B5EF4-FFF2-40B4-BE49-F238E27FC236}">
                <a16:creationId xmlns:a16="http://schemas.microsoft.com/office/drawing/2014/main" id="{C2D69461-8014-4693-A244-3B11B46B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4005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7171C"/>
                </a:solidFill>
              </a:defRPr>
            </a:pPr>
            <a:r>
              <a:rPr sz="1425" b="0" i="0">
                <a:solidFill>
                  <a:srgbClr val="17171C"/>
                </a:solidFill>
              </a:rPr>
              <a:t>45          1,455</a:t>
            </a:r>
          </a:p>
        </p:txBody>
      </p:sp>
      <p:sp>
        <p:nvSpPr>
          <p:cNvPr id="22" name="rule-90-520">
            <a:extLst xmlns:a="http://schemas.openxmlformats.org/drawingml/2006/main">
              <a:ext uri="{FF2B5EF4-FFF2-40B4-BE49-F238E27FC236}">
                <a16:creationId xmlns:a16="http://schemas.microsoft.com/office/drawing/2014/main" id="{BEC0C19C-EB86-411F-8856-274598E1E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53000"/>
            <a:ext cx="1000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0">
            <a:solidFill>
              <a:srgbClr val="FF0000"/>
            </a:solidFill>
            <a:prstDash val="solid"/>
          </a:ln>
        </p:spPr>
      </p:sp>
      <p:sp>
        <p:nvSpPr>
          <p:cNvPr id="23" name="bottom">
            <a:extLst xmlns:a="http://schemas.openxmlformats.org/drawingml/2006/main">
              <a:ext uri="{FF2B5EF4-FFF2-40B4-BE49-F238E27FC236}">
                <a16:creationId xmlns:a16="http://schemas.microsoft.com/office/drawing/2014/main" id="{B2C0090E-21F5-4A32-9AB9-B5F00ED9D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4350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 i="0">
                <a:solidFill>
                  <a:srgbClr val="FF0000"/>
                </a:solidFill>
              </a:defRPr>
            </a:pPr>
            <a:r>
              <a:rPr sz="2550" b="1" i="0">
                <a:solidFill>
                  <a:srgbClr val="FF0000"/>
                </a:solidFill>
              </a:rPr>
              <a:t>+5.6 pp is not the ITT.</a:t>
            </a:r>
          </a:p>
        </p:txBody>
      </p:sp>
    </p:spTree>
    <p:extLst>
      <p:ext uri="{BB962C8B-B14F-4D97-AF65-F5344CB8AC3E}">
        <p14:creationId xmlns:p14="http://schemas.microsoft.com/office/powerpoint/2010/main" val="206329829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264CDD1-0E12-4047-B0C1-44871C15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Case B audit — Rows and applicants diverge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A87BE591-EF65-4CBE-9D3F-7607E987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1AF5E32-BF88-4AEF-AF80-A1F11E1D0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27 / 29</a:t>
            </a:r>
          </a:p>
        </p:txBody>
      </p:sp>
      <p:sp>
        <p:nvSpPr>
          <p:cNvPr id="4" name="rule-130-570">
            <a:extLst xmlns:a="http://schemas.openxmlformats.org/drawingml/2006/main">
              <a:ext uri="{FF2B5EF4-FFF2-40B4-BE49-F238E27FC236}">
                <a16:creationId xmlns:a16="http://schemas.microsoft.com/office/drawing/2014/main" id="{96AD8AD8-4E7B-4DDF-A226-868A75CF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29250"/>
            <a:ext cx="6667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5C69"/>
          </a:solidFill>
          <a:ln xmlns:a="http://schemas.openxmlformats.org/drawingml/2006/main" w="0">
            <a:solidFill>
              <a:srgbClr val="5C5C69"/>
            </a:solidFill>
            <a:prstDash val="solid"/>
          </a:ln>
        </p:spPr>
      </p:sp>
      <p:sp>
        <p:nvSpPr>
          <p:cNvPr id="5" name="audit-axis-0">
            <a:extLst xmlns:a="http://schemas.openxmlformats.org/drawingml/2006/main">
              <a:ext uri="{FF2B5EF4-FFF2-40B4-BE49-F238E27FC236}">
                <a16:creationId xmlns:a16="http://schemas.microsoft.com/office/drawing/2014/main" id="{ECD69B0D-B6A9-457F-9D61-DF5755381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05425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0</a:t>
            </a:r>
          </a:p>
        </p:txBody>
      </p:sp>
      <p:sp>
        <p:nvSpPr>
          <p:cNvPr id="6" name="rule-130-479">
            <a:extLst xmlns:a="http://schemas.openxmlformats.org/drawingml/2006/main">
              <a:ext uri="{FF2B5EF4-FFF2-40B4-BE49-F238E27FC236}">
                <a16:creationId xmlns:a16="http://schemas.microsoft.com/office/drawing/2014/main" id="{32F175C2-0364-41BA-8115-B6160D72A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562475"/>
            <a:ext cx="666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7" name="audit-axis-500">
            <a:extLst xmlns:a="http://schemas.openxmlformats.org/drawingml/2006/main">
              <a:ext uri="{FF2B5EF4-FFF2-40B4-BE49-F238E27FC236}">
                <a16:creationId xmlns:a16="http://schemas.microsoft.com/office/drawing/2014/main" id="{09756BD6-0809-47AE-894E-90DA034C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386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500</a:t>
            </a:r>
          </a:p>
        </p:txBody>
      </p:sp>
      <p:sp>
        <p:nvSpPr>
          <p:cNvPr id="8" name="rule-130-388">
            <a:extLst xmlns:a="http://schemas.openxmlformats.org/drawingml/2006/main">
              <a:ext uri="{FF2B5EF4-FFF2-40B4-BE49-F238E27FC236}">
                <a16:creationId xmlns:a16="http://schemas.microsoft.com/office/drawing/2014/main" id="{AF7BA2F6-381F-4DEC-8A50-20B6280B4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95700"/>
            <a:ext cx="666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9" name="audit-axis-1000">
            <a:extLst xmlns:a="http://schemas.openxmlformats.org/drawingml/2006/main">
              <a:ext uri="{FF2B5EF4-FFF2-40B4-BE49-F238E27FC236}">
                <a16:creationId xmlns:a16="http://schemas.microsoft.com/office/drawing/2014/main" id="{59508EE8-1058-464B-9861-36BA22B9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571875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1,000</a:t>
            </a:r>
          </a:p>
        </p:txBody>
      </p:sp>
      <p:sp>
        <p:nvSpPr>
          <p:cNvPr id="10" name="rule-130-297">
            <a:extLst xmlns:a="http://schemas.openxmlformats.org/drawingml/2006/main">
              <a:ext uri="{FF2B5EF4-FFF2-40B4-BE49-F238E27FC236}">
                <a16:creationId xmlns:a16="http://schemas.microsoft.com/office/drawing/2014/main" id="{A3F644AF-7CE1-4E2D-A1D7-E2ABDF319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8925"/>
            <a:ext cx="666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1" name="audit-axis-1500">
            <a:extLst xmlns:a="http://schemas.openxmlformats.org/drawingml/2006/main">
              <a:ext uri="{FF2B5EF4-FFF2-40B4-BE49-F238E27FC236}">
                <a16:creationId xmlns:a16="http://schemas.microsoft.com/office/drawing/2014/main" id="{7E51A1A3-FE4F-49F3-AB82-C8BF66221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7051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1,500</a:t>
            </a:r>
          </a:p>
        </p:txBody>
      </p:sp>
      <p:sp>
        <p:nvSpPr>
          <p:cNvPr id="12" name="rule-130-206">
            <a:extLst xmlns:a="http://schemas.openxmlformats.org/drawingml/2006/main">
              <a:ext uri="{FF2B5EF4-FFF2-40B4-BE49-F238E27FC236}">
                <a16:creationId xmlns:a16="http://schemas.microsoft.com/office/drawing/2014/main" id="{A1C003C6-656F-4B4E-A49A-6E519BB1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62150"/>
            <a:ext cx="666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3" name="audit-axis-2000">
            <a:extLst xmlns:a="http://schemas.openxmlformats.org/drawingml/2006/main">
              <a:ext uri="{FF2B5EF4-FFF2-40B4-BE49-F238E27FC236}">
                <a16:creationId xmlns:a16="http://schemas.microsoft.com/office/drawing/2014/main" id="{A75A6827-0E0E-431C-A52B-73D4C0D5D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38325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2,000</a:t>
            </a:r>
          </a:p>
        </p:txBody>
      </p:sp>
      <p:sp>
        <p:nvSpPr>
          <p:cNvPr id="14" name="audit-control-rows">
            <a:extLst xmlns:a="http://schemas.openxmlformats.org/drawingml/2006/main">
              <a:ext uri="{FF2B5EF4-FFF2-40B4-BE49-F238E27FC236}">
                <a16:creationId xmlns:a16="http://schemas.microsoft.com/office/drawing/2014/main" id="{FF62D58C-0FC4-4531-BBC2-CEEA3BC1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828925"/>
            <a:ext cx="838200" cy="2600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3B2"/>
          </a:solidFill>
          <a:ln xmlns:a="http://schemas.openxmlformats.org/drawingml/2006/main" w="0">
            <a:solidFill>
              <a:srgbClr val="3333B2"/>
            </a:solidFill>
            <a:prstDash val="solid"/>
          </a:ln>
        </p:spPr>
      </p:sp>
      <p:sp>
        <p:nvSpPr>
          <p:cNvPr id="15" name="audit-control-applicants">
            <a:extLst xmlns:a="http://schemas.openxmlformats.org/drawingml/2006/main">
              <a:ext uri="{FF2B5EF4-FFF2-40B4-BE49-F238E27FC236}">
                <a16:creationId xmlns:a16="http://schemas.microsoft.com/office/drawing/2014/main" id="{3C500F9F-34F3-4995-877D-ABBA4AC85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2828925"/>
            <a:ext cx="838200" cy="2600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5C69"/>
          </a:solidFill>
          <a:ln xmlns:a="http://schemas.openxmlformats.org/drawingml/2006/main" w="0">
            <a:solidFill>
              <a:srgbClr val="5C5C69"/>
            </a:solidFill>
            <a:prstDash val="solid"/>
          </a:ln>
        </p:spPr>
      </p:sp>
      <p:sp>
        <p:nvSpPr>
          <p:cNvPr id="16" name="audit-offered-rows">
            <a:extLst xmlns:a="http://schemas.openxmlformats.org/drawingml/2006/main">
              <a:ext uri="{FF2B5EF4-FFF2-40B4-BE49-F238E27FC236}">
                <a16:creationId xmlns:a16="http://schemas.microsoft.com/office/drawing/2014/main" id="{DFFC6A37-1CAC-411D-9E03-8ED4AA11F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085975"/>
            <a:ext cx="838200" cy="3343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3B2"/>
          </a:solidFill>
          <a:ln xmlns:a="http://schemas.openxmlformats.org/drawingml/2006/main" w="0">
            <a:solidFill>
              <a:srgbClr val="3333B2"/>
            </a:solidFill>
            <a:prstDash val="solid"/>
          </a:ln>
        </p:spPr>
      </p:sp>
      <p:sp>
        <p:nvSpPr>
          <p:cNvPr id="17" name="audit-offered-applicants">
            <a:extLst xmlns:a="http://schemas.openxmlformats.org/drawingml/2006/main">
              <a:ext uri="{FF2B5EF4-FFF2-40B4-BE49-F238E27FC236}">
                <a16:creationId xmlns:a16="http://schemas.microsoft.com/office/drawing/2014/main" id="{B7BB1EEE-A1A6-460D-953B-EB75D56B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828925"/>
            <a:ext cx="838200" cy="2600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5C69"/>
          </a:solidFill>
          <a:ln xmlns:a="http://schemas.openxmlformats.org/drawingml/2006/main" w="0">
            <a:solidFill>
              <a:srgbClr val="5C5C69"/>
            </a:solidFill>
            <a:prstDash val="solid"/>
          </a:ln>
        </p:spPr>
      </p:sp>
      <p:sp>
        <p:nvSpPr>
          <p:cNvPr id="18" name="audit-label-cr">
            <a:extLst xmlns:a="http://schemas.openxmlformats.org/drawingml/2006/main">
              <a:ext uri="{FF2B5EF4-FFF2-40B4-BE49-F238E27FC236}">
                <a16:creationId xmlns:a16="http://schemas.microsoft.com/office/drawing/2014/main" id="{38DAF48D-E5B2-4839-AC18-7E0FDC6EA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0507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7171C"/>
                </a:solidFill>
              </a:defRPr>
            </a:pPr>
            <a:r>
              <a:rPr sz="1350" b="1" i="0">
                <a:solidFill>
                  <a:srgbClr val="17171C"/>
                </a:solidFill>
              </a:rPr>
              <a:t>1,500</a:t>
            </a:r>
          </a:p>
        </p:txBody>
      </p:sp>
      <p:sp>
        <p:nvSpPr>
          <p:cNvPr id="19" name="audit-label-ca">
            <a:extLst xmlns:a="http://schemas.openxmlformats.org/drawingml/2006/main">
              <a:ext uri="{FF2B5EF4-FFF2-40B4-BE49-F238E27FC236}">
                <a16:creationId xmlns:a16="http://schemas.microsoft.com/office/drawing/2014/main" id="{571A4C24-3A41-4657-A950-43E19F8BC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50507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7171C"/>
                </a:solidFill>
              </a:defRPr>
            </a:pPr>
            <a:r>
              <a:rPr sz="1350" b="1" i="0">
                <a:solidFill>
                  <a:srgbClr val="17171C"/>
                </a:solidFill>
              </a:rPr>
              <a:t>1,500</a:t>
            </a:r>
          </a:p>
        </p:txBody>
      </p:sp>
      <p:sp>
        <p:nvSpPr>
          <p:cNvPr id="20" name="audit-label-or">
            <a:extLst xmlns:a="http://schemas.openxmlformats.org/drawingml/2006/main">
              <a:ext uri="{FF2B5EF4-FFF2-40B4-BE49-F238E27FC236}">
                <a16:creationId xmlns:a16="http://schemas.microsoft.com/office/drawing/2014/main" id="{9EE61B69-A932-4931-892B-6558CFC9E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7621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3333B2"/>
                </a:solidFill>
              </a:defRPr>
            </a:pPr>
            <a:r>
              <a:rPr sz="1350" b="1" i="0">
                <a:solidFill>
                  <a:srgbClr val="3333B2"/>
                </a:solidFill>
              </a:rPr>
              <a:t>1,930</a:t>
            </a:r>
          </a:p>
        </p:txBody>
      </p:sp>
      <p:sp>
        <p:nvSpPr>
          <p:cNvPr id="21" name="audit-label-oa">
            <a:extLst xmlns:a="http://schemas.openxmlformats.org/drawingml/2006/main">
              <a:ext uri="{FF2B5EF4-FFF2-40B4-BE49-F238E27FC236}">
                <a16:creationId xmlns:a16="http://schemas.microsoft.com/office/drawing/2014/main" id="{089AE173-2564-4A6C-9757-08B82B2B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50507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7171C"/>
                </a:solidFill>
              </a:defRPr>
            </a:pPr>
            <a:r>
              <a:rPr sz="1350" b="1" i="0">
                <a:solidFill>
                  <a:srgbClr val="17171C"/>
                </a:solidFill>
              </a:rPr>
              <a:t>1,500</a:t>
            </a:r>
          </a:p>
        </p:txBody>
      </p:sp>
      <p:sp>
        <p:nvSpPr>
          <p:cNvPr id="22" name="audit-control-category">
            <a:extLst xmlns:a="http://schemas.openxmlformats.org/drawingml/2006/main">
              <a:ext uri="{FF2B5EF4-FFF2-40B4-BE49-F238E27FC236}">
                <a16:creationId xmlns:a16="http://schemas.microsoft.com/office/drawing/2014/main" id="{26408633-93D7-42CD-BADC-23325DF8B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5245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7171C"/>
                </a:solidFill>
              </a:defRPr>
            </a:pPr>
            <a:r>
              <a:rPr sz="1500" b="1" i="0">
                <a:solidFill>
                  <a:srgbClr val="17171C"/>
                </a:solidFill>
              </a:rPr>
              <a:t>Control</a:t>
            </a:r>
          </a:p>
        </p:txBody>
      </p:sp>
      <p:sp>
        <p:nvSpPr>
          <p:cNvPr id="23" name="audit-offered-category">
            <a:extLst xmlns:a="http://schemas.openxmlformats.org/drawingml/2006/main">
              <a:ext uri="{FF2B5EF4-FFF2-40B4-BE49-F238E27FC236}">
                <a16:creationId xmlns:a16="http://schemas.microsoft.com/office/drawing/2014/main" id="{4D0DD109-8421-4A09-AF00-25E8557C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55245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7171C"/>
                </a:solidFill>
              </a:defRPr>
            </a:pPr>
            <a:r>
              <a:rPr sz="1500" b="1" i="0">
                <a:solidFill>
                  <a:srgbClr val="17171C"/>
                </a:solidFill>
              </a:rPr>
              <a:t>Offered</a:t>
            </a:r>
          </a:p>
        </p:txBody>
      </p:sp>
      <p:sp>
        <p:nvSpPr>
          <p:cNvPr id="24" name="audit-legend-rows">
            <a:extLst xmlns:a="http://schemas.openxmlformats.org/drawingml/2006/main">
              <a:ext uri="{FF2B5EF4-FFF2-40B4-BE49-F238E27FC236}">
                <a16:creationId xmlns:a16="http://schemas.microsoft.com/office/drawing/2014/main" id="{6D23E198-A293-43AA-BDC9-80FAC4223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9055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3B2"/>
          </a:solidFill>
          <a:ln xmlns:a="http://schemas.openxmlformats.org/drawingml/2006/main" w="0">
            <a:solidFill>
              <a:srgbClr val="3333B2"/>
            </a:solidFill>
            <a:prstDash val="solid"/>
          </a:ln>
        </p:spPr>
      </p:sp>
      <p:sp>
        <p:nvSpPr>
          <p:cNvPr id="25" name="audit-legend-rows-label">
            <a:extLst xmlns:a="http://schemas.openxmlformats.org/drawingml/2006/main">
              <a:ext uri="{FF2B5EF4-FFF2-40B4-BE49-F238E27FC236}">
                <a16:creationId xmlns:a16="http://schemas.microsoft.com/office/drawing/2014/main" id="{A7EEA183-9A5C-4C8E-885C-B47D94FC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587692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171C"/>
                </a:solidFill>
              </a:defRPr>
            </a:pPr>
            <a:r>
              <a:rPr sz="1200" b="0" i="0">
                <a:solidFill>
                  <a:srgbClr val="17171C"/>
                </a:solidFill>
              </a:rPr>
              <a:t>Rows</a:t>
            </a:r>
          </a:p>
        </p:txBody>
      </p:sp>
      <p:sp>
        <p:nvSpPr>
          <p:cNvPr id="26" name="audit-legend-applicants">
            <a:extLst xmlns:a="http://schemas.openxmlformats.org/drawingml/2006/main">
              <a:ext uri="{FF2B5EF4-FFF2-40B4-BE49-F238E27FC236}">
                <a16:creationId xmlns:a16="http://schemas.microsoft.com/office/drawing/2014/main" id="{B00CB374-3F7A-4C86-8530-6DCAA1E59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9055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5C69"/>
          </a:solidFill>
          <a:ln xmlns:a="http://schemas.openxmlformats.org/drawingml/2006/main" w="0">
            <a:solidFill>
              <a:srgbClr val="5C5C69"/>
            </a:solidFill>
            <a:prstDash val="solid"/>
          </a:ln>
        </p:spPr>
      </p:sp>
      <p:sp>
        <p:nvSpPr>
          <p:cNvPr id="27" name="audit-legend-applicants-label">
            <a:extLst xmlns:a="http://schemas.openxmlformats.org/drawingml/2006/main">
              <a:ext uri="{FF2B5EF4-FFF2-40B4-BE49-F238E27FC236}">
                <a16:creationId xmlns:a16="http://schemas.microsoft.com/office/drawing/2014/main" id="{7899447C-61EE-4945-99E6-4E60BBFB6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58769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171C"/>
                </a:solidFill>
              </a:defRPr>
            </a:pPr>
            <a:r>
              <a:rPr sz="1200" b="0" i="0">
                <a:solidFill>
                  <a:srgbClr val="17171C"/>
                </a:solidFill>
              </a:rPr>
              <a:t>Unique applicants</a:t>
            </a:r>
          </a:p>
        </p:txBody>
      </p:sp>
      <p:sp>
        <p:nvSpPr>
          <p:cNvPr id="28" name="rule-858-145">
            <a:extLst xmlns:a="http://schemas.openxmlformats.org/drawingml/2006/main">
              <a:ext uri="{FF2B5EF4-FFF2-40B4-BE49-F238E27FC236}">
                <a16:creationId xmlns:a16="http://schemas.microsoft.com/office/drawing/2014/main" id="{A878C070-31F4-4DF8-9258-9F5C4E0BB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381125"/>
            <a:ext cx="1905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29" name="rail-rows">
            <a:extLst xmlns:a="http://schemas.openxmlformats.org/drawingml/2006/main">
              <a:ext uri="{FF2B5EF4-FFF2-40B4-BE49-F238E27FC236}">
                <a16:creationId xmlns:a16="http://schemas.microsoft.com/office/drawing/2014/main" id="{8E450DE9-3A44-456F-966B-8CE4F270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49542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17171C"/>
                </a:solidFill>
              </a:defRPr>
            </a:pPr>
            <a:r>
              <a:rPr sz="2025" b="1" i="0">
                <a:solidFill>
                  <a:srgbClr val="17171C"/>
                </a:solidFill>
              </a:rPr>
              <a:t>3,430 rows</a:t>
            </a:r>
          </a:p>
        </p:txBody>
      </p:sp>
      <p:sp>
        <p:nvSpPr>
          <p:cNvPr id="30" name="rail-applicants">
            <a:extLst xmlns:a="http://schemas.openxmlformats.org/drawingml/2006/main">
              <a:ext uri="{FF2B5EF4-FFF2-40B4-BE49-F238E27FC236}">
                <a16:creationId xmlns:a16="http://schemas.microsoft.com/office/drawing/2014/main" id="{BAF4ECAD-06C6-4D0C-854C-46397082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1455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17171C"/>
                </a:solidFill>
              </a:defRPr>
            </a:pPr>
            <a:r>
              <a:rPr sz="2025" b="1" i="0">
                <a:solidFill>
                  <a:srgbClr val="17171C"/>
                </a:solidFill>
              </a:rPr>
              <a:t>3,000 applicants</a:t>
            </a:r>
          </a:p>
        </p:txBody>
      </p:sp>
      <p:sp>
        <p:nvSpPr>
          <p:cNvPr id="31" name="rail-duplicates">
            <a:extLst xmlns:a="http://schemas.openxmlformats.org/drawingml/2006/main">
              <a:ext uri="{FF2B5EF4-FFF2-40B4-BE49-F238E27FC236}">
                <a16:creationId xmlns:a16="http://schemas.microsoft.com/office/drawing/2014/main" id="{04195FC0-4C89-477B-A48F-BCD08E71D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3367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7171C"/>
                </a:solidFill>
              </a:defRPr>
            </a:pPr>
            <a:r>
              <a:rPr sz="1875" b="1" i="0">
                <a:solidFill>
                  <a:srgbClr val="17171C"/>
                </a:solidFill>
              </a:rPr>
              <a:t>350 duplicated IDs</a:t>
            </a:r>
          </a:p>
        </p:txBody>
      </p:sp>
      <p:sp>
        <p:nvSpPr>
          <p:cNvPr id="32" name="rail-pattern">
            <a:extLst xmlns:a="http://schemas.openxmlformats.org/drawingml/2006/main">
              <a:ext uri="{FF2B5EF4-FFF2-40B4-BE49-F238E27FC236}">
                <a16:creationId xmlns:a16="http://schemas.microsoft.com/office/drawing/2014/main" id="{5B893BCE-5C85-4ED1-B773-9DDF8AEA5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3528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0000"/>
                </a:solidFill>
              </a:defRPr>
            </a:pPr>
            <a:r>
              <a:rPr sz="1800" b="1" i="0">
                <a:solidFill>
                  <a:srgbClr val="FF0000"/>
                </a:solidFill>
              </a:rPr>
              <a:t>All duplicates offered</a:t>
            </a:r>
          </a:p>
        </p:txBody>
      </p:sp>
      <p:sp>
        <p:nvSpPr>
          <p:cNvPr id="33" name="rail-excess">
            <a:extLst xmlns:a="http://schemas.openxmlformats.org/drawingml/2006/main">
              <a:ext uri="{FF2B5EF4-FFF2-40B4-BE49-F238E27FC236}">
                <a16:creationId xmlns:a16="http://schemas.microsoft.com/office/drawing/2014/main" id="{1C8E5988-B4F3-44CC-B2F2-07C9B069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1148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FF0000"/>
                </a:solidFill>
              </a:defRPr>
            </a:pPr>
            <a:r>
              <a:rPr sz="2025" b="1" i="0">
                <a:solidFill>
                  <a:srgbClr val="FF0000"/>
                </a:solidFill>
              </a:rPr>
              <a:t>+430 excess rows</a:t>
            </a:r>
          </a:p>
        </p:txBody>
      </p:sp>
      <p:sp>
        <p:nvSpPr>
          <p:cNvPr id="34" name="rail-status">
            <a:extLst xmlns:a="http://schemas.openxmlformats.org/drawingml/2006/main">
              <a:ext uri="{FF2B5EF4-FFF2-40B4-BE49-F238E27FC236}">
                <a16:creationId xmlns:a16="http://schemas.microsoft.com/office/drawing/2014/main" id="{24BCB488-4513-4EEF-B52C-F5CDD6B4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000625"/>
            <a:ext cx="266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FF0000"/>
                </a:solidFill>
              </a:defRPr>
            </a:pPr>
            <a:r>
              <a:rPr sz="3150" b="1" i="0">
                <a:solidFill>
                  <a:srgbClr val="FF0000"/>
                </a:solidFill>
              </a:rPr>
              <a:t>BLOCK</a:t>
            </a:r>
          </a:p>
        </p:txBody>
      </p:sp>
    </p:spTree>
    <p:extLst>
      <p:ext uri="{BB962C8B-B14F-4D97-AF65-F5344CB8AC3E}">
        <p14:creationId xmlns:p14="http://schemas.microsoft.com/office/powerpoint/2010/main" val="167162401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8C5207A-C7EB-4D61-A9C0-34E4A35C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Case B repair — Applicant-level ITT is +7 pp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C1F6683C-BAAA-4BDB-8B4C-F7CD81D1B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C6D3E3F-F22C-430F-95F0-B22D6EEE3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28 / 29</a:t>
            </a:r>
          </a:p>
        </p:txBody>
      </p:sp>
      <p:sp>
        <p:nvSpPr>
          <p:cNvPr id="4" name="rule-130-570">
            <a:extLst xmlns:a="http://schemas.openxmlformats.org/drawingml/2006/main">
              <a:ext uri="{FF2B5EF4-FFF2-40B4-BE49-F238E27FC236}">
                <a16:creationId xmlns:a16="http://schemas.microsoft.com/office/drawing/2014/main" id="{771DDE37-BF06-46E9-8B73-92FC24840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29250"/>
            <a:ext cx="6762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5C69"/>
          </a:solidFill>
          <a:ln xmlns:a="http://schemas.openxmlformats.org/drawingml/2006/main" w="0">
            <a:solidFill>
              <a:srgbClr val="5C5C69"/>
            </a:solidFill>
            <a:prstDash val="solid"/>
          </a:ln>
        </p:spPr>
      </p:sp>
      <p:sp>
        <p:nvSpPr>
          <p:cNvPr id="5" name="itt-axis-0">
            <a:extLst xmlns:a="http://schemas.openxmlformats.org/drawingml/2006/main">
              <a:ext uri="{FF2B5EF4-FFF2-40B4-BE49-F238E27FC236}">
                <a16:creationId xmlns:a16="http://schemas.microsoft.com/office/drawing/2014/main" id="{51D8E642-537E-4185-A80B-A391DA2F6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05425"/>
            <a:ext cx="619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0%</a:t>
            </a:r>
          </a:p>
        </p:txBody>
      </p:sp>
      <p:sp>
        <p:nvSpPr>
          <p:cNvPr id="6" name="rule-130-492">
            <a:extLst xmlns:a="http://schemas.openxmlformats.org/drawingml/2006/main">
              <a:ext uri="{FF2B5EF4-FFF2-40B4-BE49-F238E27FC236}">
                <a16:creationId xmlns:a16="http://schemas.microsoft.com/office/drawing/2014/main" id="{E5CDEA42-3DEC-40FF-BB3A-95F4F49D9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8630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7" name="itt-axis-20">
            <a:extLst xmlns:a="http://schemas.openxmlformats.org/drawingml/2006/main">
              <a:ext uri="{FF2B5EF4-FFF2-40B4-BE49-F238E27FC236}">
                <a16:creationId xmlns:a16="http://schemas.microsoft.com/office/drawing/2014/main" id="{3E657C9B-7E37-4FC5-A4B2-388136F1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62475"/>
            <a:ext cx="619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20%</a:t>
            </a:r>
          </a:p>
        </p:txBody>
      </p:sp>
      <p:sp>
        <p:nvSpPr>
          <p:cNvPr id="8" name="rule-130-414">
            <a:extLst xmlns:a="http://schemas.openxmlformats.org/drawingml/2006/main">
              <a:ext uri="{FF2B5EF4-FFF2-40B4-BE49-F238E27FC236}">
                <a16:creationId xmlns:a16="http://schemas.microsoft.com/office/drawing/2014/main" id="{1C071465-2012-4B81-8343-BC3C568D8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433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9" name="itt-axis-40">
            <a:extLst xmlns:a="http://schemas.openxmlformats.org/drawingml/2006/main">
              <a:ext uri="{FF2B5EF4-FFF2-40B4-BE49-F238E27FC236}">
                <a16:creationId xmlns:a16="http://schemas.microsoft.com/office/drawing/2014/main" id="{DEEF6DA6-1F0E-4B08-A01A-DD5CDAC7F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9525"/>
            <a:ext cx="619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40%</a:t>
            </a:r>
          </a:p>
        </p:txBody>
      </p:sp>
      <p:sp>
        <p:nvSpPr>
          <p:cNvPr id="10" name="rule-130-336">
            <a:extLst xmlns:a="http://schemas.openxmlformats.org/drawingml/2006/main">
              <a:ext uri="{FF2B5EF4-FFF2-40B4-BE49-F238E27FC236}">
                <a16:creationId xmlns:a16="http://schemas.microsoft.com/office/drawing/2014/main" id="{7F78BB79-B5D1-4DD5-A530-E156DC2F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0040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1" name="itt-axis-60">
            <a:extLst xmlns:a="http://schemas.openxmlformats.org/drawingml/2006/main">
              <a:ext uri="{FF2B5EF4-FFF2-40B4-BE49-F238E27FC236}">
                <a16:creationId xmlns:a16="http://schemas.microsoft.com/office/drawing/2014/main" id="{3F177768-DC6D-4D56-863B-D35219126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76575"/>
            <a:ext cx="619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60%</a:t>
            </a:r>
          </a:p>
        </p:txBody>
      </p:sp>
      <p:sp>
        <p:nvSpPr>
          <p:cNvPr id="12" name="rule-130-258">
            <a:extLst xmlns:a="http://schemas.openxmlformats.org/drawingml/2006/main">
              <a:ext uri="{FF2B5EF4-FFF2-40B4-BE49-F238E27FC236}">
                <a16:creationId xmlns:a16="http://schemas.microsoft.com/office/drawing/2014/main" id="{2BA827D0-2BBE-4728-997C-B599FE897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57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3" name="itt-axis-80">
            <a:extLst xmlns:a="http://schemas.openxmlformats.org/drawingml/2006/main">
              <a:ext uri="{FF2B5EF4-FFF2-40B4-BE49-F238E27FC236}">
                <a16:creationId xmlns:a16="http://schemas.microsoft.com/office/drawing/2014/main" id="{8608FA0D-8FB2-4687-9627-9C73FAB15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33625"/>
            <a:ext cx="619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80%</a:t>
            </a:r>
          </a:p>
        </p:txBody>
      </p:sp>
      <p:sp>
        <p:nvSpPr>
          <p:cNvPr id="14" name="rule-130-180">
            <a:extLst xmlns:a="http://schemas.openxmlformats.org/drawingml/2006/main">
              <a:ext uri="{FF2B5EF4-FFF2-40B4-BE49-F238E27FC236}">
                <a16:creationId xmlns:a16="http://schemas.microsoft.com/office/drawing/2014/main" id="{A396D074-A88C-4976-BB29-D5FC96C8E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71450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15" name="itt-axis-100">
            <a:extLst xmlns:a="http://schemas.openxmlformats.org/drawingml/2006/main">
              <a:ext uri="{FF2B5EF4-FFF2-40B4-BE49-F238E27FC236}">
                <a16:creationId xmlns:a16="http://schemas.microsoft.com/office/drawing/2014/main" id="{7FDF5B97-132E-40C6-A21C-EB468EAA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90675"/>
            <a:ext cx="619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C5C69"/>
                </a:solidFill>
              </a:defRPr>
            </a:pPr>
            <a:r>
              <a:rPr sz="1050" b="0" i="0">
                <a:solidFill>
                  <a:srgbClr val="5C5C69"/>
                </a:solidFill>
              </a:rPr>
              <a:t>100%</a:t>
            </a:r>
          </a:p>
        </p:txBody>
      </p:sp>
      <p:sp>
        <p:nvSpPr>
          <p:cNvPr id="16" name="itt-control-bar">
            <a:extLst xmlns:a="http://schemas.openxmlformats.org/drawingml/2006/main">
              <a:ext uri="{FF2B5EF4-FFF2-40B4-BE49-F238E27FC236}">
                <a16:creationId xmlns:a16="http://schemas.microsoft.com/office/drawing/2014/main" id="{A6330D15-8648-45E2-B5FD-DC59E8544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124200"/>
            <a:ext cx="1476375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5C69"/>
          </a:solidFill>
          <a:ln xmlns:a="http://schemas.openxmlformats.org/drawingml/2006/main" w="0">
            <a:solidFill>
              <a:srgbClr val="5C5C69"/>
            </a:solidFill>
            <a:prstDash val="solid"/>
          </a:ln>
        </p:spPr>
      </p:sp>
      <p:sp>
        <p:nvSpPr>
          <p:cNvPr id="17" name="itt-offered-bar">
            <a:extLst xmlns:a="http://schemas.openxmlformats.org/drawingml/2006/main">
              <a:ext uri="{FF2B5EF4-FFF2-40B4-BE49-F238E27FC236}">
                <a16:creationId xmlns:a16="http://schemas.microsoft.com/office/drawing/2014/main" id="{9D7BDC2E-B6DA-48D9-A551-9AE09D6E5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867025"/>
            <a:ext cx="1476375" cy="2562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3B2"/>
          </a:solidFill>
          <a:ln xmlns:a="http://schemas.openxmlformats.org/drawingml/2006/main" w="0">
            <a:solidFill>
              <a:srgbClr val="3333B2"/>
            </a:solidFill>
            <a:prstDash val="solid"/>
          </a:ln>
        </p:spPr>
      </p:sp>
      <p:sp>
        <p:nvSpPr>
          <p:cNvPr id="18" name="itt-control-label">
            <a:extLst xmlns:a="http://schemas.openxmlformats.org/drawingml/2006/main">
              <a:ext uri="{FF2B5EF4-FFF2-40B4-BE49-F238E27FC236}">
                <a16:creationId xmlns:a16="http://schemas.microsoft.com/office/drawing/2014/main" id="{C044E42E-29D0-4BA2-A249-A8DE207EC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762250"/>
            <a:ext cx="1476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7171C"/>
                </a:solidFill>
              </a:defRPr>
            </a:pPr>
            <a:r>
              <a:rPr sz="1800" b="1" i="0">
                <a:solidFill>
                  <a:srgbClr val="17171C"/>
                </a:solidFill>
              </a:rPr>
              <a:t>62%</a:t>
            </a:r>
          </a:p>
        </p:txBody>
      </p:sp>
      <p:sp>
        <p:nvSpPr>
          <p:cNvPr id="19" name="itt-offered-label">
            <a:extLst xmlns:a="http://schemas.openxmlformats.org/drawingml/2006/main">
              <a:ext uri="{FF2B5EF4-FFF2-40B4-BE49-F238E27FC236}">
                <a16:creationId xmlns:a16="http://schemas.microsoft.com/office/drawing/2014/main" id="{733C13FB-C454-4200-98C1-3D5F18E23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505075"/>
            <a:ext cx="1476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3333B2"/>
                </a:solidFill>
              </a:defRPr>
            </a:pPr>
            <a:r>
              <a:rPr sz="1800" b="1" i="0">
                <a:solidFill>
                  <a:srgbClr val="3333B2"/>
                </a:solidFill>
              </a:rPr>
              <a:t>69%</a:t>
            </a:r>
          </a:p>
        </p:txBody>
      </p:sp>
      <p:sp>
        <p:nvSpPr>
          <p:cNvPr id="20" name="itt-control-category">
            <a:extLst xmlns:a="http://schemas.openxmlformats.org/drawingml/2006/main">
              <a:ext uri="{FF2B5EF4-FFF2-40B4-BE49-F238E27FC236}">
                <a16:creationId xmlns:a16="http://schemas.microsoft.com/office/drawing/2014/main" id="{49CA143C-F564-4E2B-8506-9908DA51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524500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7171C"/>
                </a:solidFill>
              </a:defRPr>
            </a:pPr>
            <a:r>
              <a:rPr sz="1500" b="1" i="0">
                <a:solidFill>
                  <a:srgbClr val="17171C"/>
                </a:solidFill>
              </a:rPr>
              <a:t>Control</a:t>
            </a:r>
          </a:p>
        </p:txBody>
      </p:sp>
      <p:sp>
        <p:nvSpPr>
          <p:cNvPr id="21" name="itt-offered-category">
            <a:extLst xmlns:a="http://schemas.openxmlformats.org/drawingml/2006/main">
              <a:ext uri="{FF2B5EF4-FFF2-40B4-BE49-F238E27FC236}">
                <a16:creationId xmlns:a16="http://schemas.microsoft.com/office/drawing/2014/main" id="{1E44FF40-3EE2-44CE-B600-05EBE07EA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524500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7171C"/>
                </a:solidFill>
              </a:defRPr>
            </a:pPr>
            <a:r>
              <a:rPr sz="1500" b="1" i="0">
                <a:solidFill>
                  <a:srgbClr val="17171C"/>
                </a:solidFill>
              </a:rPr>
              <a:t>Offered</a:t>
            </a:r>
          </a:p>
        </p:txBody>
      </p:sp>
      <p:sp>
        <p:nvSpPr>
          <p:cNvPr id="22" name="itt-control-exact">
            <a:extLst xmlns:a="http://schemas.openxmlformats.org/drawingml/2006/main">
              <a:ext uri="{FF2B5EF4-FFF2-40B4-BE49-F238E27FC236}">
                <a16:creationId xmlns:a16="http://schemas.microsoft.com/office/drawing/2014/main" id="{B089EA65-D659-4810-BE46-DA9A6EA1B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695450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Control</a:t>
            </a:r>
          </a:p>
          <a:p xmlns:a="http://schemas.openxmlformats.org/drawingml/2006/main">
            <a:pPr algn="ctr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930 / 1,500</a:t>
            </a:r>
          </a:p>
          <a:p xmlns:a="http://schemas.openxmlformats.org/drawingml/2006/main">
            <a:pPr algn="ctr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62%</a:t>
            </a:r>
          </a:p>
        </p:txBody>
      </p:sp>
      <p:sp>
        <p:nvSpPr>
          <p:cNvPr id="23" name="itt-offered-exact">
            <a:extLst xmlns:a="http://schemas.openxmlformats.org/drawingml/2006/main">
              <a:ext uri="{FF2B5EF4-FFF2-40B4-BE49-F238E27FC236}">
                <a16:creationId xmlns:a16="http://schemas.microsoft.com/office/drawing/2014/main" id="{B5F2B7E1-1249-4F26-ADED-C5A566EC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000375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Offered</a:t>
            </a:r>
          </a:p>
          <a:p xmlns:a="http://schemas.openxmlformats.org/drawingml/2006/main">
            <a:pPr algn="ctr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1,035 / 1,500</a:t>
            </a:r>
          </a:p>
          <a:p xmlns:a="http://schemas.openxmlformats.org/drawingml/2006/main">
            <a:pPr algn="ctr">
              <a:defRPr sz="1725" b="1" i="0">
                <a:solidFill>
                  <a:srgbClr val="17171C"/>
                </a:solidFill>
              </a:defRPr>
            </a:pPr>
            <a:r>
              <a:rPr sz="1725" b="1" i="0">
                <a:solidFill>
                  <a:srgbClr val="17171C"/>
                </a:solidFill>
              </a:rPr>
              <a:t>69%</a:t>
            </a:r>
          </a:p>
        </p:txBody>
      </p:sp>
      <p:sp>
        <p:nvSpPr>
          <p:cNvPr id="24" name="itt-difference">
            <a:extLst xmlns:a="http://schemas.openxmlformats.org/drawingml/2006/main">
              <a:ext uri="{FF2B5EF4-FFF2-40B4-BE49-F238E27FC236}">
                <a16:creationId xmlns:a16="http://schemas.microsoft.com/office/drawing/2014/main" id="{7E9F1893-9E4E-432B-BF60-3BF7254B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476750"/>
            <a:ext cx="257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400" b="1" i="0">
                <a:solidFill>
                  <a:srgbClr val="BF0040"/>
                </a:solidFill>
              </a:defRPr>
            </a:pPr>
            <a:r>
              <a:rPr sz="2400" b="1" i="0">
                <a:solidFill>
                  <a:srgbClr val="BF0040"/>
                </a:solidFill>
              </a:rPr>
              <a:t>ITT  +7 pp</a:t>
            </a:r>
          </a:p>
        </p:txBody>
      </p:sp>
      <p:sp>
        <p:nvSpPr>
          <p:cNvPr id="25" name="itt-note">
            <a:extLst xmlns:a="http://schemas.openxmlformats.org/drawingml/2006/main">
              <a:ext uri="{FF2B5EF4-FFF2-40B4-BE49-F238E27FC236}">
                <a16:creationId xmlns:a16="http://schemas.microsoft.com/office/drawing/2014/main" id="{963B97AE-2D61-4488-AF56-1420AAA8F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200650"/>
            <a:ext cx="323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0000"/>
                </a:solidFill>
              </a:defRPr>
            </a:pPr>
            <a:r>
              <a:rPr sz="1350" b="1" i="0">
                <a:solidFill>
                  <a:srgbClr val="FF0000"/>
                </a:solidFill>
              </a:rPr>
              <a:t>Inherited +5.6 pp uses a different unit</a:t>
            </a:r>
          </a:p>
          <a:p xmlns:a="http://schemas.openxmlformats.org/drawingml/2006/main">
            <a:pPr algn="ctr">
              <a:defRPr sz="1350" b="1" i="0">
                <a:solidFill>
                  <a:srgbClr val="FF0000"/>
                </a:solidFill>
              </a:defRPr>
            </a:pPr>
            <a:r>
              <a:rPr sz="1350" b="1" i="0">
                <a:solidFill>
                  <a:srgbClr val="FF0000"/>
                </a:solidFill>
              </a:rPr>
              <a:t>and a nonrandom exposure.</a:t>
            </a:r>
          </a:p>
        </p:txBody>
      </p:sp>
    </p:spTree>
    <p:extLst>
      <p:ext uri="{BB962C8B-B14F-4D97-AF65-F5344CB8AC3E}">
        <p14:creationId xmlns:p14="http://schemas.microsoft.com/office/powerpoint/2010/main" val="52535220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885ED32-C0FB-4091-8F82-80146A7B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333B2"/>
                </a:solidFill>
              </a:defRPr>
            </a:pPr>
            <a:r>
              <a:rPr sz="2925" b="1" i="0">
                <a:solidFill>
                  <a:srgbClr val="3333B2"/>
                </a:solidFill>
              </a:rPr>
              <a:t>Two workflows protect the same research standard</a:t>
            </a:r>
          </a:p>
        </p:txBody>
      </p:sp>
      <p:sp>
        <p:nvSpPr>
          <p:cNvPr id="2" name="rule-68-107">
            <a:extLst xmlns:a="http://schemas.openxmlformats.org/drawingml/2006/main">
              <a:ext uri="{FF2B5EF4-FFF2-40B4-BE49-F238E27FC236}">
                <a16:creationId xmlns:a16="http://schemas.microsoft.com/office/drawing/2014/main" id="{FD53A1A5-DD25-4C3C-A461-432FA95A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19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9151E83-EB61-43B0-BA5B-D1841C0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C5C69"/>
                </a:solidFill>
              </a:defRPr>
            </a:pPr>
            <a:r>
              <a:rPr sz="825" b="0" i="0">
                <a:solidFill>
                  <a:srgbClr val="5C5C69"/>
                </a:solidFill>
              </a:rPr>
              <a:t>29 / 29</a:t>
            </a:r>
          </a:p>
        </p:txBody>
      </p:sp>
      <p:sp>
        <p:nvSpPr>
          <p:cNvPr id="4" name="clean-head">
            <a:extLst xmlns:a="http://schemas.openxmlformats.org/drawingml/2006/main">
              <a:ext uri="{FF2B5EF4-FFF2-40B4-BE49-F238E27FC236}">
                <a16:creationId xmlns:a16="http://schemas.microsoft.com/office/drawing/2014/main" id="{E0AB14B8-C003-498E-A014-C5563E46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57325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3333B2"/>
                </a:solidFill>
              </a:defRPr>
            </a:pPr>
            <a:r>
              <a:rPr sz="1650" b="1" i="0">
                <a:solidFill>
                  <a:srgbClr val="3333B2"/>
                </a:solidFill>
              </a:rPr>
              <a:t>CLEAN WORKFLOW</a:t>
            </a:r>
          </a:p>
        </p:txBody>
      </p:sp>
      <p:sp>
        <p:nvSpPr>
          <p:cNvPr id="5" name="clean">
            <a:extLst xmlns:a="http://schemas.openxmlformats.org/drawingml/2006/main">
              <a:ext uri="{FF2B5EF4-FFF2-40B4-BE49-F238E27FC236}">
                <a16:creationId xmlns:a16="http://schemas.microsoft.com/office/drawing/2014/main" id="{5A5DF74A-064B-4992-8982-3FB8FBDC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43100"/>
            <a:ext cx="952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7171C"/>
                </a:solidFill>
              </a:defRPr>
            </a:pPr>
            <a:r>
              <a:rPr sz="2175" b="1" i="0">
                <a:solidFill>
                  <a:srgbClr val="17171C"/>
                </a:solidFill>
              </a:rPr>
              <a:t>prevents drift by making the experiment explicit before analysis.</a:t>
            </a:r>
          </a:p>
        </p:txBody>
      </p:sp>
      <p:sp>
        <p:nvSpPr>
          <p:cNvPr id="6" name="rule-84-300">
            <a:extLst xmlns:a="http://schemas.openxmlformats.org/drawingml/2006/main">
              <a:ext uri="{FF2B5EF4-FFF2-40B4-BE49-F238E27FC236}">
                <a16:creationId xmlns:a16="http://schemas.microsoft.com/office/drawing/2014/main" id="{7BB1A6DF-19AF-42A8-976F-A875D17F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E6"/>
          </a:solidFill>
          <a:ln xmlns:a="http://schemas.openxmlformats.org/drawingml/2006/main" w="0">
            <a:solidFill>
              <a:srgbClr val="D9D9E6"/>
            </a:solidFill>
            <a:prstDash val="solid"/>
          </a:ln>
        </p:spPr>
      </p:sp>
      <p:sp>
        <p:nvSpPr>
          <p:cNvPr id="7" name="forensic-head">
            <a:extLst xmlns:a="http://schemas.openxmlformats.org/drawingml/2006/main">
              <a:ext uri="{FF2B5EF4-FFF2-40B4-BE49-F238E27FC236}">
                <a16:creationId xmlns:a16="http://schemas.microsoft.com/office/drawing/2014/main" id="{070442C0-7570-4555-8453-59C2CE881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766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3333B2"/>
                </a:solidFill>
              </a:defRPr>
            </a:pPr>
            <a:r>
              <a:rPr sz="1650" b="1" i="0">
                <a:solidFill>
                  <a:srgbClr val="3333B2"/>
                </a:solidFill>
              </a:rPr>
              <a:t>FORENSIC WORKFLOW</a:t>
            </a:r>
          </a:p>
        </p:txBody>
      </p:sp>
      <p:sp>
        <p:nvSpPr>
          <p:cNvPr id="8" name="forensic">
            <a:extLst xmlns:a="http://schemas.openxmlformats.org/drawingml/2006/main">
              <a:ext uri="{FF2B5EF4-FFF2-40B4-BE49-F238E27FC236}">
                <a16:creationId xmlns:a16="http://schemas.microsoft.com/office/drawing/2014/main" id="{15620C32-E49E-484B-BC58-4E3D34CA1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62375"/>
            <a:ext cx="981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7171C"/>
                </a:solidFill>
              </a:defRPr>
            </a:pPr>
            <a:r>
              <a:rPr sz="2175" b="1" i="0">
                <a:solidFill>
                  <a:srgbClr val="17171C"/>
                </a:solidFill>
              </a:rPr>
              <a:t>reconstructs drift by tracing files, keys, transformations, and history.</a:t>
            </a:r>
          </a:p>
        </p:txBody>
      </p:sp>
      <p:sp>
        <p:nvSpPr>
          <p:cNvPr id="9" name="sequence">
            <a:extLst xmlns:a="http://schemas.openxmlformats.org/drawingml/2006/main">
              <a:ext uri="{FF2B5EF4-FFF2-40B4-BE49-F238E27FC236}">
                <a16:creationId xmlns:a16="http://schemas.microsoft.com/office/drawing/2014/main" id="{92512B49-F474-40CD-926E-0A104C04D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0062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BF0040"/>
                </a:solidFill>
              </a:defRPr>
            </a:pPr>
            <a:r>
              <a:rPr sz="1725" b="1" i="0">
                <a:solidFill>
                  <a:srgbClr val="BF0040"/>
                </a:solidFill>
              </a:rPr>
              <a:t>StatsClaw planner  →  authorized builder  →  independent tester  →  $review</a:t>
            </a:r>
          </a:p>
        </p:txBody>
      </p:sp>
      <p:sp>
        <p:nvSpPr>
          <p:cNvPr id="10" name="commit">
            <a:extLst xmlns:a="http://schemas.openxmlformats.org/drawingml/2006/main">
              <a:ext uri="{FF2B5EF4-FFF2-40B4-BE49-F238E27FC236}">
                <a16:creationId xmlns:a16="http://schemas.microsoft.com/office/drawing/2014/main" id="{C6DD491D-AC63-487A-9EE3-C41F726F3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95925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0000"/>
                </a:solidFill>
              </a:defRPr>
            </a:pPr>
            <a:r>
              <a:rPr sz="1650" b="1" i="0">
                <a:solidFill>
                  <a:srgbClr val="FF0000"/>
                </a:solidFill>
              </a:rPr>
              <a:t>PASS  →  local Git commit     |     no $ship-it and no push in class</a:t>
            </a:r>
          </a:p>
        </p:txBody>
      </p:sp>
    </p:spTree>
    <p:extLst>
      <p:ext uri="{BB962C8B-B14F-4D97-AF65-F5344CB8AC3E}">
        <p14:creationId xmlns:p14="http://schemas.microsoft.com/office/powerpoint/2010/main" val="3249740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2026-07-26T06:44:34.0840000Z</dcterms:created>
  <dcterms:modified xsi:type="dcterms:W3CDTF">2026-07-26T06:44:34.0840000Z</dcterms:modified>
</coreProperties>
</file>