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e2329a379ce4049" /><Relationship Type="http://schemas.openxmlformats.org/officeDocument/2006/relationships/extended-properties" Target="/docProps/app.xml" Id="R07498eabaa464d3e" /><Relationship Type="http://schemas.openxmlformats.org/officeDocument/2006/relationships/officeDocument" Target="/ppt/presentation.xml" Id="Raca4a933ed6a453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a9e9fa8c9024793"/>
  </p:sldMasterIdLst>
  <p:notesMasterIdLst>
    <p:notesMasterId xmlns:r="http://schemas.openxmlformats.org/officeDocument/2006/relationships" r:id="R22a9d72fe0d949d2"/>
  </p:notesMasterIdLst>
  <p:sldIdLst>
    <p:sldId xmlns:r="http://schemas.openxmlformats.org/officeDocument/2006/relationships" id="256" r:id="R9320d7d160e844d5"/>
    <p:sldId xmlns:r="http://schemas.openxmlformats.org/officeDocument/2006/relationships" id="257" r:id="Rbb46b67a119145eb"/>
    <p:sldId xmlns:r="http://schemas.openxmlformats.org/officeDocument/2006/relationships" id="258" r:id="R3f6b94322990467e"/>
    <p:sldId xmlns:r="http://schemas.openxmlformats.org/officeDocument/2006/relationships" id="259" r:id="R1e08321458844edc"/>
    <p:sldId xmlns:r="http://schemas.openxmlformats.org/officeDocument/2006/relationships" id="260" r:id="Ra73f4d8c27cd4b35"/>
    <p:sldId xmlns:r="http://schemas.openxmlformats.org/officeDocument/2006/relationships" id="261" r:id="Rb105c162be594f78"/>
    <p:sldId xmlns:r="http://schemas.openxmlformats.org/officeDocument/2006/relationships" id="262" r:id="Rbb5004cc20974dd5"/>
    <p:sldId xmlns:r="http://schemas.openxmlformats.org/officeDocument/2006/relationships" id="263" r:id="Rf95320a693564a22"/>
    <p:sldId xmlns:r="http://schemas.openxmlformats.org/officeDocument/2006/relationships" id="264" r:id="R654cfc114be740f7"/>
    <p:sldId xmlns:r="http://schemas.openxmlformats.org/officeDocument/2006/relationships" id="265" r:id="R8eecf1b3682845b3"/>
    <p:sldId xmlns:r="http://schemas.openxmlformats.org/officeDocument/2006/relationships" id="266" r:id="R60d69ab22bc44df7"/>
    <p:sldId xmlns:r="http://schemas.openxmlformats.org/officeDocument/2006/relationships" id="267" r:id="R960a48f380f04092"/>
    <p:sldId xmlns:r="http://schemas.openxmlformats.org/officeDocument/2006/relationships" id="268" r:id="Re25150b16b8544d3"/>
    <p:sldId xmlns:r="http://schemas.openxmlformats.org/officeDocument/2006/relationships" id="269" r:id="R36e76b8e34874b41"/>
    <p:sldId xmlns:r="http://schemas.openxmlformats.org/officeDocument/2006/relationships" id="270" r:id="R513016b270424964"/>
    <p:sldId xmlns:r="http://schemas.openxmlformats.org/officeDocument/2006/relationships" id="271" r:id="R196fed575d30431f"/>
    <p:sldId xmlns:r="http://schemas.openxmlformats.org/officeDocument/2006/relationships" id="272" r:id="R9d5c9c6926484ce1"/>
    <p:sldId xmlns:r="http://schemas.openxmlformats.org/officeDocument/2006/relationships" id="273" r:id="Re7d2ae9bb3794888"/>
    <p:sldId xmlns:r="http://schemas.openxmlformats.org/officeDocument/2006/relationships" id="274" r:id="R3c54325061e349a5"/>
    <p:sldId xmlns:r="http://schemas.openxmlformats.org/officeDocument/2006/relationships" id="275" r:id="Rb5dafeb13eef466a"/>
    <p:sldId xmlns:r="http://schemas.openxmlformats.org/officeDocument/2006/relationships" id="276" r:id="R95d19cc82cc747b5"/>
    <p:sldId xmlns:r="http://schemas.openxmlformats.org/officeDocument/2006/relationships" id="277" r:id="Red59e6238d604f8f"/>
    <p:sldId xmlns:r="http://schemas.openxmlformats.org/officeDocument/2006/relationships" id="278" r:id="R0abf69a961d4463d"/>
    <p:sldId xmlns:r="http://schemas.openxmlformats.org/officeDocument/2006/relationships" id="279" r:id="R561cc27dc3fe4115"/>
    <p:sldId xmlns:r="http://schemas.openxmlformats.org/officeDocument/2006/relationships" id="280" r:id="Rf2cb714ce5aa4f6a"/>
    <p:sldId xmlns:r="http://schemas.openxmlformats.org/officeDocument/2006/relationships" id="281" r:id="R5ecd827535fe4afd"/>
    <p:sldId xmlns:r="http://schemas.openxmlformats.org/officeDocument/2006/relationships" id="282" r:id="Rd26a4b4a2d024f73"/>
    <p:sldId xmlns:r="http://schemas.openxmlformats.org/officeDocument/2006/relationships" id="283" r:id="Rc61b76ede2e74da2"/>
    <p:sldId xmlns:r="http://schemas.openxmlformats.org/officeDocument/2006/relationships" id="284" r:id="Rb084612eef21483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137b609596b4771" /><Relationship Type="http://schemas.openxmlformats.org/officeDocument/2006/relationships/slideMaster" Target="/ppt/slideMasters/slideMaster1.xml" Id="Rda9e9fa8c9024793" /><Relationship Type="http://schemas.openxmlformats.org/officeDocument/2006/relationships/notesMaster" Target="/ppt/notesMasters/notesMaster1.xml" Id="R22a9d72fe0d949d2" /><Relationship Type="http://schemas.openxmlformats.org/officeDocument/2006/relationships/presProps" Target="/ppt/presProps.xml" Id="R308298f0b3884342" /><Relationship Type="http://schemas.openxmlformats.org/officeDocument/2006/relationships/tableStyles" Target="/ppt/tableStyles.xml" Id="R80fe3d12f2444c30" /><Relationship Type="http://schemas.openxmlformats.org/officeDocument/2006/relationships/slide" Target="/ppt/slides/slide1.xml" Id="R9320d7d160e844d5" /><Relationship Type="http://schemas.openxmlformats.org/officeDocument/2006/relationships/slide" Target="/ppt/slides/slide2.xml" Id="Rbb46b67a119145eb" /><Relationship Type="http://schemas.openxmlformats.org/officeDocument/2006/relationships/slide" Target="/ppt/slides/slide3.xml" Id="R3f6b94322990467e" /><Relationship Type="http://schemas.openxmlformats.org/officeDocument/2006/relationships/slide" Target="/ppt/slides/slide4.xml" Id="R1e08321458844edc" /><Relationship Type="http://schemas.openxmlformats.org/officeDocument/2006/relationships/slide" Target="/ppt/slides/slide5.xml" Id="Ra73f4d8c27cd4b35" /><Relationship Type="http://schemas.openxmlformats.org/officeDocument/2006/relationships/slide" Target="/ppt/slides/slide6.xml" Id="Rb105c162be594f78" /><Relationship Type="http://schemas.openxmlformats.org/officeDocument/2006/relationships/slide" Target="/ppt/slides/slide7.xml" Id="Rbb5004cc20974dd5" /><Relationship Type="http://schemas.openxmlformats.org/officeDocument/2006/relationships/slide" Target="/ppt/slides/slide8.xml" Id="Rf95320a693564a22" /><Relationship Type="http://schemas.openxmlformats.org/officeDocument/2006/relationships/slide" Target="/ppt/slides/slide9.xml" Id="R654cfc114be740f7" /><Relationship Type="http://schemas.openxmlformats.org/officeDocument/2006/relationships/slide" Target="/ppt/slides/slide10.xml" Id="R8eecf1b3682845b3" /><Relationship Type="http://schemas.openxmlformats.org/officeDocument/2006/relationships/slide" Target="/ppt/slides/slide11.xml" Id="R60d69ab22bc44df7" /><Relationship Type="http://schemas.openxmlformats.org/officeDocument/2006/relationships/slide" Target="/ppt/slides/slide12.xml" Id="R960a48f380f04092" /><Relationship Type="http://schemas.openxmlformats.org/officeDocument/2006/relationships/slide" Target="/ppt/slides/slide13.xml" Id="Re25150b16b8544d3" /><Relationship Type="http://schemas.openxmlformats.org/officeDocument/2006/relationships/slide" Target="/ppt/slides/slide14.xml" Id="R36e76b8e34874b41" /><Relationship Type="http://schemas.openxmlformats.org/officeDocument/2006/relationships/slide" Target="/ppt/slides/slide15.xml" Id="R513016b270424964" /><Relationship Type="http://schemas.openxmlformats.org/officeDocument/2006/relationships/slide" Target="/ppt/slides/slide16.xml" Id="R196fed575d30431f" /><Relationship Type="http://schemas.openxmlformats.org/officeDocument/2006/relationships/slide" Target="/ppt/slides/slide17.xml" Id="R9d5c9c6926484ce1" /><Relationship Type="http://schemas.openxmlformats.org/officeDocument/2006/relationships/slide" Target="/ppt/slides/slide18.xml" Id="Re7d2ae9bb3794888" /><Relationship Type="http://schemas.openxmlformats.org/officeDocument/2006/relationships/slide" Target="/ppt/slides/slide19.xml" Id="R3c54325061e349a5" /><Relationship Type="http://schemas.openxmlformats.org/officeDocument/2006/relationships/slide" Target="/ppt/slides/slide20.xml" Id="Rb5dafeb13eef466a" /><Relationship Type="http://schemas.openxmlformats.org/officeDocument/2006/relationships/slide" Target="/ppt/slides/slide21.xml" Id="R95d19cc82cc747b5" /><Relationship Type="http://schemas.openxmlformats.org/officeDocument/2006/relationships/slide" Target="/ppt/slides/slide22.xml" Id="Red59e6238d604f8f" /><Relationship Type="http://schemas.openxmlformats.org/officeDocument/2006/relationships/slide" Target="/ppt/slides/slide23.xml" Id="R0abf69a961d4463d" /><Relationship Type="http://schemas.openxmlformats.org/officeDocument/2006/relationships/slide" Target="/ppt/slides/slide24.xml" Id="R561cc27dc3fe4115" /><Relationship Type="http://schemas.openxmlformats.org/officeDocument/2006/relationships/slide" Target="/ppt/slides/slide25.xml" Id="Rf2cb714ce5aa4f6a" /><Relationship Type="http://schemas.openxmlformats.org/officeDocument/2006/relationships/slide" Target="/ppt/slides/slide26.xml" Id="R5ecd827535fe4afd" /><Relationship Type="http://schemas.openxmlformats.org/officeDocument/2006/relationships/slide" Target="/ppt/slides/slide27.xml" Id="Rd26a4b4a2d024f73" /><Relationship Type="http://schemas.openxmlformats.org/officeDocument/2006/relationships/slide" Target="/ppt/slides/slide28.xml" Id="Rc61b76ede2e74da2" /><Relationship Type="http://schemas.openxmlformats.org/officeDocument/2006/relationships/slide" Target="/ppt/slides/slide29.xml" Id="Rb084612eef21483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9bb9640e174440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e6fab262986441e" /><Relationship Type="http://schemas.openxmlformats.org/officeDocument/2006/relationships/notesMaster" Target="/ppt/notesMasters/notesMaster1.xml" Id="Rf6d4291539094e6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f2a4d8457604e51" /><Relationship Type="http://schemas.openxmlformats.org/officeDocument/2006/relationships/notesMaster" Target="/ppt/notesMasters/notesMaster1.xml" Id="R3b21c86896ac498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c709155dc0f4f29" /><Relationship Type="http://schemas.openxmlformats.org/officeDocument/2006/relationships/notesMaster" Target="/ppt/notesMasters/notesMaster1.xml" Id="Re0f4fc8875784ae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d90d7a03d3c46e8" /><Relationship Type="http://schemas.openxmlformats.org/officeDocument/2006/relationships/notesMaster" Target="/ppt/notesMasters/notesMaster1.xml" Id="R75d287bad5d5426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4b0d7e40ccf4473" /><Relationship Type="http://schemas.openxmlformats.org/officeDocument/2006/relationships/notesMaster" Target="/ppt/notesMasters/notesMaster1.xml" Id="R141c129b0f17451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6ffcfe8d9e64c34" /><Relationship Type="http://schemas.openxmlformats.org/officeDocument/2006/relationships/notesMaster" Target="/ppt/notesMasters/notesMaster1.xml" Id="R92a64050e51f444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aa68ac64daa465e" /><Relationship Type="http://schemas.openxmlformats.org/officeDocument/2006/relationships/notesMaster" Target="/ppt/notesMasters/notesMaster1.xml" Id="Rb02065d994a8407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906ab0c6cd04eb1" /><Relationship Type="http://schemas.openxmlformats.org/officeDocument/2006/relationships/notesMaster" Target="/ppt/notesMasters/notesMaster1.xml" Id="R739cf185673a44f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8a8f0f1d7ff4905" /><Relationship Type="http://schemas.openxmlformats.org/officeDocument/2006/relationships/notesMaster" Target="/ppt/notesMasters/notesMaster1.xml" Id="R06a6a068895745f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6eedebc15e84cdb" /><Relationship Type="http://schemas.openxmlformats.org/officeDocument/2006/relationships/notesMaster" Target="/ppt/notesMasters/notesMaster1.xml" Id="R8580d3a7796b417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7fe1aa8b09849af" /><Relationship Type="http://schemas.openxmlformats.org/officeDocument/2006/relationships/notesMaster" Target="/ppt/notesMasters/notesMaster1.xml" Id="Rdc6a8ce06ed54d1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878515b077e4a01" /><Relationship Type="http://schemas.openxmlformats.org/officeDocument/2006/relationships/notesMaster" Target="/ppt/notesMasters/notesMaster1.xml" Id="R7ddd76edd76d46e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94af3d0b9074038" /><Relationship Type="http://schemas.openxmlformats.org/officeDocument/2006/relationships/notesMaster" Target="/ppt/notesMasters/notesMaster1.xml" Id="R3fe59141437841f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ceadb46814e461a" /><Relationship Type="http://schemas.openxmlformats.org/officeDocument/2006/relationships/notesMaster" Target="/ppt/notesMasters/notesMaster1.xml" Id="Rff680cf02c5b434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ffbbf554ded4f7f" /><Relationship Type="http://schemas.openxmlformats.org/officeDocument/2006/relationships/notesMaster" Target="/ppt/notesMasters/notesMaster1.xml" Id="R376730fb4fc04f79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e6e38c85f474493" /><Relationship Type="http://schemas.openxmlformats.org/officeDocument/2006/relationships/notesMaster" Target="/ppt/notesMasters/notesMaster1.xml" Id="R59c7039138694142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6ed463cdb374255" /><Relationship Type="http://schemas.openxmlformats.org/officeDocument/2006/relationships/notesMaster" Target="/ppt/notesMasters/notesMaster1.xml" Id="Rdda0518cf66a4e70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6d7b4e6aa8bb4831" /><Relationship Type="http://schemas.openxmlformats.org/officeDocument/2006/relationships/notesMaster" Target="/ppt/notesMasters/notesMaster1.xml" Id="R5789241d165f4322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3c9a801e43e94da5" /><Relationship Type="http://schemas.openxmlformats.org/officeDocument/2006/relationships/notesMaster" Target="/ppt/notesMasters/notesMaster1.xml" Id="Re9a82615aa054852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5934b7abe24742ea" /><Relationship Type="http://schemas.openxmlformats.org/officeDocument/2006/relationships/notesMaster" Target="/ppt/notesMasters/notesMaster1.xml" Id="Rca97a851f2a54c8d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0ba412bf5bde4ecf" /><Relationship Type="http://schemas.openxmlformats.org/officeDocument/2006/relationships/notesMaster" Target="/ppt/notesMasters/notesMaster1.xml" Id="R9e7d6367fb714c6a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bf7cd1b0690c4692" /><Relationship Type="http://schemas.openxmlformats.org/officeDocument/2006/relationships/notesMaster" Target="/ppt/notesMasters/notesMaster1.xml" Id="R94c4caaeef2c4d27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6b4165ed9a954735" /><Relationship Type="http://schemas.openxmlformats.org/officeDocument/2006/relationships/notesMaster" Target="/ppt/notesMasters/notesMaster1.xml" Id="R8bcb94ee6dec4ee5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d4ca810ec0914315" /><Relationship Type="http://schemas.openxmlformats.org/officeDocument/2006/relationships/notesMaster" Target="/ppt/notesMasters/notesMaster1.xml" Id="R15638103962b43e6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1f65cb31925e4336" /><Relationship Type="http://schemas.openxmlformats.org/officeDocument/2006/relationships/notesMaster" Target="/ppt/notesMasters/notesMaster1.xml" Id="Rf737bf06370b4288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65213609aff34693" /><Relationship Type="http://schemas.openxmlformats.org/officeDocument/2006/relationships/notesMaster" Target="/ppt/notesMasters/notesMaster1.xml" Id="Rcaed656652244010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c0ab6c155dd44b17" /><Relationship Type="http://schemas.openxmlformats.org/officeDocument/2006/relationships/notesMaster" Target="/ppt/notesMasters/notesMaster1.xml" Id="Rc4508eed14f04c01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f55b246447074a41" /><Relationship Type="http://schemas.openxmlformats.org/officeDocument/2006/relationships/notesMaster" Target="/ppt/notesMasters/notesMaster1.xml" Id="Rcd95ca7ffc124453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db83a7d21f944448" /><Relationship Type="http://schemas.openxmlformats.org/officeDocument/2006/relationships/notesMaster" Target="/ppt/notesMasters/notesMaster1.xml" Id="R0c596237e351453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2 minutes. Frame the afternoon as two complementary missions. Do not preview the inherited-analysis failure.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Synthetic teaching data designed for this lab; no external claims.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5 minutes. Students install only the option for their operating system, verify the executable, and configure commit identity.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https://git-scm.com/downloads</a:t>
            </a:r>
          </a:p>
          <a:p xmlns:a="http://schemas.openxmlformats.org/drawingml/2006/main">
            <a:r>
              <a:t>https://git-scm.com/install/linux</a:t>
            </a:r>
          </a:p>
          <a:p xmlns:a="http://schemas.openxmlformats.org/drawingml/2006/main">
            <a:r>
              <a:t>https://formulae.brew.sh/formula/git</a:t>
            </a:r>
          </a:p>
          <a:p xmlns:a="http://schemas.openxmlformats.org/drawingml/2006/main">
            <a:r>
              <a:t>https://learn.microsoft.com/windows/package-manager/winget/</a:t>
            </a:r>
          </a:p>
          <a:p xmlns:a="http://schemas.openxmlformats.org/drawingml/2006/main">
            <a:r>
              <a:t>https://git-scm.com/book/en/v2/Getting-Started-First-Time-Git-Setup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6 minutes. Students choose one install method, run the two checks, then launch Claude Code once from the lab project.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https://github.com/anthropics/claude-code</a:t>
            </a:r>
          </a:p>
          <a:p xmlns:a="http://schemas.openxmlformats.org/drawingml/2006/main">
            <a:r>
              <a:t>https://code.claude.com/docs/en/setup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6 minutes. Students choose one installation path, verify the CLI version, and launch Codex from the lab project.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https://github.com/openai/codex</a:t>
            </a:r>
          </a:p>
          <a:p xmlns:a="http://schemas.openxmlformats.org/drawingml/2006/main">
            <a:r>
              <a:t>https://github.com/openai/codex/blob/main/README.md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7 minutes. Install from the official project only. On first launch, import existing configs, add or select the intended provider, Enable it, then restart the relevant CLI if needed.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https://github.com/farion1231/cc-switch</a:t>
            </a:r>
          </a:p>
          <a:p xmlns:a="http://schemas.openxmlformats.org/drawingml/2006/main">
            <a:r>
              <a:t>https://github.com/farion1231/cc-switch/releases</a:t>
            </a:r>
          </a:p>
          <a:p xmlns:a="http://schemas.openxmlformats.org/drawingml/2006/main">
            <a:r>
              <a:t>https://ccswitch.io</a:t>
            </a:r>
          </a:p>
          <a:p xmlns:a="http://schemas.openxmlformats.org/drawingml/2006/main">
            <a:r>
              <a:t>https://docs.github.com/en/authentication/keeping-your-account-and-data-secure/removing-sensitive-data-from-a-repository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90 seconds after installation. Run the checklist as a class; pair students across operating systems for quick troubleshooting.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https://git-scm.com/downloads</a:t>
            </a:r>
          </a:p>
          <a:p xmlns:a="http://schemas.openxmlformats.org/drawingml/2006/main">
            <a:r>
              <a:t>https://code.claude.com/docs/en/setup</a:t>
            </a:r>
          </a:p>
          <a:p xmlns:a="http://schemas.openxmlformats.org/drawingml/2006/main">
            <a:r>
              <a:t>https://github.com/openai/codex</a:t>
            </a:r>
          </a:p>
          <a:p xmlns:a="http://schemas.openxmlformats.org/drawingml/2006/main">
            <a:r>
              <a:t>https://github.com/farion1231/cc-switch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6 minutes. Run the recommended installer, open a new terminal so the environment loads, install StatsClaw through /plugins, and verify with either natural language or $review.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https://github.com/statsclaw/statsclaw-codex</a:t>
            </a:r>
          </a:p>
          <a:p xmlns:a="http://schemas.openxmlformats.org/drawingml/2006/main">
            <a:r>
              <a:t>https://github.com/statsclaw/statsclaw-codex/blob/main/README.md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6 minutes. First-time users clone the exact class branch. Returning users switch and pull. Everyone creates a personal branch before inspecting or changing project files.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Workshop branch: https://github.com/kprinceing/workspace/tree/codex/afternoon-lab</a:t>
            </a:r>
          </a:p>
          <a:p xmlns:a="http://schemas.openxmlformats.org/drawingml/2006/main">
            <a:r>
              <a:t>https://git-scm.com/docs/git-clone</a:t>
            </a:r>
          </a:p>
          <a:p xmlns:a="http://schemas.openxmlformats.org/drawingml/2006/main">
            <a:r>
              <a:t>https://git-scm.com/docs/git-switch</a:t>
            </a:r>
          </a:p>
          <a:p xmlns:a="http://schemas.openxmlformats.org/drawingml/2006/main">
            <a:r>
              <a:t>https://git-scm.com/docs/git-pull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3 minutes. Ask students what evidence they would want for each mission. Keep answers at the level of design and provenance.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Synthetic teaching data designed for this lab; no external claims.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4 minutes. Have students restate treatment, unit, outcome, horizon, and estimand in their own words.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Synthetic teaching data designed for this lab; no external claims.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4 minutes. Let students name checks for row counts, uniqueness, missing keys, and file provenance.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Synthetic teaching data designed for this lab; no external claims.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8 minutes. Students invoke the StatsClaw planner first. They inspect and accept the locked design before authorizing the smallest build; testing and $review remain independent.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Synthetic teaching data designed for this lab; no external claims.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7 minutes. Students review the planner's contract in plain language. They do not authorize a builder until every field and stop condition is intentional.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Synthetic teaching data designed for this lab; no external claims.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6 minutes. Walk through the exact StatsClaw stage chain. A PASS authorizes a local Git commit only; students do not run $ship-it and do not push.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Synthetic teaching data designed for this lab; no external claims.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8 minutes. Require students to identify which StatsClaw stage owns each gate and which later stage verifies it independently.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Synthetic teaching data designed for this lab; no external claims.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6 minutes. Compare the independent tester's output with the locked plan. Treat +7 pp only as a verification target; do not evaluate it as desirable or undesirable.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summer school/afternoon_lab/data/case_a_baseline.csv</a:t>
            </a:r>
          </a:p>
          <a:p xmlns:a="http://schemas.openxmlformats.org/drawingml/2006/main">
            <a:r>
              <a:t>summer school/afternoon_lab/data/case_a_assignment.csv</a:t>
            </a:r>
          </a:p>
          <a:p xmlns:a="http://schemas.openxmlformats.org/drawingml/2006/main">
            <a:r>
              <a:t>summer school/afternoon_lab/data/case_a_followup.csv</a:t>
            </a:r>
          </a:p>
          <a:p xmlns:a="http://schemas.openxmlformats.org/drawingml/2006/main">
            <a:r>
              <a:t>Synthetic teaching data designed for this lab.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4 minutes. Read the chart as a check on the expected ITT arithmetic: 70% minus 63% equals +7 percentage points.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summer school/afternoon_lab/data/case_a_assignment.csv</a:t>
            </a:r>
          </a:p>
          <a:p xmlns:a="http://schemas.openxmlformats.org/drawingml/2006/main">
            <a:r>
              <a:t>summer school/afternoon_lab/data/case_a_followup.csv</a:t>
            </a:r>
          </a:p>
          <a:p xmlns:a="http://schemas.openxmlformats.org/drawingml/2006/main">
            <a:r>
              <a:t>Synthetic teaching data designed for this lab.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6 minutes. Each team names the plan, tester evidence, and $review status supporting PASS. Students may commit locally after PASS; no push and no $ship-it.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Synthetic teaching data designed for this lab; no external claims.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2 minutes. Transition from prevention to forensics. Do not preview the nature or magnitude of the problem.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Synthetic teaching data designed for this lab; no external claims.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3 minutes. Take an initial vote without discussion. Record it for comparison with the final decision.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Synthetic teaching data designed for this lab; no external claims.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5 minutes. Ask teams to rank files by authority for treatment assignment, outcome construction, and provenance.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Synthetic teaching data designed for this lab; no external claims.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12 minutes. Students run a read-only StatsClaw audit and verify its claims against the files. No builder is authorized until a status is issued; only REPAIR can lead to a smallest proposed repair.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Synthetic teaching data designed for this lab; no external claims.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8 minutes. Collect competing hypotheses without resolving them. Require the next check to discriminate between alternatives.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Synthetic teaching data designed for this lab; no external claims.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8 minutes. Students use Git history to connect changes with stated reasons. Avoid explaining every command before they choose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Synthetic teaching data designed for this lab; no external claims.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7 minutes. Require StatsClaw's status, decisive evidence, and one remaining uncertainty. Do not authorize changes before this status.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Synthetic teaching data designed for this lab; no external claims.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10 minutes. Reveal one line at a time. Ask which design-contract gate each fact violates. The inherited analysis used program_participant even though offered_training remains available. The repair preserves the randomized ITT experiment and uses attendance only to diagnose take-up.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Synthetic teaching data designed for this lab; no external claims.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7 minutes. Compare the expected audit output with each team's pre-reveal status and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summer school/afternoon_lab/data/case_b_analysis_received.csv</a:t>
            </a:r>
          </a:p>
          <a:p xmlns:a="http://schemas.openxmlformats.org/drawingml/2006/main">
            <a:r>
              <a:t>summer school/afternoon_lab/data/case_b_assignment.csv</a:t>
            </a:r>
          </a:p>
          <a:p xmlns:a="http://schemas.openxmlformats.org/drawingml/2006/main">
            <a:r>
              <a:t>summer school/afternoon_lab/data/case_b_attendance_log.csv</a:t>
            </a:r>
          </a:p>
          <a:p xmlns:a="http://schemas.openxmlformats.org/drawingml/2006/main">
            <a:r>
              <a:t>Synthetic teaching data designed for this lab.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5 minutes. The control side remains one row per applicant. The offered side contains 430 more rows than unique applicants, so row-weighted analysis changes the experiment.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summer school/afternoon_lab/data/case_b_analysis_received.csv</a:t>
            </a:r>
          </a:p>
          <a:p xmlns:a="http://schemas.openxmlformats.org/drawingml/2006/main">
            <a:r>
              <a:t>summer school/afternoon_lab/data/case_b_assignment.csv</a:t>
            </a:r>
          </a:p>
          <a:p xmlns:a="http://schemas.openxmlformats.org/drawingml/2006/main">
            <a:r>
              <a:t>Synthetic teaching data designed for this lab.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5 minutes. Return to the two missions. Close on the explicit StatsClaw stage chain and the class boundary: local commit after PASS, no $ship-it, no push.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Synthetic teaching data designed for this lab; no external claims.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8eb0904ee3428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2b7b059dac5457e" /><Relationship Type="http://schemas.openxmlformats.org/officeDocument/2006/relationships/slideLayout" Target="/ppt/slideLayouts/slideLayout1.xml" Id="Rb33112e81eeb421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33112e81eeb421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217a373eae41b4" /><Relationship Type="http://schemas.openxmlformats.org/officeDocument/2006/relationships/notesSlide" Target="/ppt/notesSlides/notesSlide1.xml" Id="Rb575de717256475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09fd5fa3cc4fae" /><Relationship Type="http://schemas.openxmlformats.org/officeDocument/2006/relationships/notesSlide" Target="/ppt/notesSlides/notesSlide2.xml" Id="R2dcdb0eac0a64b5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66244512224adf" /><Relationship Type="http://schemas.openxmlformats.org/officeDocument/2006/relationships/notesSlide" Target="/ppt/notesSlides/notesSlide3.xml" Id="R8465c5e714944fa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b9d836649c4d00" /><Relationship Type="http://schemas.openxmlformats.org/officeDocument/2006/relationships/notesSlide" Target="/ppt/notesSlides/notesSlide4.xml" Id="R9fc97c8e4222430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6c9906c2834e0d" /><Relationship Type="http://schemas.openxmlformats.org/officeDocument/2006/relationships/notesSlide" Target="/ppt/notesSlides/notesSlide5.xml" Id="R4ca2a46da48f4de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16e370aae54c10" /><Relationship Type="http://schemas.openxmlformats.org/officeDocument/2006/relationships/notesSlide" Target="/ppt/notesSlides/notesSlide6.xml" Id="R8776917418f6416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fde4dfb64f4ac3" /><Relationship Type="http://schemas.openxmlformats.org/officeDocument/2006/relationships/notesSlide" Target="/ppt/notesSlides/notesSlide7.xml" Id="Ra482ff3b91b3463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32361c3bdf4cb0" /><Relationship Type="http://schemas.openxmlformats.org/officeDocument/2006/relationships/notesSlide" Target="/ppt/notesSlides/notesSlide8.xml" Id="R1ef231c19b334c6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4134612bec4e88" /><Relationship Type="http://schemas.openxmlformats.org/officeDocument/2006/relationships/notesSlide" Target="/ppt/notesSlides/notesSlide9.xml" Id="R44d6b5429d5a424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e6bfb564104da6" /><Relationship Type="http://schemas.openxmlformats.org/officeDocument/2006/relationships/notesSlide" Target="/ppt/notesSlides/notesSlide10.xml" Id="R48fea7bfd0424e4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da88cedca24552" /><Relationship Type="http://schemas.openxmlformats.org/officeDocument/2006/relationships/notesSlide" Target="/ppt/notesSlides/notesSlide11.xml" Id="Rff398caa225b4d7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6f0be1ff554301" /><Relationship Type="http://schemas.openxmlformats.org/officeDocument/2006/relationships/notesSlide" Target="/ppt/notesSlides/notesSlide12.xml" Id="R3751fce96874401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13f62c88294f4c" /><Relationship Type="http://schemas.openxmlformats.org/officeDocument/2006/relationships/notesSlide" Target="/ppt/notesSlides/notesSlide13.xml" Id="R0d6941bad3104b5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a2c344be8f4c41" /><Relationship Type="http://schemas.openxmlformats.org/officeDocument/2006/relationships/notesSlide" Target="/ppt/notesSlides/notesSlide14.xml" Id="R4686c29819f441c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9ffb3c2e624d28" /><Relationship Type="http://schemas.openxmlformats.org/officeDocument/2006/relationships/notesSlide" Target="/ppt/notesSlides/notesSlide15.xml" Id="R149de016ae764af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2c1fc652564754" /><Relationship Type="http://schemas.openxmlformats.org/officeDocument/2006/relationships/notesSlide" Target="/ppt/notesSlides/notesSlide16.xml" Id="R13e9a96c3fa44e85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7a07aea0c146da" /><Relationship Type="http://schemas.openxmlformats.org/officeDocument/2006/relationships/notesSlide" Target="/ppt/notesSlides/notesSlide17.xml" Id="Re0c32c907c074459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a1587a76654869" /><Relationship Type="http://schemas.openxmlformats.org/officeDocument/2006/relationships/notesSlide" Target="/ppt/notesSlides/notesSlide18.xml" Id="Rf0da47ee8de14bf6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37e091a28c4068" /><Relationship Type="http://schemas.openxmlformats.org/officeDocument/2006/relationships/notesSlide" Target="/ppt/notesSlides/notesSlide19.xml" Id="R68814893c7474203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0465bae03e4254" /><Relationship Type="http://schemas.openxmlformats.org/officeDocument/2006/relationships/notesSlide" Target="/ppt/notesSlides/notesSlide20.xml" Id="R425a9f8b70934d88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5b6cc146e74f92" /><Relationship Type="http://schemas.openxmlformats.org/officeDocument/2006/relationships/notesSlide" Target="/ppt/notesSlides/notesSlide21.xml" Id="Redcef67c88e149f4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7d9ab04f0a46ea" /><Relationship Type="http://schemas.openxmlformats.org/officeDocument/2006/relationships/notesSlide" Target="/ppt/notesSlides/notesSlide22.xml" Id="R5d0fd1423fc54fb0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bb1feb458a4a4f" /><Relationship Type="http://schemas.openxmlformats.org/officeDocument/2006/relationships/notesSlide" Target="/ppt/notesSlides/notesSlide23.xml" Id="R38a68342bc364621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33b0f76639453c" /><Relationship Type="http://schemas.openxmlformats.org/officeDocument/2006/relationships/notesSlide" Target="/ppt/notesSlides/notesSlide24.xml" Id="R69da5d5b692c4d79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3eb92f01e34343" /><Relationship Type="http://schemas.openxmlformats.org/officeDocument/2006/relationships/notesSlide" Target="/ppt/notesSlides/notesSlide25.xml" Id="R7b0b45e92ea243e8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2f2105b8da4d4c" /><Relationship Type="http://schemas.openxmlformats.org/officeDocument/2006/relationships/notesSlide" Target="/ppt/notesSlides/notesSlide26.xml" Id="Rcd876fefec144785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58def92b4a48ec" /><Relationship Type="http://schemas.openxmlformats.org/officeDocument/2006/relationships/notesSlide" Target="/ppt/notesSlides/notesSlide27.xml" Id="Ref4cdc6f081642a3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99a70a9ded4650" /><Relationship Type="http://schemas.openxmlformats.org/officeDocument/2006/relationships/notesSlide" Target="/ppt/notesSlides/notesSlide28.xml" Id="Rcbea25e20cb345fb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d1f0b0c5c04cf1" /><Relationship Type="http://schemas.openxmlformats.org/officeDocument/2006/relationships/notesSlide" Target="/ppt/notesSlides/notesSlide29.xml" Id="Ra9294bf0618646d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BA85F49-F5D5-46AC-878B-C3FDDC783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5C5C69"/>
                </a:solidFill>
              </a:defRPr>
            </a:pPr>
            <a:r>
              <a:rPr sz="825" b="0" i="0">
                <a:solidFill>
                  <a:srgbClr val="5C5C69"/>
                </a:solidFill>
              </a:rPr>
              <a:t>1 / 29</a:t>
            </a:r>
          </a:p>
        </p:txBody>
      </p:sp>
      <p:sp>
        <p:nvSpPr>
          <p:cNvPr id="2" name="title-accent">
            <a:extLst xmlns:a="http://schemas.openxmlformats.org/drawingml/2006/main">
              <a:ext uri="{FF2B5EF4-FFF2-40B4-BE49-F238E27FC236}">
                <a16:creationId xmlns:a16="http://schemas.microsoft.com/office/drawing/2014/main" id="{71FA92C7-16FA-48BE-8B9D-2BBB1B05C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971550"/>
            <a:ext cx="95250" cy="3733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33B2"/>
          </a:solidFill>
          <a:ln xmlns:a="http://schemas.openxmlformats.org/drawingml/2006/main" w="0">
            <a:solidFill>
              <a:srgbClr val="3333B2"/>
            </a:solidFill>
            <a:prstDash val="solid"/>
          </a:ln>
        </p:spPr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D3733B0-30C5-49E4-81DF-37B221506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143000"/>
            <a:ext cx="8763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350" b="1" i="0">
                <a:solidFill>
                  <a:srgbClr val="3333B2"/>
                </a:solidFill>
              </a:defRPr>
            </a:pPr>
            <a:r>
              <a:rPr sz="4350" b="1" i="0">
                <a:solidFill>
                  <a:srgbClr val="3333B2"/>
                </a:solidFill>
              </a:rPr>
              <a:t>Research Handoff Lab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663273A6-77F6-4E71-BEE0-B75F2D673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24100"/>
            <a:ext cx="7429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0" i="0">
                <a:solidFill>
                  <a:srgbClr val="17171C"/>
                </a:solidFill>
              </a:defRPr>
            </a:pPr>
            <a:r>
              <a:rPr sz="2850" b="0" i="0">
                <a:solidFill>
                  <a:srgbClr val="17171C"/>
                </a:solidFill>
              </a:rPr>
              <a:t>StatsClaw + Git</a:t>
            </a:r>
          </a:p>
        </p:txBody>
      </p:sp>
      <p:sp>
        <p:nvSpPr>
          <p:cNvPr id="5" name="tagline">
            <a:extLst xmlns:a="http://schemas.openxmlformats.org/drawingml/2006/main">
              <a:ext uri="{FF2B5EF4-FFF2-40B4-BE49-F238E27FC236}">
                <a16:creationId xmlns:a16="http://schemas.microsoft.com/office/drawing/2014/main" id="{AE30C093-CD7F-404F-BB08-479199C88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638550"/>
            <a:ext cx="8763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BF0040"/>
                </a:solidFill>
              </a:defRPr>
            </a:pPr>
            <a:r>
              <a:rPr sz="1950" b="1" i="0">
                <a:solidFill>
                  <a:srgbClr val="BF0040"/>
                </a:solidFill>
              </a:rPr>
              <a:t>Build a clean analysis. Then audit one that drifted.</a:t>
            </a:r>
          </a:p>
        </p:txBody>
      </p:sp>
    </p:spTree>
    <p:extLst>
      <p:ext uri="{BB962C8B-B14F-4D97-AF65-F5344CB8AC3E}">
        <p14:creationId xmlns:p14="http://schemas.microsoft.com/office/powerpoint/2010/main" val="214053289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C130F44-0DF9-459A-B828-FC0659FBF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1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3333B2"/>
                </a:solidFill>
              </a:defRPr>
            </a:pPr>
            <a:r>
              <a:rPr sz="2925" b="1" i="0">
                <a:solidFill>
                  <a:srgbClr val="3333B2"/>
                </a:solidFill>
              </a:rPr>
              <a:t>Git first: install and identify yourself</a:t>
            </a:r>
          </a:p>
        </p:txBody>
      </p:sp>
      <p:sp>
        <p:nvSpPr>
          <p:cNvPr id="2" name="rule-68-107">
            <a:extLst xmlns:a="http://schemas.openxmlformats.org/drawingml/2006/main">
              <a:ext uri="{FF2B5EF4-FFF2-40B4-BE49-F238E27FC236}">
                <a16:creationId xmlns:a16="http://schemas.microsoft.com/office/drawing/2014/main" id="{3FD32D40-8F39-496A-A21B-A72925AAE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19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850D899-F99E-4C87-A8E8-4D6DDEAA3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5C5C69"/>
                </a:solidFill>
              </a:defRPr>
            </a:pPr>
            <a:r>
              <a:rPr sz="825" b="0" i="0">
                <a:solidFill>
                  <a:srgbClr val="5C5C69"/>
                </a:solidFill>
              </a:rPr>
              <a:t>2 / 29</a:t>
            </a:r>
          </a:p>
        </p:txBody>
      </p:sp>
      <p:sp>
        <p:nvSpPr>
          <p:cNvPr id="4" name="mac-label">
            <a:extLst xmlns:a="http://schemas.openxmlformats.org/drawingml/2006/main">
              <a:ext uri="{FF2B5EF4-FFF2-40B4-BE49-F238E27FC236}">
                <a16:creationId xmlns:a16="http://schemas.microsoft.com/office/drawing/2014/main" id="{49E88DE3-599E-4349-B239-177B5E310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3525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macOS</a:t>
            </a:r>
          </a:p>
        </p:txBody>
      </p:sp>
      <p:sp>
        <p:nvSpPr>
          <p:cNvPr id="5" name="cmd-181">
            <a:extLst xmlns:a="http://schemas.openxmlformats.org/drawingml/2006/main">
              <a:ext uri="{FF2B5EF4-FFF2-40B4-BE49-F238E27FC236}">
                <a16:creationId xmlns:a16="http://schemas.microsoft.com/office/drawing/2014/main" id="{C4815957-12BF-4F42-901F-1A9E62894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724025"/>
            <a:ext cx="3143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0000FF"/>
                </a:solidFill>
              </a:defRPr>
            </a:pPr>
            <a:r>
              <a:rPr sz="1650" b="0" i="0">
                <a:solidFill>
                  <a:srgbClr val="0000FF"/>
                </a:solidFill>
              </a:rPr>
              <a:t>brew install git</a:t>
            </a:r>
          </a:p>
        </p:txBody>
      </p:sp>
      <p:sp>
        <p:nvSpPr>
          <p:cNvPr id="6" name="win-label">
            <a:extLst xmlns:a="http://schemas.openxmlformats.org/drawingml/2006/main">
              <a:ext uri="{FF2B5EF4-FFF2-40B4-BE49-F238E27FC236}">
                <a16:creationId xmlns:a16="http://schemas.microsoft.com/office/drawing/2014/main" id="{91425747-36F4-47F2-919F-6EB5E5E92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3525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Windows</a:t>
            </a:r>
          </a:p>
        </p:txBody>
      </p:sp>
      <p:sp>
        <p:nvSpPr>
          <p:cNvPr id="7" name="win-note">
            <a:extLst xmlns:a="http://schemas.openxmlformats.org/drawingml/2006/main">
              <a:ext uri="{FF2B5EF4-FFF2-40B4-BE49-F238E27FC236}">
                <a16:creationId xmlns:a16="http://schemas.microsoft.com/office/drawing/2014/main" id="{C0C9B018-3F2E-4D81-9CD7-49FE39957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7145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7171C"/>
                </a:solidFill>
              </a:defRPr>
            </a:pPr>
            <a:r>
              <a:rPr sz="1350" b="0" i="0">
                <a:solidFill>
                  <a:srgbClr val="17171C"/>
                </a:solidFill>
              </a:rPr>
              <a:t>Git for Windows, or:</a:t>
            </a:r>
          </a:p>
        </p:txBody>
      </p:sp>
      <p:sp>
        <p:nvSpPr>
          <p:cNvPr id="8" name="win-command">
            <a:extLst xmlns:a="http://schemas.openxmlformats.org/drawingml/2006/main">
              <a:ext uri="{FF2B5EF4-FFF2-40B4-BE49-F238E27FC236}">
                <a16:creationId xmlns:a16="http://schemas.microsoft.com/office/drawing/2014/main" id="{0421F930-5543-403D-8AA6-CE457C037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066925"/>
            <a:ext cx="4191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0000FF"/>
                </a:solidFill>
              </a:defRPr>
            </a:pPr>
            <a:r>
              <a:rPr sz="1425" b="0" i="0">
                <a:solidFill>
                  <a:srgbClr val="0000FF"/>
                </a:solidFill>
              </a:rPr>
              <a:t>winget install --id Git.Git -e</a:t>
            </a:r>
          </a:p>
          <a:p xmlns:a="http://schemas.openxmlformats.org/drawingml/2006/main">
            <a:pPr algn="l">
              <a:defRPr sz="1425" b="0" i="0">
                <a:solidFill>
                  <a:srgbClr val="0000FF"/>
                </a:solidFill>
              </a:defRPr>
            </a:pPr>
            <a:r>
              <a:rPr sz="1425" b="0" i="0">
                <a:solidFill>
                  <a:srgbClr val="0000FF"/>
                </a:solidFill>
              </a:rPr>
              <a:t>--source winget</a:t>
            </a:r>
          </a:p>
        </p:txBody>
      </p:sp>
      <p:sp>
        <p:nvSpPr>
          <p:cNvPr id="9" name="linux-label">
            <a:extLst xmlns:a="http://schemas.openxmlformats.org/drawingml/2006/main">
              <a:ext uri="{FF2B5EF4-FFF2-40B4-BE49-F238E27FC236}">
                <a16:creationId xmlns:a16="http://schemas.microsoft.com/office/drawing/2014/main" id="{74F0871C-0AE9-43F4-9873-34D4D1346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3525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Linux</a:t>
            </a:r>
          </a:p>
        </p:txBody>
      </p:sp>
      <p:sp>
        <p:nvSpPr>
          <p:cNvPr id="10" name="linux-command">
            <a:extLst xmlns:a="http://schemas.openxmlformats.org/drawingml/2006/main">
              <a:ext uri="{FF2B5EF4-FFF2-40B4-BE49-F238E27FC236}">
                <a16:creationId xmlns:a16="http://schemas.microsoft.com/office/drawing/2014/main" id="{3E2E97F1-45DA-4620-8A13-69CE104CE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724025"/>
            <a:ext cx="2714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0000FF"/>
                </a:solidFill>
              </a:defRPr>
            </a:pPr>
            <a:r>
              <a:rPr sz="1425" b="0" i="0">
                <a:solidFill>
                  <a:srgbClr val="0000FF"/>
                </a:solidFill>
              </a:rPr>
              <a:t>sudo apt install git</a:t>
            </a:r>
          </a:p>
          <a:p xmlns:a="http://schemas.openxmlformats.org/drawingml/2006/main">
            <a:pPr algn="l">
              <a:defRPr sz="1425" b="0" i="0">
                <a:solidFill>
                  <a:srgbClr val="0000FF"/>
                </a:solidFill>
              </a:defRPr>
            </a:pPr>
            <a:r>
              <a:rPr sz="1425" b="0" i="0">
                <a:solidFill>
                  <a:srgbClr val="0000FF"/>
                </a:solidFill>
              </a:rPr>
              <a:t>or</a:t>
            </a:r>
          </a:p>
          <a:p xmlns:a="http://schemas.openxmlformats.org/drawingml/2006/main">
            <a:pPr algn="l">
              <a:defRPr sz="1425" b="0" i="0">
                <a:solidFill>
                  <a:srgbClr val="0000FF"/>
                </a:solidFill>
              </a:defRPr>
            </a:pPr>
            <a:r>
              <a:rPr sz="1425" b="0" i="0">
                <a:solidFill>
                  <a:srgbClr val="0000FF"/>
                </a:solidFill>
              </a:rPr>
              <a:t>sudo dnf install git</a:t>
            </a:r>
          </a:p>
        </p:txBody>
      </p:sp>
      <p:sp>
        <p:nvSpPr>
          <p:cNvPr id="11" name="rule-78-310">
            <a:extLst xmlns:a="http://schemas.openxmlformats.org/drawingml/2006/main">
              <a:ext uri="{FF2B5EF4-FFF2-40B4-BE49-F238E27FC236}">
                <a16:creationId xmlns:a16="http://schemas.microsoft.com/office/drawing/2014/main" id="{4F1AAABD-E1B4-463A-8583-A02016EF9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52750"/>
            <a:ext cx="10648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12" name="verify-label">
            <a:extLst xmlns:a="http://schemas.openxmlformats.org/drawingml/2006/main">
              <a:ext uri="{FF2B5EF4-FFF2-40B4-BE49-F238E27FC236}">
                <a16:creationId xmlns:a16="http://schemas.microsoft.com/office/drawing/2014/main" id="{A41BEF3D-45E6-4736-9541-8E921BCA9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3850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VERIFY</a:t>
            </a:r>
          </a:p>
        </p:txBody>
      </p:sp>
      <p:sp>
        <p:nvSpPr>
          <p:cNvPr id="13" name="cmd-380">
            <a:extLst xmlns:a="http://schemas.openxmlformats.org/drawingml/2006/main">
              <a:ext uri="{FF2B5EF4-FFF2-40B4-BE49-F238E27FC236}">
                <a16:creationId xmlns:a16="http://schemas.microsoft.com/office/drawing/2014/main" id="{1883FDF3-FE32-4242-BEDC-3D51DA583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19500"/>
            <a:ext cx="34290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0000FF"/>
                </a:solidFill>
              </a:defRPr>
            </a:pPr>
            <a:r>
              <a:rPr sz="1650" b="0" i="0">
                <a:solidFill>
                  <a:srgbClr val="0000FF"/>
                </a:solidFill>
              </a:rPr>
              <a:t>git --version</a:t>
            </a:r>
          </a:p>
        </p:txBody>
      </p:sp>
      <p:sp>
        <p:nvSpPr>
          <p:cNvPr id="14" name="identity-label">
            <a:extLst xmlns:a="http://schemas.openxmlformats.org/drawingml/2006/main">
              <a:ext uri="{FF2B5EF4-FFF2-40B4-BE49-F238E27FC236}">
                <a16:creationId xmlns:a16="http://schemas.microsoft.com/office/drawing/2014/main" id="{DA543833-0BF9-47E2-9122-25E6BB383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43375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IDENTIFY YOUR COMMITS</a:t>
            </a:r>
          </a:p>
        </p:txBody>
      </p:sp>
      <p:sp>
        <p:nvSpPr>
          <p:cNvPr id="15" name="cmd-478">
            <a:extLst xmlns:a="http://schemas.openxmlformats.org/drawingml/2006/main">
              <a:ext uri="{FF2B5EF4-FFF2-40B4-BE49-F238E27FC236}">
                <a16:creationId xmlns:a16="http://schemas.microsoft.com/office/drawing/2014/main" id="{EB519852-F5DF-4DB4-8C6E-2303837D3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552950"/>
            <a:ext cx="8572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0000FF"/>
                </a:solidFill>
              </a:defRPr>
            </a:pPr>
            <a:r>
              <a:rPr sz="1650" b="0" i="0">
                <a:solidFill>
                  <a:srgbClr val="0000FF"/>
                </a:solidFill>
              </a:rPr>
              <a:t>git config --global user.name "Your Name"</a:t>
            </a:r>
          </a:p>
        </p:txBody>
      </p:sp>
      <p:sp>
        <p:nvSpPr>
          <p:cNvPr id="16" name="cmd-525">
            <a:extLst xmlns:a="http://schemas.openxmlformats.org/drawingml/2006/main">
              <a:ext uri="{FF2B5EF4-FFF2-40B4-BE49-F238E27FC236}">
                <a16:creationId xmlns:a16="http://schemas.microsoft.com/office/drawing/2014/main" id="{CB47ED81-541D-4756-AEBD-16C3EE2C9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000625"/>
            <a:ext cx="8572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0000FF"/>
                </a:solidFill>
              </a:defRPr>
            </a:pPr>
            <a:r>
              <a:rPr sz="1650" b="0" i="0">
                <a:solidFill>
                  <a:srgbClr val="0000FF"/>
                </a:solidFill>
              </a:rPr>
              <a:t>git config --global user.email "you@example.com"</a:t>
            </a:r>
          </a:p>
        </p:txBody>
      </p:sp>
      <p:sp>
        <p:nvSpPr>
          <p:cNvPr id="17" name="takeaway">
            <a:extLst xmlns:a="http://schemas.openxmlformats.org/drawingml/2006/main">
              <a:ext uri="{FF2B5EF4-FFF2-40B4-BE49-F238E27FC236}">
                <a16:creationId xmlns:a16="http://schemas.microsoft.com/office/drawing/2014/main" id="{24510B05-258B-49E9-AB9C-08B8C9026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715000"/>
            <a:ext cx="952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BF0040"/>
                </a:solidFill>
              </a:defRPr>
            </a:pPr>
            <a:r>
              <a:rPr sz="1725" b="1" i="0">
                <a:solidFill>
                  <a:srgbClr val="BF0040"/>
                </a:solidFill>
              </a:rPr>
              <a:t>Use the name and email you want attached to research history.</a:t>
            </a:r>
          </a:p>
        </p:txBody>
      </p:sp>
    </p:spTree>
    <p:extLst>
      <p:ext uri="{BB962C8B-B14F-4D97-AF65-F5344CB8AC3E}">
        <p14:creationId xmlns:p14="http://schemas.microsoft.com/office/powerpoint/2010/main" val="168494951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BB1ADC5-9780-4618-AE57-103389ABB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1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3333B2"/>
                </a:solidFill>
              </a:defRPr>
            </a:pPr>
            <a:r>
              <a:rPr sz="2925" b="1" i="0">
                <a:solidFill>
                  <a:srgbClr val="3333B2"/>
                </a:solidFill>
              </a:rPr>
              <a:t>Install Claude Code, then check the environment</a:t>
            </a:r>
          </a:p>
        </p:txBody>
      </p:sp>
      <p:sp>
        <p:nvSpPr>
          <p:cNvPr id="2" name="rule-68-107">
            <a:extLst xmlns:a="http://schemas.openxmlformats.org/drawingml/2006/main">
              <a:ext uri="{FF2B5EF4-FFF2-40B4-BE49-F238E27FC236}">
                <a16:creationId xmlns:a16="http://schemas.microsoft.com/office/drawing/2014/main" id="{7A521CF8-D266-468F-B257-E6C049590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19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F68B792-618F-46B9-93BB-CA7185206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5C5C69"/>
                </a:solidFill>
              </a:defRPr>
            </a:pPr>
            <a:r>
              <a:rPr sz="825" b="0" i="0">
                <a:solidFill>
                  <a:srgbClr val="5C5C69"/>
                </a:solidFill>
              </a:rPr>
              <a:t>3 / 29</a:t>
            </a:r>
          </a:p>
        </p:txBody>
      </p:sp>
      <p:sp>
        <p:nvSpPr>
          <p:cNvPr id="4" name="native-label">
            <a:extLst xmlns:a="http://schemas.openxmlformats.org/drawingml/2006/main">
              <a:ext uri="{FF2B5EF4-FFF2-40B4-BE49-F238E27FC236}">
                <a16:creationId xmlns:a16="http://schemas.microsoft.com/office/drawing/2014/main" id="{D1D6AFD8-2234-4E6E-B9BC-3905FFAB0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352550"/>
            <a:ext cx="552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macOS / Linux / WSL — native installer</a:t>
            </a:r>
          </a:p>
        </p:txBody>
      </p:sp>
      <p:sp>
        <p:nvSpPr>
          <p:cNvPr id="5" name="native-command">
            <a:extLst xmlns:a="http://schemas.openxmlformats.org/drawingml/2006/main">
              <a:ext uri="{FF2B5EF4-FFF2-40B4-BE49-F238E27FC236}">
                <a16:creationId xmlns:a16="http://schemas.microsoft.com/office/drawing/2014/main" id="{83F3B1F6-DD56-4339-9AF9-40D7CEBFC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52600"/>
            <a:ext cx="781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0000FF"/>
                </a:solidFill>
              </a:defRPr>
            </a:pPr>
            <a:r>
              <a:rPr sz="1425" b="0" i="0">
                <a:solidFill>
                  <a:srgbClr val="0000FF"/>
                </a:solidFill>
              </a:rPr>
              <a:t>curl -fsSL https://claude.ai/install.sh | bash</a:t>
            </a:r>
          </a:p>
        </p:txBody>
      </p:sp>
      <p:sp>
        <p:nvSpPr>
          <p:cNvPr id="6" name="brew-label">
            <a:extLst xmlns:a="http://schemas.openxmlformats.org/drawingml/2006/main">
              <a:ext uri="{FF2B5EF4-FFF2-40B4-BE49-F238E27FC236}">
                <a16:creationId xmlns:a16="http://schemas.microsoft.com/office/drawing/2014/main" id="{0501B766-FC6C-46E3-82A1-2321E174D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0030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macOS — Homebrew alternative</a:t>
            </a:r>
          </a:p>
        </p:txBody>
      </p:sp>
      <p:sp>
        <p:nvSpPr>
          <p:cNvPr id="7" name="brew-command">
            <a:extLst xmlns:a="http://schemas.openxmlformats.org/drawingml/2006/main">
              <a:ext uri="{FF2B5EF4-FFF2-40B4-BE49-F238E27FC236}">
                <a16:creationId xmlns:a16="http://schemas.microsoft.com/office/drawing/2014/main" id="{5EC0186D-A6D7-4F62-90B1-DEEDB9D2F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00350"/>
            <a:ext cx="619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0000FF"/>
                </a:solidFill>
              </a:defRPr>
            </a:pPr>
            <a:r>
              <a:rPr sz="1425" b="0" i="0">
                <a:solidFill>
                  <a:srgbClr val="0000FF"/>
                </a:solidFill>
              </a:rPr>
              <a:t>brew install --cask claude-code</a:t>
            </a:r>
          </a:p>
        </p:txBody>
      </p:sp>
      <p:sp>
        <p:nvSpPr>
          <p:cNvPr id="8" name="windows-label">
            <a:extLst xmlns:a="http://schemas.openxmlformats.org/drawingml/2006/main">
              <a:ext uri="{FF2B5EF4-FFF2-40B4-BE49-F238E27FC236}">
                <a16:creationId xmlns:a16="http://schemas.microsoft.com/office/drawing/2014/main" id="{4539D599-7ED3-46F1-8800-8EDC8B8A3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40030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Windows — WinGet</a:t>
            </a:r>
          </a:p>
        </p:txBody>
      </p:sp>
      <p:sp>
        <p:nvSpPr>
          <p:cNvPr id="9" name="windows-command">
            <a:extLst xmlns:a="http://schemas.openxmlformats.org/drawingml/2006/main">
              <a:ext uri="{FF2B5EF4-FFF2-40B4-BE49-F238E27FC236}">
                <a16:creationId xmlns:a16="http://schemas.microsoft.com/office/drawing/2014/main" id="{5638A521-39A6-4486-B7F5-4BCF03E84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800350"/>
            <a:ext cx="428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0000FF"/>
                </a:solidFill>
              </a:defRPr>
            </a:pPr>
            <a:r>
              <a:rPr sz="1350" b="0" i="0">
                <a:solidFill>
                  <a:srgbClr val="0000FF"/>
                </a:solidFill>
              </a:rPr>
              <a:t>winget install Anthropic.ClaudeCode</a:t>
            </a:r>
          </a:p>
        </p:txBody>
      </p:sp>
      <p:sp>
        <p:nvSpPr>
          <p:cNvPr id="10" name="rule-78-363">
            <a:extLst xmlns:a="http://schemas.openxmlformats.org/drawingml/2006/main">
              <a:ext uri="{FF2B5EF4-FFF2-40B4-BE49-F238E27FC236}">
                <a16:creationId xmlns:a16="http://schemas.microsoft.com/office/drawing/2014/main" id="{06D82766-96D1-41E8-9A13-AFF6BDD87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57575"/>
            <a:ext cx="10648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11" name="verify-label">
            <a:extLst xmlns:a="http://schemas.openxmlformats.org/drawingml/2006/main">
              <a:ext uri="{FF2B5EF4-FFF2-40B4-BE49-F238E27FC236}">
                <a16:creationId xmlns:a16="http://schemas.microsoft.com/office/drawing/2014/main" id="{978C44D3-5B17-4414-A47D-66EC75484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43325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VERIFY + START</a:t>
            </a:r>
          </a:p>
        </p:txBody>
      </p:sp>
      <p:sp>
        <p:nvSpPr>
          <p:cNvPr id="12" name="verify-command">
            <a:extLst xmlns:a="http://schemas.openxmlformats.org/drawingml/2006/main">
              <a:ext uri="{FF2B5EF4-FFF2-40B4-BE49-F238E27FC236}">
                <a16:creationId xmlns:a16="http://schemas.microsoft.com/office/drawing/2014/main" id="{F8DFB95E-7474-4495-8A63-947961D56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71950"/>
            <a:ext cx="952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0000FF"/>
                </a:solidFill>
              </a:defRPr>
            </a:pPr>
            <a:r>
              <a:rPr sz="1650" b="0" i="0">
                <a:solidFill>
                  <a:srgbClr val="0000FF"/>
                </a:solidFill>
              </a:rPr>
              <a:t>claude --version     claude doctor     claude</a:t>
            </a:r>
          </a:p>
        </p:txBody>
      </p:sp>
      <p:sp>
        <p:nvSpPr>
          <p:cNvPr id="13" name="windows-note">
            <a:extLst xmlns:a="http://schemas.openxmlformats.org/drawingml/2006/main">
              <a:ext uri="{FF2B5EF4-FFF2-40B4-BE49-F238E27FC236}">
                <a16:creationId xmlns:a16="http://schemas.microsoft.com/office/drawing/2014/main" id="{91CB4E6E-9A05-4392-B173-7BF504228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10150"/>
            <a:ext cx="10287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17171C"/>
                </a:solidFill>
              </a:defRPr>
            </a:pPr>
            <a:r>
              <a:rPr sz="1725" b="0" i="0">
                <a:solidFill>
                  <a:srgbClr val="17171C"/>
                </a:solidFill>
              </a:rPr>
              <a:t>On Windows, use native Windows with Git for Windows—or run Claude Code inside WSL.</a:t>
            </a:r>
          </a:p>
        </p:txBody>
      </p:sp>
      <p:sp>
        <p:nvSpPr>
          <p:cNvPr id="14" name="takeaway">
            <a:extLst xmlns:a="http://schemas.openxmlformats.org/drawingml/2006/main">
              <a:ext uri="{FF2B5EF4-FFF2-40B4-BE49-F238E27FC236}">
                <a16:creationId xmlns:a16="http://schemas.microsoft.com/office/drawing/2014/main" id="{8A976FAC-A3A6-4BF1-B59A-C45C338B3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753100"/>
            <a:ext cx="666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BF0040"/>
                </a:solidFill>
              </a:defRPr>
            </a:pPr>
            <a:r>
              <a:rPr sz="1725" b="1" i="0">
                <a:solidFill>
                  <a:srgbClr val="BF0040"/>
                </a:solidFill>
              </a:rPr>
              <a:t>Launch from the project directory.</a:t>
            </a:r>
          </a:p>
        </p:txBody>
      </p:sp>
    </p:spTree>
    <p:extLst>
      <p:ext uri="{BB962C8B-B14F-4D97-AF65-F5344CB8AC3E}">
        <p14:creationId xmlns:p14="http://schemas.microsoft.com/office/powerpoint/2010/main" val="63593279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C3A9009-2CFA-48D7-9A1F-6F5598682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1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3333B2"/>
                </a:solidFill>
              </a:defRPr>
            </a:pPr>
            <a:r>
              <a:rPr sz="2925" b="1" i="0">
                <a:solidFill>
                  <a:srgbClr val="3333B2"/>
                </a:solidFill>
              </a:rPr>
              <a:t>Install Codex CLI, then launch it in the project</a:t>
            </a:r>
          </a:p>
        </p:txBody>
      </p:sp>
      <p:sp>
        <p:nvSpPr>
          <p:cNvPr id="2" name="rule-68-107">
            <a:extLst xmlns:a="http://schemas.openxmlformats.org/drawingml/2006/main">
              <a:ext uri="{FF2B5EF4-FFF2-40B4-BE49-F238E27FC236}">
                <a16:creationId xmlns:a16="http://schemas.microsoft.com/office/drawing/2014/main" id="{BB618F54-504B-4062-A721-FD8D5EA86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19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3F28718-8591-44BD-898C-C0C04E506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5C5C69"/>
                </a:solidFill>
              </a:defRPr>
            </a:pPr>
            <a:r>
              <a:rPr sz="825" b="0" i="0">
                <a:solidFill>
                  <a:srgbClr val="5C5C69"/>
                </a:solidFill>
              </a:rPr>
              <a:t>4 / 29</a:t>
            </a:r>
          </a:p>
        </p:txBody>
      </p:sp>
      <p:sp>
        <p:nvSpPr>
          <p:cNvPr id="4" name="unix-label">
            <a:extLst xmlns:a="http://schemas.openxmlformats.org/drawingml/2006/main">
              <a:ext uri="{FF2B5EF4-FFF2-40B4-BE49-F238E27FC236}">
                <a16:creationId xmlns:a16="http://schemas.microsoft.com/office/drawing/2014/main" id="{6FE70753-01D3-45BE-BE23-93711F647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352550"/>
            <a:ext cx="571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macOS / Linux — standalone installer</a:t>
            </a:r>
          </a:p>
        </p:txBody>
      </p:sp>
      <p:sp>
        <p:nvSpPr>
          <p:cNvPr id="5" name="unix-command">
            <a:extLst xmlns:a="http://schemas.openxmlformats.org/drawingml/2006/main">
              <a:ext uri="{FF2B5EF4-FFF2-40B4-BE49-F238E27FC236}">
                <a16:creationId xmlns:a16="http://schemas.microsoft.com/office/drawing/2014/main" id="{E33689ED-8256-49CB-8497-D17999161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5260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0000FF"/>
                </a:solidFill>
              </a:defRPr>
            </a:pPr>
            <a:r>
              <a:rPr sz="1425" b="0" i="0">
                <a:solidFill>
                  <a:srgbClr val="0000FF"/>
                </a:solidFill>
              </a:rPr>
              <a:t>curl -fsSL https://chatgpt.com/codex/install.sh | sh</a:t>
            </a:r>
          </a:p>
        </p:txBody>
      </p:sp>
      <p:sp>
        <p:nvSpPr>
          <p:cNvPr id="6" name="windows-label">
            <a:extLst xmlns:a="http://schemas.openxmlformats.org/drawingml/2006/main">
              <a:ext uri="{FF2B5EF4-FFF2-40B4-BE49-F238E27FC236}">
                <a16:creationId xmlns:a16="http://schemas.microsoft.com/office/drawing/2014/main" id="{82A6FA4B-CD1E-4A30-B98D-427320014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0030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Windows PowerShell</a:t>
            </a:r>
          </a:p>
        </p:txBody>
      </p:sp>
      <p:sp>
        <p:nvSpPr>
          <p:cNvPr id="7" name="windows-command">
            <a:extLst xmlns:a="http://schemas.openxmlformats.org/drawingml/2006/main">
              <a:ext uri="{FF2B5EF4-FFF2-40B4-BE49-F238E27FC236}">
                <a16:creationId xmlns:a16="http://schemas.microsoft.com/office/drawing/2014/main" id="{33E90206-554F-4903-94E7-3DFE347D9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00350"/>
            <a:ext cx="1057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0000FF"/>
                </a:solidFill>
              </a:defRPr>
            </a:pPr>
            <a:r>
              <a:rPr sz="1275" b="0" i="0">
                <a:solidFill>
                  <a:srgbClr val="0000FF"/>
                </a:solidFill>
              </a:rPr>
              <a:t>powershell -ExecutionPolicy ByPass -c "irm https://chatgpt.com/codex/install.ps1 | iex"</a:t>
            </a:r>
          </a:p>
        </p:txBody>
      </p:sp>
      <p:sp>
        <p:nvSpPr>
          <p:cNvPr id="8" name="rule-78-363">
            <a:extLst xmlns:a="http://schemas.openxmlformats.org/drawingml/2006/main">
              <a:ext uri="{FF2B5EF4-FFF2-40B4-BE49-F238E27FC236}">
                <a16:creationId xmlns:a16="http://schemas.microsoft.com/office/drawing/2014/main" id="{0DC2A28D-8BCD-424C-A239-0CA90AC2C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57575"/>
            <a:ext cx="10648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9" name="alternatives-label">
            <a:extLst xmlns:a="http://schemas.openxmlformats.org/drawingml/2006/main">
              <a:ext uri="{FF2B5EF4-FFF2-40B4-BE49-F238E27FC236}">
                <a16:creationId xmlns:a16="http://schemas.microsoft.com/office/drawing/2014/main" id="{18CA28FD-CBA2-4F01-8BA7-D95A58C9A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4332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PACKAGE-MANAGER ALTERNATIVES</a:t>
            </a:r>
          </a:p>
        </p:txBody>
      </p:sp>
      <p:sp>
        <p:nvSpPr>
          <p:cNvPr id="10" name="npm-command">
            <a:extLst xmlns:a="http://schemas.openxmlformats.org/drawingml/2006/main">
              <a:ext uri="{FF2B5EF4-FFF2-40B4-BE49-F238E27FC236}">
                <a16:creationId xmlns:a16="http://schemas.microsoft.com/office/drawing/2014/main" id="{DF766D2E-3881-4707-AA95-74A362B2D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43375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0000FF"/>
                </a:solidFill>
              </a:defRPr>
            </a:pPr>
            <a:r>
              <a:rPr sz="1425" b="0" i="0">
                <a:solidFill>
                  <a:srgbClr val="0000FF"/>
                </a:solidFill>
              </a:rPr>
              <a:t>npm install -g @openai/codex</a:t>
            </a:r>
          </a:p>
        </p:txBody>
      </p:sp>
      <p:sp>
        <p:nvSpPr>
          <p:cNvPr id="11" name="brew-command">
            <a:extLst xmlns:a="http://schemas.openxmlformats.org/drawingml/2006/main">
              <a:ext uri="{FF2B5EF4-FFF2-40B4-BE49-F238E27FC236}">
                <a16:creationId xmlns:a16="http://schemas.microsoft.com/office/drawing/2014/main" id="{34B90227-6131-4EA0-AF78-52F6CAEFD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143375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0000FF"/>
                </a:solidFill>
              </a:defRPr>
            </a:pPr>
            <a:r>
              <a:rPr sz="1425" b="0" i="0">
                <a:solidFill>
                  <a:srgbClr val="0000FF"/>
                </a:solidFill>
              </a:rPr>
              <a:t>brew install --cask codex</a:t>
            </a:r>
          </a:p>
        </p:txBody>
      </p:sp>
      <p:sp>
        <p:nvSpPr>
          <p:cNvPr id="12" name="verify-label">
            <a:extLst xmlns:a="http://schemas.openxmlformats.org/drawingml/2006/main">
              <a:ext uri="{FF2B5EF4-FFF2-40B4-BE49-F238E27FC236}">
                <a16:creationId xmlns:a16="http://schemas.microsoft.com/office/drawing/2014/main" id="{57BF06AF-0B49-48F4-898F-7328B07C2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577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VERIFY + START</a:t>
            </a:r>
          </a:p>
        </p:txBody>
      </p:sp>
      <p:sp>
        <p:nvSpPr>
          <p:cNvPr id="13" name="verify-command">
            <a:extLst xmlns:a="http://schemas.openxmlformats.org/drawingml/2006/main">
              <a:ext uri="{FF2B5EF4-FFF2-40B4-BE49-F238E27FC236}">
                <a16:creationId xmlns:a16="http://schemas.microsoft.com/office/drawing/2014/main" id="{C3C60E54-024E-4EB0-BB34-E975C6443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57800"/>
            <a:ext cx="723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0000FF"/>
                </a:solidFill>
              </a:defRPr>
            </a:pPr>
            <a:r>
              <a:rPr sz="1650" b="0" i="0">
                <a:solidFill>
                  <a:srgbClr val="0000FF"/>
                </a:solidFill>
              </a:rPr>
              <a:t>codex --version          codex</a:t>
            </a:r>
          </a:p>
        </p:txBody>
      </p:sp>
      <p:sp>
        <p:nvSpPr>
          <p:cNvPr id="14" name="takeaway">
            <a:extLst xmlns:a="http://schemas.openxmlformats.org/drawingml/2006/main">
              <a:ext uri="{FF2B5EF4-FFF2-40B4-BE49-F238E27FC236}">
                <a16:creationId xmlns:a16="http://schemas.microsoft.com/office/drawing/2014/main" id="{13BAF469-A18C-4583-8A32-EDBB2E8DC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867400"/>
            <a:ext cx="971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BF0040"/>
                </a:solidFill>
              </a:defRPr>
            </a:pPr>
            <a:r>
              <a:rPr sz="1650" b="1" i="0">
                <a:solidFill>
                  <a:srgbClr val="BF0040"/>
                </a:solidFill>
              </a:rPr>
              <a:t>Use one installation path; duplicate installs can make PATH ambiguous.</a:t>
            </a:r>
          </a:p>
        </p:txBody>
      </p:sp>
    </p:spTree>
    <p:extLst>
      <p:ext uri="{BB962C8B-B14F-4D97-AF65-F5344CB8AC3E}">
        <p14:creationId xmlns:p14="http://schemas.microsoft.com/office/powerpoint/2010/main" val="71568994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33F19C3-1C9F-42CF-96F5-776F6421F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1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3333B2"/>
                </a:solidFill>
              </a:defRPr>
            </a:pPr>
            <a:r>
              <a:rPr sz="2925" b="1" i="0">
                <a:solidFill>
                  <a:srgbClr val="3333B2"/>
                </a:solidFill>
              </a:rPr>
              <a:t>CC Switch: configure providers safely</a:t>
            </a:r>
          </a:p>
        </p:txBody>
      </p:sp>
      <p:sp>
        <p:nvSpPr>
          <p:cNvPr id="2" name="rule-68-107">
            <a:extLst xmlns:a="http://schemas.openxmlformats.org/drawingml/2006/main">
              <a:ext uri="{FF2B5EF4-FFF2-40B4-BE49-F238E27FC236}">
                <a16:creationId xmlns:a16="http://schemas.microsoft.com/office/drawing/2014/main" id="{3D6D9D07-1EE3-46FA-9C17-384CBA26C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19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DFC75AC-26EE-4940-988E-BD19F548A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5C5C69"/>
                </a:solidFill>
              </a:defRPr>
            </a:pPr>
            <a:r>
              <a:rPr sz="825" b="0" i="0">
                <a:solidFill>
                  <a:srgbClr val="5C5C69"/>
                </a:solidFill>
              </a:rPr>
              <a:t>5 / 29</a:t>
            </a:r>
          </a:p>
        </p:txBody>
      </p:sp>
      <p:sp>
        <p:nvSpPr>
          <p:cNvPr id="4" name="mac-label">
            <a:extLst xmlns:a="http://schemas.openxmlformats.org/drawingml/2006/main">
              <a:ext uri="{FF2B5EF4-FFF2-40B4-BE49-F238E27FC236}">
                <a16:creationId xmlns:a16="http://schemas.microsoft.com/office/drawing/2014/main" id="{ED5AD39E-29B9-4190-BD6E-6787B3555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3335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macOS</a:t>
            </a:r>
          </a:p>
        </p:txBody>
      </p:sp>
      <p:sp>
        <p:nvSpPr>
          <p:cNvPr id="5" name="mac-command">
            <a:extLst xmlns:a="http://schemas.openxmlformats.org/drawingml/2006/main">
              <a:ext uri="{FF2B5EF4-FFF2-40B4-BE49-F238E27FC236}">
                <a16:creationId xmlns:a16="http://schemas.microsoft.com/office/drawing/2014/main" id="{C1701198-1ACB-41C4-A5A5-E7D95AAFD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2402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0000FF"/>
                </a:solidFill>
              </a:defRPr>
            </a:pPr>
            <a:r>
              <a:rPr sz="1350" b="0" i="0">
                <a:solidFill>
                  <a:srgbClr val="0000FF"/>
                </a:solidFill>
              </a:rPr>
              <a:t>brew install --cask cc-switch</a:t>
            </a:r>
          </a:p>
        </p:txBody>
      </p:sp>
      <p:sp>
        <p:nvSpPr>
          <p:cNvPr id="6" name="win-label">
            <a:extLst xmlns:a="http://schemas.openxmlformats.org/drawingml/2006/main">
              <a:ext uri="{FF2B5EF4-FFF2-40B4-BE49-F238E27FC236}">
                <a16:creationId xmlns:a16="http://schemas.microsoft.com/office/drawing/2014/main" id="{6E6E0901-04A9-4644-BAA6-6107BF896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13335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Windows</a:t>
            </a:r>
          </a:p>
        </p:txBody>
      </p:sp>
      <p:sp>
        <p:nvSpPr>
          <p:cNvPr id="7" name="win-copy">
            <a:extLst xmlns:a="http://schemas.openxmlformats.org/drawingml/2006/main">
              <a:ext uri="{FF2B5EF4-FFF2-40B4-BE49-F238E27FC236}">
                <a16:creationId xmlns:a16="http://schemas.microsoft.com/office/drawing/2014/main" id="{8DD5CC2C-D03D-485F-8475-CF715C7C9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1724025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7171C"/>
                </a:solidFill>
              </a:defRPr>
            </a:pPr>
            <a:r>
              <a:rPr sz="1500" b="0" i="0">
                <a:solidFill>
                  <a:srgbClr val="17171C"/>
                </a:solidFill>
              </a:rPr>
              <a:t>MSI or Portable ZIP from Releases</a:t>
            </a:r>
          </a:p>
        </p:txBody>
      </p:sp>
      <p:sp>
        <p:nvSpPr>
          <p:cNvPr id="8" name="linux-label">
            <a:extLst xmlns:a="http://schemas.openxmlformats.org/drawingml/2006/main">
              <a:ext uri="{FF2B5EF4-FFF2-40B4-BE49-F238E27FC236}">
                <a16:creationId xmlns:a16="http://schemas.microsoft.com/office/drawing/2014/main" id="{2CB0B7D4-1F5F-42E0-8D21-4CE963259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3335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Linux</a:t>
            </a:r>
          </a:p>
        </p:txBody>
      </p:sp>
      <p:sp>
        <p:nvSpPr>
          <p:cNvPr id="9" name="linux-copy">
            <a:extLst xmlns:a="http://schemas.openxmlformats.org/drawingml/2006/main">
              <a:ext uri="{FF2B5EF4-FFF2-40B4-BE49-F238E27FC236}">
                <a16:creationId xmlns:a16="http://schemas.microsoft.com/office/drawing/2014/main" id="{2A2540CB-B29E-43A1-BE8F-BE902A1F8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724025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7171C"/>
                </a:solidFill>
              </a:defRPr>
            </a:pPr>
            <a:r>
              <a:rPr sz="1500" b="0" i="0">
                <a:solidFill>
                  <a:srgbClr val="17171C"/>
                </a:solidFill>
              </a:rPr>
              <a:t>.deb / .rpm / AppImage</a:t>
            </a:r>
          </a:p>
        </p:txBody>
      </p:sp>
      <p:sp>
        <p:nvSpPr>
          <p:cNvPr id="10" name="rule-78-242">
            <a:extLst xmlns:a="http://schemas.openxmlformats.org/drawingml/2006/main">
              <a:ext uri="{FF2B5EF4-FFF2-40B4-BE49-F238E27FC236}">
                <a16:creationId xmlns:a16="http://schemas.microsoft.com/office/drawing/2014/main" id="{35A31283-2F2E-4F82-86A3-AEA8D7CD9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05050"/>
            <a:ext cx="10648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11" name="workflow-label">
            <a:extLst xmlns:a="http://schemas.openxmlformats.org/drawingml/2006/main">
              <a:ext uri="{FF2B5EF4-FFF2-40B4-BE49-F238E27FC236}">
                <a16:creationId xmlns:a16="http://schemas.microsoft.com/office/drawing/2014/main" id="{629C965D-FC1D-4A31-926F-62A5979BA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90800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FIRST LAUNCH</a:t>
            </a:r>
          </a:p>
        </p:txBody>
      </p:sp>
      <p:sp>
        <p:nvSpPr>
          <p:cNvPr id="12" name="workflow">
            <a:extLst xmlns:a="http://schemas.openxmlformats.org/drawingml/2006/main">
              <a:ext uri="{FF2B5EF4-FFF2-40B4-BE49-F238E27FC236}">
                <a16:creationId xmlns:a16="http://schemas.microsoft.com/office/drawing/2014/main" id="{BF57A54B-EBD6-4AB8-A454-1DD75EC49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1057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7171C"/>
                </a:solidFill>
              </a:defRPr>
            </a:pPr>
            <a:r>
              <a:rPr sz="1800" b="1" i="0">
                <a:solidFill>
                  <a:srgbClr val="17171C"/>
                </a:solidFill>
              </a:rPr>
              <a:t>Import existing configs   →   Add provider   →   Enable   →   Restart the relevant CLI</a:t>
            </a:r>
          </a:p>
        </p:txBody>
      </p:sp>
      <p:sp>
        <p:nvSpPr>
          <p:cNvPr id="13" name="restart-note">
            <a:extLst xmlns:a="http://schemas.openxmlformats.org/drawingml/2006/main">
              <a:ext uri="{FF2B5EF4-FFF2-40B4-BE49-F238E27FC236}">
                <a16:creationId xmlns:a16="http://schemas.microsoft.com/office/drawing/2014/main" id="{FDF9B697-D1F1-48DB-B663-9F097626A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29025"/>
            <a:ext cx="1009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5C5C69"/>
                </a:solidFill>
              </a:defRPr>
            </a:pPr>
            <a:r>
              <a:rPr sz="1575" b="0" i="0">
                <a:solidFill>
                  <a:srgbClr val="5C5C69"/>
                </a:solidFill>
              </a:rPr>
              <a:t>Claude Code can hot-switch; restart other relevant CLI tools when prompted.</a:t>
            </a:r>
          </a:p>
        </p:txBody>
      </p:sp>
      <p:sp>
        <p:nvSpPr>
          <p:cNvPr id="14" name="safety-band">
            <a:extLst xmlns:a="http://schemas.openxmlformats.org/drawingml/2006/main">
              <a:ext uri="{FF2B5EF4-FFF2-40B4-BE49-F238E27FC236}">
                <a16:creationId xmlns:a16="http://schemas.microsoft.com/office/drawing/2014/main" id="{A56717A3-044A-4930-9660-FD19DD4BD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29125"/>
            <a:ext cx="106489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safety-title">
            <a:extLst xmlns:a="http://schemas.openxmlformats.org/drawingml/2006/main">
              <a:ext uri="{FF2B5EF4-FFF2-40B4-BE49-F238E27FC236}">
                <a16:creationId xmlns:a16="http://schemas.microsoft.com/office/drawing/2014/main" id="{E4099D7C-73BD-410A-970A-702692CD6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600575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FF0000"/>
                </a:solidFill>
              </a:defRPr>
            </a:pPr>
            <a:r>
              <a:rPr sz="1575" b="1" i="0">
                <a:solidFill>
                  <a:srgbClr val="FF0000"/>
                </a:solidFill>
              </a:rPr>
              <a:t>INSTALL ONLY FROM OFFICIAL CHANNELS</a:t>
            </a:r>
          </a:p>
        </p:txBody>
      </p:sp>
      <p:sp>
        <p:nvSpPr>
          <p:cNvPr id="16" name="official">
            <a:extLst xmlns:a="http://schemas.openxmlformats.org/drawingml/2006/main">
              <a:ext uri="{FF2B5EF4-FFF2-40B4-BE49-F238E27FC236}">
                <a16:creationId xmlns:a16="http://schemas.microsoft.com/office/drawing/2014/main" id="{DADFD875-C3F6-4CE8-BB74-743A3FC94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981575"/>
            <a:ext cx="8858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0000FF"/>
                </a:solidFill>
              </a:defRPr>
            </a:pPr>
            <a:r>
              <a:rPr sz="1650" b="0" i="0">
                <a:solidFill>
                  <a:srgbClr val="0000FF"/>
                </a:solidFill>
              </a:rPr>
              <a:t>github.com/farion1231/cc-switch   •   ccswitch.io</a:t>
            </a:r>
          </a:p>
        </p:txBody>
      </p:sp>
      <p:sp>
        <p:nvSpPr>
          <p:cNvPr id="17" name="keys">
            <a:extLst xmlns:a="http://schemas.openxmlformats.org/drawingml/2006/main">
              <a:ext uri="{FF2B5EF4-FFF2-40B4-BE49-F238E27FC236}">
                <a16:creationId xmlns:a16="http://schemas.microsoft.com/office/drawing/2014/main" id="{2E6B779E-4328-475D-B1D5-F7414F152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3530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FF0000"/>
                </a:solidFill>
              </a:defRPr>
            </a:pPr>
            <a:r>
              <a:rPr sz="1650" b="1" i="0">
                <a:solidFill>
                  <a:srgbClr val="FF0000"/>
                </a:solidFill>
              </a:rPr>
              <a:t>Never commit API keys or provider credentials.</a:t>
            </a:r>
          </a:p>
        </p:txBody>
      </p:sp>
    </p:spTree>
    <p:extLst>
      <p:ext uri="{BB962C8B-B14F-4D97-AF65-F5344CB8AC3E}">
        <p14:creationId xmlns:p14="http://schemas.microsoft.com/office/powerpoint/2010/main" val="72707949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9DBD758-4375-4274-97D1-EE907E527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1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3333B2"/>
                </a:solidFill>
              </a:defRPr>
            </a:pPr>
            <a:r>
              <a:rPr sz="2925" b="1" i="0">
                <a:solidFill>
                  <a:srgbClr val="3333B2"/>
                </a:solidFill>
              </a:rPr>
              <a:t>A 90-second setup check before the lab</a:t>
            </a:r>
          </a:p>
        </p:txBody>
      </p:sp>
      <p:sp>
        <p:nvSpPr>
          <p:cNvPr id="2" name="rule-68-107">
            <a:extLst xmlns:a="http://schemas.openxmlformats.org/drawingml/2006/main">
              <a:ext uri="{FF2B5EF4-FFF2-40B4-BE49-F238E27FC236}">
                <a16:creationId xmlns:a16="http://schemas.microsoft.com/office/drawing/2014/main" id="{8D067709-5A8F-4036-B1B6-0F8F48DD3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19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09EC22B-6844-4CBE-B288-96C84AFDB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5C5C69"/>
                </a:solidFill>
              </a:defRPr>
            </a:pPr>
            <a:r>
              <a:rPr sz="825" b="0" i="0">
                <a:solidFill>
                  <a:srgbClr val="5C5C69"/>
                </a:solidFill>
              </a:rPr>
              <a:t>6 / 29</a:t>
            </a:r>
          </a:p>
        </p:txBody>
      </p:sp>
      <p:sp>
        <p:nvSpPr>
          <p:cNvPr id="4" name="check1">
            <a:extLst xmlns:a="http://schemas.openxmlformats.org/drawingml/2006/main">
              <a:ext uri="{FF2B5EF4-FFF2-40B4-BE49-F238E27FC236}">
                <a16:creationId xmlns:a16="http://schemas.microsoft.com/office/drawing/2014/main" id="{9B586F92-5C82-4F7D-BC90-D5257CED5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352550"/>
            <a:ext cx="4572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 i="0">
                <a:solidFill>
                  <a:srgbClr val="3333B2"/>
                </a:solidFill>
              </a:defRPr>
            </a:pPr>
            <a:r>
              <a:rPr sz="2400" b="1" i="0">
                <a:solidFill>
                  <a:srgbClr val="3333B2"/>
                </a:solidFill>
              </a:rPr>
              <a:t>1</a:t>
            </a:r>
          </a:p>
        </p:txBody>
      </p:sp>
      <p:sp>
        <p:nvSpPr>
          <p:cNvPr id="5" name="check1-command">
            <a:extLst xmlns:a="http://schemas.openxmlformats.org/drawingml/2006/main">
              <a:ext uri="{FF2B5EF4-FFF2-40B4-BE49-F238E27FC236}">
                <a16:creationId xmlns:a16="http://schemas.microsoft.com/office/drawing/2014/main" id="{DDCED6D4-31AC-4B98-8E2B-8B460D6B6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1381125"/>
            <a:ext cx="914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0000FF"/>
                </a:solidFill>
              </a:defRPr>
            </a:pPr>
            <a:r>
              <a:rPr sz="1575" b="0" i="0">
                <a:solidFill>
                  <a:srgbClr val="0000FF"/>
                </a:solidFill>
              </a:rPr>
              <a:t>git --version    claude --version    codex --version</a:t>
            </a:r>
          </a:p>
        </p:txBody>
      </p:sp>
      <p:sp>
        <p:nvSpPr>
          <p:cNvPr id="6" name="check2">
            <a:extLst xmlns:a="http://schemas.openxmlformats.org/drawingml/2006/main">
              <a:ext uri="{FF2B5EF4-FFF2-40B4-BE49-F238E27FC236}">
                <a16:creationId xmlns:a16="http://schemas.microsoft.com/office/drawing/2014/main" id="{A4F5D38F-C008-4433-9004-01AAF7EFB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43125"/>
            <a:ext cx="4572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 i="0">
                <a:solidFill>
                  <a:srgbClr val="3333B2"/>
                </a:solidFill>
              </a:defRPr>
            </a:pPr>
            <a:r>
              <a:rPr sz="2400" b="1" i="0">
                <a:solidFill>
                  <a:srgbClr val="3333B2"/>
                </a:solidFill>
              </a:rPr>
              <a:t>2</a:t>
            </a:r>
          </a:p>
        </p:txBody>
      </p:sp>
      <p:sp>
        <p:nvSpPr>
          <p:cNvPr id="7" name="check2-command">
            <a:extLst xmlns:a="http://schemas.openxmlformats.org/drawingml/2006/main">
              <a:ext uri="{FF2B5EF4-FFF2-40B4-BE49-F238E27FC236}">
                <a16:creationId xmlns:a16="http://schemas.microsoft.com/office/drawing/2014/main" id="{47F78874-4580-433A-B758-5AC16702D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171700"/>
            <a:ext cx="476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0000FF"/>
                </a:solidFill>
              </a:defRPr>
            </a:pPr>
            <a:r>
              <a:rPr sz="1575" b="0" i="0">
                <a:solidFill>
                  <a:srgbClr val="0000FF"/>
                </a:solidFill>
              </a:rPr>
              <a:t>claude doctor</a:t>
            </a:r>
          </a:p>
        </p:txBody>
      </p:sp>
      <p:sp>
        <p:nvSpPr>
          <p:cNvPr id="8" name="check3">
            <a:extLst xmlns:a="http://schemas.openxmlformats.org/drawingml/2006/main">
              <a:ext uri="{FF2B5EF4-FFF2-40B4-BE49-F238E27FC236}">
                <a16:creationId xmlns:a16="http://schemas.microsoft.com/office/drawing/2014/main" id="{E6914BC1-9522-47E7-9049-C00E83CE0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33700"/>
            <a:ext cx="4572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 i="0">
                <a:solidFill>
                  <a:srgbClr val="3333B2"/>
                </a:solidFill>
              </a:defRPr>
            </a:pPr>
            <a:r>
              <a:rPr sz="2400" b="1" i="0">
                <a:solidFill>
                  <a:srgbClr val="3333B2"/>
                </a:solidFill>
              </a:rPr>
              <a:t>3</a:t>
            </a:r>
          </a:p>
        </p:txBody>
      </p:sp>
      <p:sp>
        <p:nvSpPr>
          <p:cNvPr id="9" name="check3-copy">
            <a:extLst xmlns:a="http://schemas.openxmlformats.org/drawingml/2006/main">
              <a:ext uri="{FF2B5EF4-FFF2-40B4-BE49-F238E27FC236}">
                <a16:creationId xmlns:a16="http://schemas.microsoft.com/office/drawing/2014/main" id="{0DD1A40B-65DB-43DB-97F5-E766FBF70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962275"/>
            <a:ext cx="923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17171C"/>
                </a:solidFill>
              </a:defRPr>
            </a:pPr>
            <a:r>
              <a:rPr sz="1800" b="0" i="0">
                <a:solidFill>
                  <a:srgbClr val="17171C"/>
                </a:solidFill>
              </a:rPr>
              <a:t>Open the lab project; launch claude and codex there.</a:t>
            </a:r>
          </a:p>
        </p:txBody>
      </p:sp>
      <p:sp>
        <p:nvSpPr>
          <p:cNvPr id="10" name="check4">
            <a:extLst xmlns:a="http://schemas.openxmlformats.org/drawingml/2006/main">
              <a:ext uri="{FF2B5EF4-FFF2-40B4-BE49-F238E27FC236}">
                <a16:creationId xmlns:a16="http://schemas.microsoft.com/office/drawing/2014/main" id="{1FAD1AA4-B0EE-4D7A-AB6A-E8A0880B8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24275"/>
            <a:ext cx="4572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 i="0">
                <a:solidFill>
                  <a:srgbClr val="3333B2"/>
                </a:solidFill>
              </a:defRPr>
            </a:pPr>
            <a:r>
              <a:rPr sz="2400" b="1" i="0">
                <a:solidFill>
                  <a:srgbClr val="3333B2"/>
                </a:solidFill>
              </a:rPr>
              <a:t>4</a:t>
            </a:r>
          </a:p>
        </p:txBody>
      </p:sp>
      <p:sp>
        <p:nvSpPr>
          <p:cNvPr id="11" name="check4-copy">
            <a:extLst xmlns:a="http://schemas.openxmlformats.org/drawingml/2006/main">
              <a:ext uri="{FF2B5EF4-FFF2-40B4-BE49-F238E27FC236}">
                <a16:creationId xmlns:a16="http://schemas.microsoft.com/office/drawing/2014/main" id="{B1269374-70FD-4D34-AA68-79895F561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752850"/>
            <a:ext cx="923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17171C"/>
                </a:solidFill>
              </a:defRPr>
            </a:pPr>
            <a:r>
              <a:rPr sz="1800" b="0" i="0">
                <a:solidFill>
                  <a:srgbClr val="17171C"/>
                </a:solidFill>
              </a:rPr>
              <a:t>Confirm CC Switch shows the provider you intend to use.</a:t>
            </a:r>
          </a:p>
        </p:txBody>
      </p:sp>
      <p:sp>
        <p:nvSpPr>
          <p:cNvPr id="12" name="check5">
            <a:extLst xmlns:a="http://schemas.openxmlformats.org/drawingml/2006/main">
              <a:ext uri="{FF2B5EF4-FFF2-40B4-BE49-F238E27FC236}">
                <a16:creationId xmlns:a16="http://schemas.microsoft.com/office/drawing/2014/main" id="{E7B54452-7449-491C-A286-A930E531B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14850"/>
            <a:ext cx="4572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 i="0">
                <a:solidFill>
                  <a:srgbClr val="3333B2"/>
                </a:solidFill>
              </a:defRPr>
            </a:pPr>
            <a:r>
              <a:rPr sz="2400" b="1" i="0">
                <a:solidFill>
                  <a:srgbClr val="3333B2"/>
                </a:solidFill>
              </a:rPr>
              <a:t>5</a:t>
            </a:r>
          </a:p>
        </p:txBody>
      </p:sp>
      <p:sp>
        <p:nvSpPr>
          <p:cNvPr id="13" name="check5-copy">
            <a:extLst xmlns:a="http://schemas.openxmlformats.org/drawingml/2006/main">
              <a:ext uri="{FF2B5EF4-FFF2-40B4-BE49-F238E27FC236}">
                <a16:creationId xmlns:a16="http://schemas.microsoft.com/office/drawing/2014/main" id="{7779B75B-76C0-4BA9-81B2-299F6AD87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543425"/>
            <a:ext cx="923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FF0000"/>
                </a:solidFill>
              </a:defRPr>
            </a:pPr>
            <a:r>
              <a:rPr sz="1800" b="1" i="0">
                <a:solidFill>
                  <a:srgbClr val="FF0000"/>
                </a:solidFill>
              </a:rPr>
              <a:t>Keep credentials local—never add them to the repository.</a:t>
            </a:r>
          </a:p>
        </p:txBody>
      </p:sp>
      <p:sp>
        <p:nvSpPr>
          <p:cNvPr id="14" name="takeaway">
            <a:extLst xmlns:a="http://schemas.openxmlformats.org/drawingml/2006/main">
              <a:ext uri="{FF2B5EF4-FFF2-40B4-BE49-F238E27FC236}">
                <a16:creationId xmlns:a16="http://schemas.microsoft.com/office/drawing/2014/main" id="{6F5E881A-A4C0-4330-96D5-70A84990F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48325"/>
            <a:ext cx="857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BF0040"/>
                </a:solidFill>
              </a:defRPr>
            </a:pPr>
            <a:r>
              <a:rPr sz="2025" b="1" i="0">
                <a:solidFill>
                  <a:srgbClr val="BF0040"/>
                </a:solidFill>
              </a:rPr>
              <a:t>If any check fails, stop here and ask for help.</a:t>
            </a:r>
          </a:p>
        </p:txBody>
      </p:sp>
    </p:spTree>
    <p:extLst>
      <p:ext uri="{BB962C8B-B14F-4D97-AF65-F5344CB8AC3E}">
        <p14:creationId xmlns:p14="http://schemas.microsoft.com/office/powerpoint/2010/main" val="206338968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A5BB3F4-0EC0-45A2-8C19-360C9B87A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1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3333B2"/>
                </a:solidFill>
              </a:defRPr>
            </a:pPr>
            <a:r>
              <a:rPr sz="2925" b="1" i="0">
                <a:solidFill>
                  <a:srgbClr val="3333B2"/>
                </a:solidFill>
              </a:rPr>
              <a:t>Add StatsClaw to Codex</a:t>
            </a:r>
          </a:p>
        </p:txBody>
      </p:sp>
      <p:sp>
        <p:nvSpPr>
          <p:cNvPr id="2" name="rule-68-107">
            <a:extLst xmlns:a="http://schemas.openxmlformats.org/drawingml/2006/main">
              <a:ext uri="{FF2B5EF4-FFF2-40B4-BE49-F238E27FC236}">
                <a16:creationId xmlns:a16="http://schemas.microsoft.com/office/drawing/2014/main" id="{174E3471-E68E-409C-A153-114437FCE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19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895D87F-4769-42E8-858D-06CA38AE9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5C5C69"/>
                </a:solidFill>
              </a:defRPr>
            </a:pPr>
            <a:r>
              <a:rPr sz="825" b="0" i="0">
                <a:solidFill>
                  <a:srgbClr val="5C5C69"/>
                </a:solidFill>
              </a:rPr>
              <a:t>7 / 29</a:t>
            </a:r>
          </a:p>
        </p:txBody>
      </p:sp>
      <p:sp>
        <p:nvSpPr>
          <p:cNvPr id="4" name="prereq-label">
            <a:extLst xmlns:a="http://schemas.openxmlformats.org/drawingml/2006/main">
              <a:ext uri="{FF2B5EF4-FFF2-40B4-BE49-F238E27FC236}">
                <a16:creationId xmlns:a16="http://schemas.microsoft.com/office/drawing/2014/main" id="{C4C9015C-A4C2-4B63-8B58-EEC509F86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3144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PREREQUISITES</a:t>
            </a:r>
          </a:p>
        </p:txBody>
      </p:sp>
      <p:sp>
        <p:nvSpPr>
          <p:cNvPr id="5" name="prereq-copy">
            <a:extLst xmlns:a="http://schemas.openxmlformats.org/drawingml/2006/main">
              <a:ext uri="{FF2B5EF4-FFF2-40B4-BE49-F238E27FC236}">
                <a16:creationId xmlns:a16="http://schemas.microsoft.com/office/drawing/2014/main" id="{CEDBFF01-D4E1-4D4D-A2F3-64AB782EB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13144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7171C"/>
                </a:solidFill>
              </a:defRPr>
            </a:pPr>
            <a:r>
              <a:rPr sz="1725" b="1" i="0">
                <a:solidFill>
                  <a:srgbClr val="17171C"/>
                </a:solidFill>
              </a:rPr>
              <a:t>Git + Codex CLI</a:t>
            </a:r>
          </a:p>
        </p:txBody>
      </p:sp>
      <p:sp>
        <p:nvSpPr>
          <p:cNvPr id="6" name="recommended-label">
            <a:extLst xmlns:a="http://schemas.openxmlformats.org/drawingml/2006/main">
              <a:ext uri="{FF2B5EF4-FFF2-40B4-BE49-F238E27FC236}">
                <a16:creationId xmlns:a16="http://schemas.microsoft.com/office/drawing/2014/main" id="{B5ECF34E-5734-4ED7-B695-E0393AB40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0500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RECOMMENDED INSTALLER</a:t>
            </a:r>
          </a:p>
        </p:txBody>
      </p:sp>
      <p:sp>
        <p:nvSpPr>
          <p:cNvPr id="7" name="recommended-command">
            <a:extLst xmlns:a="http://schemas.openxmlformats.org/drawingml/2006/main">
              <a:ext uri="{FF2B5EF4-FFF2-40B4-BE49-F238E27FC236}">
                <a16:creationId xmlns:a16="http://schemas.microsoft.com/office/drawing/2014/main" id="{A3FCBC84-F25B-4E1C-83B8-2C6BC8B30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24100"/>
            <a:ext cx="1066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0000FF"/>
                </a:solidFill>
              </a:defRPr>
            </a:pPr>
            <a:r>
              <a:rPr sz="1275" b="0" i="0">
                <a:solidFill>
                  <a:srgbClr val="0000FF"/>
                </a:solidFill>
              </a:rPr>
              <a:t>curl -fsSL https://raw.githubusercontent.com/statsclaw/statsclaw-codex/main/install-remote.sh | bash</a:t>
            </a:r>
          </a:p>
        </p:txBody>
      </p:sp>
      <p:sp>
        <p:nvSpPr>
          <p:cNvPr id="8" name="rule-78-307">
            <a:extLst xmlns:a="http://schemas.openxmlformats.org/drawingml/2006/main">
              <a:ext uri="{FF2B5EF4-FFF2-40B4-BE49-F238E27FC236}">
                <a16:creationId xmlns:a16="http://schemas.microsoft.com/office/drawing/2014/main" id="{2E587F26-1B0E-4D16-A262-8E822DDF1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24175"/>
            <a:ext cx="10648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9" name="new-terminal">
            <a:extLst xmlns:a="http://schemas.openxmlformats.org/drawingml/2006/main">
              <a:ext uri="{FF2B5EF4-FFF2-40B4-BE49-F238E27FC236}">
                <a16:creationId xmlns:a16="http://schemas.microsoft.com/office/drawing/2014/main" id="{2597CE05-920A-4C98-9299-D02871E7C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81350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FF0000"/>
                </a:solidFill>
              </a:defRPr>
            </a:pPr>
            <a:r>
              <a:rPr sz="1650" b="1" i="0">
                <a:solidFill>
                  <a:srgbClr val="FF0000"/>
                </a:solidFill>
              </a:rPr>
              <a:t>Open a NEW terminal</a:t>
            </a:r>
          </a:p>
        </p:txBody>
      </p:sp>
      <p:sp>
        <p:nvSpPr>
          <p:cNvPr id="10" name="install-sequence">
            <a:extLst xmlns:a="http://schemas.openxmlformats.org/drawingml/2006/main">
              <a:ext uri="{FF2B5EF4-FFF2-40B4-BE49-F238E27FC236}">
                <a16:creationId xmlns:a16="http://schemas.microsoft.com/office/drawing/2014/main" id="{C7F3FDBF-082A-4B34-925E-C1612D245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81350"/>
            <a:ext cx="7524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000FF"/>
                </a:solidFill>
              </a:defRPr>
            </a:pPr>
            <a:r>
              <a:rPr sz="1650" b="1" i="0">
                <a:solidFill>
                  <a:srgbClr val="0000FF"/>
                </a:solidFill>
              </a:rPr>
              <a:t>codex   →   /plugins   →   install statsclaw</a:t>
            </a:r>
          </a:p>
        </p:txBody>
      </p:sp>
      <p:sp>
        <p:nvSpPr>
          <p:cNvPr id="11" name="verify-label">
            <a:extLst xmlns:a="http://schemas.openxmlformats.org/drawingml/2006/main">
              <a:ext uri="{FF2B5EF4-FFF2-40B4-BE49-F238E27FC236}">
                <a16:creationId xmlns:a16="http://schemas.microsoft.com/office/drawing/2014/main" id="{B269F984-F0BD-4267-9FE7-DE673F26D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76675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VERIFY</a:t>
            </a:r>
          </a:p>
        </p:txBody>
      </p:sp>
      <p:sp>
        <p:nvSpPr>
          <p:cNvPr id="12" name="verify-copy">
            <a:extLst xmlns:a="http://schemas.openxmlformats.org/drawingml/2006/main">
              <a:ext uri="{FF2B5EF4-FFF2-40B4-BE49-F238E27FC236}">
                <a16:creationId xmlns:a16="http://schemas.microsoft.com/office/drawing/2014/main" id="{81B18794-755C-431F-A238-97213DF92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876675"/>
            <a:ext cx="809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7171C"/>
                </a:solidFill>
              </a:defRPr>
            </a:pPr>
            <a:r>
              <a:rPr sz="1650" b="1" i="0">
                <a:solidFill>
                  <a:srgbClr val="17171C"/>
                </a:solidFill>
              </a:rPr>
              <a:t>Run the StatsClaw review workflow: $review</a:t>
            </a:r>
          </a:p>
        </p:txBody>
      </p:sp>
      <p:sp>
        <p:nvSpPr>
          <p:cNvPr id="13" name="manual-label">
            <a:extLst xmlns:a="http://schemas.openxmlformats.org/drawingml/2006/main">
              <a:ext uri="{FF2B5EF4-FFF2-40B4-BE49-F238E27FC236}">
                <a16:creationId xmlns:a16="http://schemas.microsoft.com/office/drawing/2014/main" id="{916F14DA-8732-4B88-8C18-E79BD9EC8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482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MANUAL ALTERNATIVE</a:t>
            </a:r>
          </a:p>
        </p:txBody>
      </p:sp>
      <p:sp>
        <p:nvSpPr>
          <p:cNvPr id="14" name="manual-command1">
            <a:extLst xmlns:a="http://schemas.openxmlformats.org/drawingml/2006/main">
              <a:ext uri="{FF2B5EF4-FFF2-40B4-BE49-F238E27FC236}">
                <a16:creationId xmlns:a16="http://schemas.microsoft.com/office/drawing/2014/main" id="{EBAF7186-13AF-4FAA-A950-A81AEA176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48250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0000FF"/>
                </a:solidFill>
              </a:defRPr>
            </a:pPr>
            <a:r>
              <a:rPr sz="1275" b="0" i="0">
                <a:solidFill>
                  <a:srgbClr val="0000FF"/>
                </a:solidFill>
              </a:rPr>
              <a:t>git clone https://github.com/statsclaw/statsclaw-codex ~/.codex/plugins/statsclaw</a:t>
            </a:r>
          </a:p>
        </p:txBody>
      </p:sp>
      <p:sp>
        <p:nvSpPr>
          <p:cNvPr id="15" name="manual-command2">
            <a:extLst xmlns:a="http://schemas.openxmlformats.org/drawingml/2006/main">
              <a:ext uri="{FF2B5EF4-FFF2-40B4-BE49-F238E27FC236}">
                <a16:creationId xmlns:a16="http://schemas.microsoft.com/office/drawing/2014/main" id="{FA33F1B4-DF59-4644-AEFC-A20B40E21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42925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0000FF"/>
                </a:solidFill>
              </a:defRPr>
            </a:pPr>
            <a:r>
              <a:rPr sz="1350" b="0" i="0">
                <a:solidFill>
                  <a:srgbClr val="0000FF"/>
                </a:solidFill>
              </a:rPr>
              <a:t>bash ~/.codex/plugins/statsclaw/install.sh</a:t>
            </a:r>
          </a:p>
        </p:txBody>
      </p:sp>
      <p:sp>
        <p:nvSpPr>
          <p:cNvPr id="16" name="takeaway">
            <a:extLst xmlns:a="http://schemas.openxmlformats.org/drawingml/2006/main">
              <a:ext uri="{FF2B5EF4-FFF2-40B4-BE49-F238E27FC236}">
                <a16:creationId xmlns:a16="http://schemas.microsoft.com/office/drawing/2014/main" id="{910C379B-8C0D-4C40-8E2B-C453479A0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953125"/>
            <a:ext cx="990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BF0040"/>
                </a:solidFill>
              </a:defRPr>
            </a:pPr>
            <a:r>
              <a:rPr sz="1575" b="1" i="0">
                <a:solidFill>
                  <a:srgbClr val="BF0040"/>
                </a:solidFill>
              </a:rPr>
              <a:t>Installation changes your Codex environment—not the workshop repository.</a:t>
            </a:r>
          </a:p>
        </p:txBody>
      </p:sp>
    </p:spTree>
    <p:extLst>
      <p:ext uri="{BB962C8B-B14F-4D97-AF65-F5344CB8AC3E}">
        <p14:creationId xmlns:p14="http://schemas.microsoft.com/office/powerpoint/2010/main" val="10617719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39581CC-9FF2-4666-A22A-FCEFC097C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1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3333B2"/>
                </a:solidFill>
              </a:defRPr>
            </a:pPr>
            <a:r>
              <a:rPr sz="2925" b="1" i="0">
                <a:solidFill>
                  <a:srgbClr val="3333B2"/>
                </a:solidFill>
              </a:rPr>
              <a:t>Download the workshop data from the class branch</a:t>
            </a:r>
          </a:p>
        </p:txBody>
      </p:sp>
      <p:sp>
        <p:nvSpPr>
          <p:cNvPr id="2" name="rule-68-107">
            <a:extLst xmlns:a="http://schemas.openxmlformats.org/drawingml/2006/main">
              <a:ext uri="{FF2B5EF4-FFF2-40B4-BE49-F238E27FC236}">
                <a16:creationId xmlns:a16="http://schemas.microsoft.com/office/drawing/2014/main" id="{B233E24B-C9F6-4C62-90F9-2AE269154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19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3A97279-D3A2-4F66-A22D-BE9C4CCC7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5C5C69"/>
                </a:solidFill>
              </a:defRPr>
            </a:pPr>
            <a:r>
              <a:rPr sz="825" b="0" i="0">
                <a:solidFill>
                  <a:srgbClr val="5C5C69"/>
                </a:solidFill>
              </a:rPr>
              <a:t>8 / 29</a:t>
            </a:r>
          </a:p>
        </p:txBody>
      </p:sp>
      <p:sp>
        <p:nvSpPr>
          <p:cNvPr id="4" name="first-label">
            <a:extLst xmlns:a="http://schemas.openxmlformats.org/drawingml/2006/main">
              <a:ext uri="{FF2B5EF4-FFF2-40B4-BE49-F238E27FC236}">
                <a16:creationId xmlns:a16="http://schemas.microsoft.com/office/drawing/2014/main" id="{A003A299-7C41-480E-840E-55D5DF554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29540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FIRST TIME — CLONE THE CLASS BRANCH</a:t>
            </a:r>
          </a:p>
        </p:txBody>
      </p:sp>
      <p:sp>
        <p:nvSpPr>
          <p:cNvPr id="5" name="clone-command">
            <a:extLst xmlns:a="http://schemas.openxmlformats.org/drawingml/2006/main">
              <a:ext uri="{FF2B5EF4-FFF2-40B4-BE49-F238E27FC236}">
                <a16:creationId xmlns:a16="http://schemas.microsoft.com/office/drawing/2014/main" id="{5D6B2629-C107-450C-B5CC-148332CAC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95450"/>
            <a:ext cx="1057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0000FF"/>
                </a:solidFill>
              </a:defRPr>
            </a:pPr>
            <a:r>
              <a:rPr sz="1200" b="0" i="0">
                <a:solidFill>
                  <a:srgbClr val="0000FF"/>
                </a:solidFill>
              </a:rPr>
              <a:t>git clone --branch codex/afternoon-lab --single-branch https://github.com/kprinceing/workspace.git</a:t>
            </a:r>
          </a:p>
        </p:txBody>
      </p:sp>
      <p:sp>
        <p:nvSpPr>
          <p:cNvPr id="6" name="cd-command">
            <a:extLst xmlns:a="http://schemas.openxmlformats.org/drawingml/2006/main">
              <a:ext uri="{FF2B5EF4-FFF2-40B4-BE49-F238E27FC236}">
                <a16:creationId xmlns:a16="http://schemas.microsoft.com/office/drawing/2014/main" id="{39130A40-C604-4DB8-9963-9689FCA3F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43125"/>
            <a:ext cx="781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0000FF"/>
                </a:solidFill>
              </a:defRPr>
            </a:pPr>
            <a:r>
              <a:rPr sz="1425" b="0" i="0">
                <a:solidFill>
                  <a:srgbClr val="0000FF"/>
                </a:solidFill>
              </a:rPr>
              <a:t>cd "workspace/summer school/afternoon_lab"</a:t>
            </a:r>
          </a:p>
        </p:txBody>
      </p:sp>
      <p:sp>
        <p:nvSpPr>
          <p:cNvPr id="7" name="ls-command">
            <a:extLst xmlns:a="http://schemas.openxmlformats.org/drawingml/2006/main">
              <a:ext uri="{FF2B5EF4-FFF2-40B4-BE49-F238E27FC236}">
                <a16:creationId xmlns:a16="http://schemas.microsoft.com/office/drawing/2014/main" id="{91237273-9846-4A42-9177-546199FBD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336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0000FF"/>
                </a:solidFill>
              </a:defRPr>
            </a:pPr>
            <a:r>
              <a:rPr sz="1425" b="0" i="0">
                <a:solidFill>
                  <a:srgbClr val="0000FF"/>
                </a:solidFill>
              </a:rPr>
              <a:t>ls data/</a:t>
            </a:r>
          </a:p>
        </p:txBody>
      </p:sp>
      <p:sp>
        <p:nvSpPr>
          <p:cNvPr id="8" name="rule-78-307">
            <a:extLst xmlns:a="http://schemas.openxmlformats.org/drawingml/2006/main">
              <a:ext uri="{FF2B5EF4-FFF2-40B4-BE49-F238E27FC236}">
                <a16:creationId xmlns:a16="http://schemas.microsoft.com/office/drawing/2014/main" id="{95071B47-1F1B-444F-ABAD-0CBB329C8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24175"/>
            <a:ext cx="10648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9" name="existing-label">
            <a:extLst xmlns:a="http://schemas.openxmlformats.org/drawingml/2006/main">
              <a:ext uri="{FF2B5EF4-FFF2-40B4-BE49-F238E27FC236}">
                <a16:creationId xmlns:a16="http://schemas.microsoft.com/office/drawing/2014/main" id="{F084D16C-5D93-42FF-BA7D-66F868501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09925"/>
            <a:ext cx="609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ALREADY CLONED — UPDATE TO THE CLASS BRANCH</a:t>
            </a:r>
          </a:p>
        </p:txBody>
      </p:sp>
      <p:sp>
        <p:nvSpPr>
          <p:cNvPr id="10" name="switch-command">
            <a:extLst xmlns:a="http://schemas.openxmlformats.org/drawingml/2006/main">
              <a:ext uri="{FF2B5EF4-FFF2-40B4-BE49-F238E27FC236}">
                <a16:creationId xmlns:a16="http://schemas.microsoft.com/office/drawing/2014/main" id="{E5309CD6-D651-47A2-989F-0C41AA250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09975"/>
            <a:ext cx="666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0000FF"/>
                </a:solidFill>
              </a:defRPr>
            </a:pPr>
            <a:r>
              <a:rPr sz="1425" b="0" i="0">
                <a:solidFill>
                  <a:srgbClr val="0000FF"/>
                </a:solidFill>
              </a:rPr>
              <a:t>git switch codex/afternoon-lab</a:t>
            </a:r>
          </a:p>
        </p:txBody>
      </p:sp>
      <p:sp>
        <p:nvSpPr>
          <p:cNvPr id="11" name="pull-command">
            <a:extLst xmlns:a="http://schemas.openxmlformats.org/drawingml/2006/main">
              <a:ext uri="{FF2B5EF4-FFF2-40B4-BE49-F238E27FC236}">
                <a16:creationId xmlns:a16="http://schemas.microsoft.com/office/drawing/2014/main" id="{BFAA58E9-5624-49FB-AFF8-DAFA4775E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609975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0000FF"/>
                </a:solidFill>
              </a:defRPr>
            </a:pPr>
            <a:r>
              <a:rPr sz="1425" b="0" i="0">
                <a:solidFill>
                  <a:srgbClr val="0000FF"/>
                </a:solidFill>
              </a:rPr>
              <a:t>git pull</a:t>
            </a:r>
          </a:p>
        </p:txBody>
      </p:sp>
      <p:sp>
        <p:nvSpPr>
          <p:cNvPr id="12" name="warning-band">
            <a:extLst xmlns:a="http://schemas.openxmlformats.org/drawingml/2006/main">
              <a:ext uri="{FF2B5EF4-FFF2-40B4-BE49-F238E27FC236}">
                <a16:creationId xmlns:a16="http://schemas.microsoft.com/office/drawing/2014/main" id="{F899BF85-2CFF-4487-9EFC-2CEC99CC3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29125"/>
            <a:ext cx="106489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warning-title">
            <a:extLst xmlns:a="http://schemas.openxmlformats.org/drawingml/2006/main">
              <a:ext uri="{FF2B5EF4-FFF2-40B4-BE49-F238E27FC236}">
                <a16:creationId xmlns:a16="http://schemas.microsoft.com/office/drawing/2014/main" id="{1A81658B-2EB2-45FB-BA96-4F97AF7F8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600575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FF0000"/>
                </a:solidFill>
              </a:defRPr>
            </a:pPr>
            <a:r>
              <a:rPr sz="1575" b="1" i="0">
                <a:solidFill>
                  <a:srgbClr val="FF0000"/>
                </a:solidFill>
              </a:rPr>
              <a:t>PROTECT THE RAW DATA</a:t>
            </a:r>
          </a:p>
        </p:txBody>
      </p:sp>
      <p:sp>
        <p:nvSpPr>
          <p:cNvPr id="14" name="warning-copy">
            <a:extLst xmlns:a="http://schemas.openxmlformats.org/drawingml/2006/main">
              <a:ext uri="{FF2B5EF4-FFF2-40B4-BE49-F238E27FC236}">
                <a16:creationId xmlns:a16="http://schemas.microsoft.com/office/drawing/2014/main" id="{B326A81A-961D-4B27-B539-31E4A781E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9911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7171C"/>
                </a:solidFill>
              </a:defRPr>
            </a:pPr>
            <a:r>
              <a:rPr sz="1725" b="1" i="0">
                <a:solidFill>
                  <a:srgbClr val="17171C"/>
                </a:solidFill>
              </a:rPr>
              <a:t>Do not edit raw data directly. Create your own branch before investigating.</a:t>
            </a:r>
          </a:p>
        </p:txBody>
      </p:sp>
      <p:sp>
        <p:nvSpPr>
          <p:cNvPr id="15" name="branch-command">
            <a:extLst xmlns:a="http://schemas.openxmlformats.org/drawingml/2006/main">
              <a:ext uri="{FF2B5EF4-FFF2-40B4-BE49-F238E27FC236}">
                <a16:creationId xmlns:a16="http://schemas.microsoft.com/office/drawing/2014/main" id="{0913F217-D516-4607-A963-3581821B6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391150"/>
            <a:ext cx="666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0000FF"/>
                </a:solidFill>
              </a:defRPr>
            </a:pPr>
            <a:r>
              <a:rPr sz="1425" b="0" i="0">
                <a:solidFill>
                  <a:srgbClr val="0000FF"/>
                </a:solidFill>
              </a:rPr>
              <a:t>git switch -c yourname/afternoon-lab</a:t>
            </a:r>
          </a:p>
        </p:txBody>
      </p:sp>
    </p:spTree>
    <p:extLst>
      <p:ext uri="{BB962C8B-B14F-4D97-AF65-F5344CB8AC3E}">
        <p14:creationId xmlns:p14="http://schemas.microsoft.com/office/powerpoint/2010/main" val="192662249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FA2927F-6C0A-401F-9FA8-F477B2E5F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1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3333B2"/>
                </a:solidFill>
              </a:defRPr>
            </a:pPr>
            <a:r>
              <a:rPr sz="2925" b="1" i="0">
                <a:solidFill>
                  <a:srgbClr val="3333B2"/>
                </a:solidFill>
              </a:rPr>
              <a:t>Two missions, one standard of evidence</a:t>
            </a:r>
          </a:p>
        </p:txBody>
      </p:sp>
      <p:sp>
        <p:nvSpPr>
          <p:cNvPr id="2" name="rule-68-107">
            <a:extLst xmlns:a="http://schemas.openxmlformats.org/drawingml/2006/main">
              <a:ext uri="{FF2B5EF4-FFF2-40B4-BE49-F238E27FC236}">
                <a16:creationId xmlns:a16="http://schemas.microsoft.com/office/drawing/2014/main" id="{D3C5F64A-E604-4ED7-9C11-435C2D217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19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3AD2A62-5092-404A-811A-F051B3DEE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5C5C69"/>
                </a:solidFill>
              </a:defRPr>
            </a:pPr>
            <a:r>
              <a:rPr sz="825" b="0" i="0">
                <a:solidFill>
                  <a:srgbClr val="5C5C69"/>
                </a:solidFill>
              </a:rPr>
              <a:t>9 / 29</a:t>
            </a:r>
          </a:p>
        </p:txBody>
      </p:sp>
      <p:sp>
        <p:nvSpPr>
          <p:cNvPr id="4" name="one">
            <a:extLst xmlns:a="http://schemas.openxmlformats.org/drawingml/2006/main">
              <a:ext uri="{FF2B5EF4-FFF2-40B4-BE49-F238E27FC236}">
                <a16:creationId xmlns:a16="http://schemas.microsoft.com/office/drawing/2014/main" id="{3FA42B44-1127-45F9-92AF-C3E732182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19250"/>
            <a:ext cx="762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5250" b="1" i="0">
                <a:solidFill>
                  <a:srgbClr val="3333B2"/>
                </a:solidFill>
              </a:defRPr>
            </a:pPr>
            <a:r>
              <a:rPr sz="5250" b="1" i="0">
                <a:solidFill>
                  <a:srgbClr val="3333B2"/>
                </a:solidFill>
              </a:rPr>
              <a:t>1</a:t>
            </a:r>
          </a:p>
        </p:txBody>
      </p:sp>
      <p:sp>
        <p:nvSpPr>
          <p:cNvPr id="5" name="mission-one">
            <a:extLst xmlns:a="http://schemas.openxmlformats.org/drawingml/2006/main">
              <a:ext uri="{FF2B5EF4-FFF2-40B4-BE49-F238E27FC236}">
                <a16:creationId xmlns:a16="http://schemas.microsoft.com/office/drawing/2014/main" id="{3AA96A2C-990E-4C59-87A0-812A7FE51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666875"/>
            <a:ext cx="685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17171C"/>
                </a:solidFill>
              </a:defRPr>
            </a:pPr>
            <a:r>
              <a:rPr sz="2550" b="1" i="0">
                <a:solidFill>
                  <a:srgbClr val="17171C"/>
                </a:solidFill>
              </a:rPr>
              <a:t>Build a clean workflow</a:t>
            </a:r>
          </a:p>
        </p:txBody>
      </p:sp>
      <p:sp>
        <p:nvSpPr>
          <p:cNvPr id="6" name="mission-one-detail">
            <a:extLst xmlns:a="http://schemas.openxmlformats.org/drawingml/2006/main">
              <a:ext uri="{FF2B5EF4-FFF2-40B4-BE49-F238E27FC236}">
                <a16:creationId xmlns:a16="http://schemas.microsoft.com/office/drawing/2014/main" id="{8E2493B8-3873-4FDA-BD69-FE8578856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219325"/>
            <a:ext cx="7620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5C5C69"/>
                </a:solidFill>
              </a:defRPr>
            </a:pPr>
            <a:r>
              <a:rPr sz="1725" b="0" i="0">
                <a:solidFill>
                  <a:srgbClr val="5C5C69"/>
                </a:solidFill>
              </a:rPr>
              <a:t>Make the design explicit before results exist.</a:t>
            </a:r>
          </a:p>
        </p:txBody>
      </p:sp>
      <p:sp>
        <p:nvSpPr>
          <p:cNvPr id="7" name="rule-88-320">
            <a:extLst xmlns:a="http://schemas.openxmlformats.org/drawingml/2006/main">
              <a:ext uri="{FF2B5EF4-FFF2-40B4-BE49-F238E27FC236}">
                <a16:creationId xmlns:a16="http://schemas.microsoft.com/office/drawing/2014/main" id="{961E8E6C-36F2-4FB0-ACE0-DB7C1F63D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48000"/>
            <a:ext cx="9810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8" name="two">
            <a:extLst xmlns:a="http://schemas.openxmlformats.org/drawingml/2006/main">
              <a:ext uri="{FF2B5EF4-FFF2-40B4-BE49-F238E27FC236}">
                <a16:creationId xmlns:a16="http://schemas.microsoft.com/office/drawing/2014/main" id="{A7EF3CF4-D336-4DF9-BFF9-F45127288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24250"/>
            <a:ext cx="762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5250" b="1" i="0">
                <a:solidFill>
                  <a:srgbClr val="3333B2"/>
                </a:solidFill>
              </a:defRPr>
            </a:pPr>
            <a:r>
              <a:rPr sz="5250" b="1" i="0">
                <a:solidFill>
                  <a:srgbClr val="3333B2"/>
                </a:solidFill>
              </a:rPr>
              <a:t>2</a:t>
            </a:r>
          </a:p>
        </p:txBody>
      </p:sp>
      <p:sp>
        <p:nvSpPr>
          <p:cNvPr id="9" name="mission-two">
            <a:extLst xmlns:a="http://schemas.openxmlformats.org/drawingml/2006/main">
              <a:ext uri="{FF2B5EF4-FFF2-40B4-BE49-F238E27FC236}">
                <a16:creationId xmlns:a16="http://schemas.microsoft.com/office/drawing/2014/main" id="{684E934E-6BF2-41A3-A813-54E630597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71875"/>
            <a:ext cx="723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17171C"/>
                </a:solidFill>
              </a:defRPr>
            </a:pPr>
            <a:r>
              <a:rPr sz="2550" b="1" i="0">
                <a:solidFill>
                  <a:srgbClr val="17171C"/>
                </a:solidFill>
              </a:rPr>
              <a:t>Audit an inherited analysis</a:t>
            </a:r>
          </a:p>
        </p:txBody>
      </p:sp>
      <p:sp>
        <p:nvSpPr>
          <p:cNvPr id="10" name="mission-two-detail">
            <a:extLst xmlns:a="http://schemas.openxmlformats.org/drawingml/2006/main">
              <a:ext uri="{FF2B5EF4-FFF2-40B4-BE49-F238E27FC236}">
                <a16:creationId xmlns:a16="http://schemas.microsoft.com/office/drawing/2014/main" id="{05DB9F08-5279-400D-9794-A8085C4C3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124325"/>
            <a:ext cx="857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5C5C69"/>
                </a:solidFill>
              </a:defRPr>
            </a:pPr>
            <a:r>
              <a:rPr sz="1725" b="0" i="0">
                <a:solidFill>
                  <a:srgbClr val="5C5C69"/>
                </a:solidFill>
              </a:rPr>
              <a:t>Reconstruct what changed and decide whether to sign off.</a:t>
            </a:r>
          </a:p>
        </p:txBody>
      </p:sp>
      <p:sp>
        <p:nvSpPr>
          <p:cNvPr id="11" name="takeaway">
            <a:extLst xmlns:a="http://schemas.openxmlformats.org/drawingml/2006/main">
              <a:ext uri="{FF2B5EF4-FFF2-40B4-BE49-F238E27FC236}">
                <a16:creationId xmlns:a16="http://schemas.microsoft.com/office/drawing/2014/main" id="{CD9FCEEC-DC81-4E1A-9B03-1F8FE37E0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524500"/>
            <a:ext cx="666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BF0040"/>
                </a:solidFill>
              </a:defRPr>
            </a:pPr>
            <a:r>
              <a:rPr sz="2100" b="1" i="0">
                <a:solidFill>
                  <a:srgbClr val="BF0040"/>
                </a:solidFill>
              </a:rPr>
              <a:t>Design before results.</a:t>
            </a:r>
          </a:p>
        </p:txBody>
      </p:sp>
    </p:spTree>
    <p:extLst>
      <p:ext uri="{BB962C8B-B14F-4D97-AF65-F5344CB8AC3E}">
        <p14:creationId xmlns:p14="http://schemas.microsoft.com/office/powerpoint/2010/main" val="158709819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A79F910-8056-4283-B7FC-3C038D73B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1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3333B2"/>
                </a:solidFill>
              </a:defRPr>
            </a:pPr>
            <a:r>
              <a:rPr sz="2925" b="1" i="0">
                <a:solidFill>
                  <a:srgbClr val="3333B2"/>
                </a:solidFill>
              </a:rPr>
              <a:t>Case A — A clean handoff starts with the estimand</a:t>
            </a:r>
          </a:p>
        </p:txBody>
      </p:sp>
      <p:sp>
        <p:nvSpPr>
          <p:cNvPr id="2" name="rule-68-107">
            <a:extLst xmlns:a="http://schemas.openxmlformats.org/drawingml/2006/main">
              <a:ext uri="{FF2B5EF4-FFF2-40B4-BE49-F238E27FC236}">
                <a16:creationId xmlns:a16="http://schemas.microsoft.com/office/drawing/2014/main" id="{7D4D111A-457A-4655-99CF-D301FAB34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19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4500CAE-B0BD-49B4-AE3A-25FCA083B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5C5C69"/>
                </a:solidFill>
              </a:defRPr>
            </a:pPr>
            <a:r>
              <a:rPr sz="825" b="0" i="0">
                <a:solidFill>
                  <a:srgbClr val="5C5C69"/>
                </a:solidFill>
              </a:rPr>
              <a:t>10 / 29</a:t>
            </a:r>
          </a:p>
        </p:txBody>
      </p:sp>
      <p:sp>
        <p:nvSpPr>
          <p:cNvPr id="4" name="case-label">
            <a:extLst xmlns:a="http://schemas.openxmlformats.org/drawingml/2006/main">
              <a:ext uri="{FF2B5EF4-FFF2-40B4-BE49-F238E27FC236}">
                <a16:creationId xmlns:a16="http://schemas.microsoft.com/office/drawing/2014/main" id="{83CBA958-1F7A-4D61-8AD5-13990A3AA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381125"/>
            <a:ext cx="666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3333B2"/>
                </a:solidFill>
              </a:defRPr>
            </a:pPr>
            <a:r>
              <a:rPr sz="1350" b="1" i="0">
                <a:solidFill>
                  <a:srgbClr val="3333B2"/>
                </a:solidFill>
              </a:rPr>
              <a:t>RANDOMIZED JOB-TRAINING OFFER</a:t>
            </a:r>
          </a:p>
        </p:txBody>
      </p:sp>
      <p:sp>
        <p:nvSpPr>
          <p:cNvPr id="5" name="question">
            <a:extLst xmlns:a="http://schemas.openxmlformats.org/drawingml/2006/main">
              <a:ext uri="{FF2B5EF4-FFF2-40B4-BE49-F238E27FC236}">
                <a16:creationId xmlns:a16="http://schemas.microsoft.com/office/drawing/2014/main" id="{7FEB01AE-D21E-490F-8377-3E9995E52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52625"/>
            <a:ext cx="95250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FF0000"/>
                </a:solidFill>
              </a:defRPr>
            </a:pPr>
            <a:r>
              <a:rPr sz="2850" b="1" i="0">
                <a:solidFill>
                  <a:srgbClr val="FF0000"/>
                </a:solidFill>
              </a:rPr>
              <a:t>What is the effect of being offered training</a:t>
            </a:r>
          </a:p>
          <a:p xmlns:a="http://schemas.openxmlformats.org/drawingml/2006/main">
            <a:pPr algn="l">
              <a:defRPr sz="2850" b="1" i="0">
                <a:solidFill>
                  <a:srgbClr val="FF0000"/>
                </a:solidFill>
              </a:defRPr>
            </a:pPr>
            <a:r>
              <a:rPr sz="2850" b="1" i="0">
                <a:solidFill>
                  <a:srgbClr val="FF0000"/>
                </a:solidFill>
              </a:rPr>
              <a:t>on employment six months later?</a:t>
            </a:r>
          </a:p>
        </p:txBody>
      </p:sp>
      <p:sp>
        <p:nvSpPr>
          <p:cNvPr id="6" name="design">
            <a:extLst xmlns:a="http://schemas.openxmlformats.org/drawingml/2006/main">
              <a:ext uri="{FF2B5EF4-FFF2-40B4-BE49-F238E27FC236}">
                <a16:creationId xmlns:a16="http://schemas.microsoft.com/office/drawing/2014/main" id="{FFBF4DA5-6FC1-47EE-A868-897A7124C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14750"/>
            <a:ext cx="428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17171C"/>
                </a:solidFill>
              </a:defRPr>
            </a:pPr>
            <a:r>
              <a:rPr sz="1875" b="0" i="0">
                <a:solidFill>
                  <a:srgbClr val="17171C"/>
                </a:solidFill>
              </a:rPr>
              <a:t>Assignment is randomized.</a:t>
            </a:r>
          </a:p>
        </p:txBody>
      </p:sp>
      <p:sp>
        <p:nvSpPr>
          <p:cNvPr id="7" name="estimand">
            <a:extLst xmlns:a="http://schemas.openxmlformats.org/drawingml/2006/main">
              <a:ext uri="{FF2B5EF4-FFF2-40B4-BE49-F238E27FC236}">
                <a16:creationId xmlns:a16="http://schemas.microsoft.com/office/drawing/2014/main" id="{059B9EAE-4D4A-4690-B1E4-8C519831E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57675"/>
            <a:ext cx="695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3333B2"/>
                </a:solidFill>
              </a:defRPr>
            </a:pPr>
            <a:r>
              <a:rPr sz="1875" b="1" i="0">
                <a:solidFill>
                  <a:srgbClr val="3333B2"/>
                </a:solidFill>
              </a:rPr>
              <a:t>Primary estimand: intention to treat (ITT).</a:t>
            </a:r>
          </a:p>
        </p:txBody>
      </p:sp>
      <p:sp>
        <p:nvSpPr>
          <p:cNvPr id="8" name="unit">
            <a:extLst xmlns:a="http://schemas.openxmlformats.org/drawingml/2006/main">
              <a:ext uri="{FF2B5EF4-FFF2-40B4-BE49-F238E27FC236}">
                <a16:creationId xmlns:a16="http://schemas.microsoft.com/office/drawing/2014/main" id="{EF1A8553-F802-4B3E-9837-35116D074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00600"/>
            <a:ext cx="428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17171C"/>
                </a:solidFill>
              </a:defRPr>
            </a:pPr>
            <a:r>
              <a:rPr sz="1875" b="0" i="0">
                <a:solidFill>
                  <a:srgbClr val="17171C"/>
                </a:solidFill>
              </a:rPr>
              <a:t>Unit: applicant.</a:t>
            </a:r>
          </a:p>
        </p:txBody>
      </p:sp>
    </p:spTree>
    <p:extLst>
      <p:ext uri="{BB962C8B-B14F-4D97-AF65-F5344CB8AC3E}">
        <p14:creationId xmlns:p14="http://schemas.microsoft.com/office/powerpoint/2010/main" val="109736469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695B402-67B0-47C8-BA3B-2494FA807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1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3333B2"/>
                </a:solidFill>
              </a:defRPr>
            </a:pPr>
            <a:r>
              <a:rPr sz="2925" b="1" i="0">
                <a:solidFill>
                  <a:srgbClr val="3333B2"/>
                </a:solidFill>
              </a:rPr>
              <a:t>Case A — Minimal file inventory</a:t>
            </a:r>
          </a:p>
        </p:txBody>
      </p:sp>
      <p:sp>
        <p:nvSpPr>
          <p:cNvPr id="2" name="rule-68-107">
            <a:extLst xmlns:a="http://schemas.openxmlformats.org/drawingml/2006/main">
              <a:ext uri="{FF2B5EF4-FFF2-40B4-BE49-F238E27FC236}">
                <a16:creationId xmlns:a16="http://schemas.microsoft.com/office/drawing/2014/main" id="{052C89CB-92D4-457E-803A-CEA600032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19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B50CC03-19B4-4F8A-829E-DDDF16FA7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5C5C69"/>
                </a:solidFill>
              </a:defRPr>
            </a:pPr>
            <a:r>
              <a:rPr sz="825" b="0" i="0">
                <a:solidFill>
                  <a:srgbClr val="5C5C69"/>
                </a:solidFill>
              </a:rPr>
              <a:t>11 / 29</a:t>
            </a:r>
          </a:p>
        </p:txBody>
      </p:sp>
      <p:sp>
        <p:nvSpPr>
          <p:cNvPr id="4" name="path1">
            <a:extLst xmlns:a="http://schemas.openxmlformats.org/drawingml/2006/main">
              <a:ext uri="{FF2B5EF4-FFF2-40B4-BE49-F238E27FC236}">
                <a16:creationId xmlns:a16="http://schemas.microsoft.com/office/drawing/2014/main" id="{A74E8B26-81A0-4ED5-9D72-A713830EC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524000"/>
            <a:ext cx="495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0000FF"/>
                </a:solidFill>
              </a:defRPr>
            </a:pPr>
            <a:r>
              <a:rPr sz="1875" b="1" i="0">
                <a:solidFill>
                  <a:srgbClr val="0000FF"/>
                </a:solidFill>
              </a:rPr>
              <a:t>data/baseline.csv</a:t>
            </a:r>
          </a:p>
        </p:txBody>
      </p:sp>
      <p:sp>
        <p:nvSpPr>
          <p:cNvPr id="5" name="desc1">
            <a:extLst xmlns:a="http://schemas.openxmlformats.org/drawingml/2006/main">
              <a:ext uri="{FF2B5EF4-FFF2-40B4-BE49-F238E27FC236}">
                <a16:creationId xmlns:a16="http://schemas.microsoft.com/office/drawing/2014/main" id="{9BA389C5-3AC9-4F6A-88B0-F60E9682B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524000"/>
            <a:ext cx="495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7171C"/>
                </a:solidFill>
              </a:defRPr>
            </a:pPr>
            <a:r>
              <a:rPr sz="1650" b="0" i="0">
                <a:solidFill>
                  <a:srgbClr val="17171C"/>
                </a:solidFill>
              </a:rPr>
              <a:t>one row per applicant; pre-treatment attributes</a:t>
            </a:r>
          </a:p>
        </p:txBody>
      </p:sp>
      <p:sp>
        <p:nvSpPr>
          <p:cNvPr id="6" name="rule-96-217">
            <a:extLst xmlns:a="http://schemas.openxmlformats.org/drawingml/2006/main">
              <a:ext uri="{FF2B5EF4-FFF2-40B4-BE49-F238E27FC236}">
                <a16:creationId xmlns:a16="http://schemas.microsoft.com/office/drawing/2014/main" id="{B8B0A4D5-99D8-4CC8-8B35-8E159F288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66925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7" name="path2">
            <a:extLst xmlns:a="http://schemas.openxmlformats.org/drawingml/2006/main">
              <a:ext uri="{FF2B5EF4-FFF2-40B4-BE49-F238E27FC236}">
                <a16:creationId xmlns:a16="http://schemas.microsoft.com/office/drawing/2014/main" id="{DA5D187F-CAD1-43CE-BEBB-2CC2306E4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28875"/>
            <a:ext cx="495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0000FF"/>
                </a:solidFill>
              </a:defRPr>
            </a:pPr>
            <a:r>
              <a:rPr sz="1875" b="1" i="0">
                <a:solidFill>
                  <a:srgbClr val="0000FF"/>
                </a:solidFill>
              </a:rPr>
              <a:t>data/assignment.csv</a:t>
            </a:r>
          </a:p>
        </p:txBody>
      </p:sp>
      <p:sp>
        <p:nvSpPr>
          <p:cNvPr id="8" name="desc2">
            <a:extLst xmlns:a="http://schemas.openxmlformats.org/drawingml/2006/main">
              <a:ext uri="{FF2B5EF4-FFF2-40B4-BE49-F238E27FC236}">
                <a16:creationId xmlns:a16="http://schemas.microsoft.com/office/drawing/2014/main" id="{532CF149-54CF-4436-A015-A8282D452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428875"/>
            <a:ext cx="495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7171C"/>
                </a:solidFill>
              </a:defRPr>
            </a:pPr>
            <a:r>
              <a:rPr sz="1650" b="0" i="0">
                <a:solidFill>
                  <a:srgbClr val="17171C"/>
                </a:solidFill>
              </a:rPr>
              <a:t>randomized offer status</a:t>
            </a:r>
          </a:p>
        </p:txBody>
      </p:sp>
      <p:sp>
        <p:nvSpPr>
          <p:cNvPr id="9" name="rule-96-312">
            <a:extLst xmlns:a="http://schemas.openxmlformats.org/drawingml/2006/main">
              <a:ext uri="{FF2B5EF4-FFF2-40B4-BE49-F238E27FC236}">
                <a16:creationId xmlns:a16="http://schemas.microsoft.com/office/drawing/2014/main" id="{CDECA7DC-46A6-4278-8FF2-6B4C10219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71800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10" name="path3">
            <a:extLst xmlns:a="http://schemas.openxmlformats.org/drawingml/2006/main">
              <a:ext uri="{FF2B5EF4-FFF2-40B4-BE49-F238E27FC236}">
                <a16:creationId xmlns:a16="http://schemas.microsoft.com/office/drawing/2014/main" id="{9B79665B-A7AB-45BB-8EFC-B55779597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33750"/>
            <a:ext cx="495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0000FF"/>
                </a:solidFill>
              </a:defRPr>
            </a:pPr>
            <a:r>
              <a:rPr sz="1875" b="1" i="0">
                <a:solidFill>
                  <a:srgbClr val="0000FF"/>
                </a:solidFill>
              </a:rPr>
              <a:t>data/followup.csv</a:t>
            </a:r>
          </a:p>
        </p:txBody>
      </p:sp>
      <p:sp>
        <p:nvSpPr>
          <p:cNvPr id="11" name="desc3">
            <a:extLst xmlns:a="http://schemas.openxmlformats.org/drawingml/2006/main">
              <a:ext uri="{FF2B5EF4-FFF2-40B4-BE49-F238E27FC236}">
                <a16:creationId xmlns:a16="http://schemas.microsoft.com/office/drawing/2014/main" id="{568AD3B5-D8BF-4C54-B977-0E1DEC28E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33750"/>
            <a:ext cx="495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7171C"/>
                </a:solidFill>
              </a:defRPr>
            </a:pPr>
            <a:r>
              <a:rPr sz="1650" b="0" i="0">
                <a:solidFill>
                  <a:srgbClr val="17171C"/>
                </a:solidFill>
              </a:rPr>
              <a:t>six-month employment outcome</a:t>
            </a:r>
          </a:p>
        </p:txBody>
      </p:sp>
      <p:sp>
        <p:nvSpPr>
          <p:cNvPr id="12" name="question">
            <a:extLst xmlns:a="http://schemas.openxmlformats.org/drawingml/2006/main">
              <a:ext uri="{FF2B5EF4-FFF2-40B4-BE49-F238E27FC236}">
                <a16:creationId xmlns:a16="http://schemas.microsoft.com/office/drawing/2014/main" id="{35E8F0FC-4C93-45CA-8835-329ACAC55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62500"/>
            <a:ext cx="933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FF0000"/>
                </a:solidFill>
              </a:defRPr>
            </a:pPr>
            <a:r>
              <a:rPr sz="2250" b="1" i="0">
                <a:solidFill>
                  <a:srgbClr val="FF0000"/>
                </a:solidFill>
              </a:rPr>
              <a:t>Before merging: what must be true of applicant_id?</a:t>
            </a:r>
          </a:p>
        </p:txBody>
      </p:sp>
    </p:spTree>
    <p:extLst>
      <p:ext uri="{BB962C8B-B14F-4D97-AF65-F5344CB8AC3E}">
        <p14:creationId xmlns:p14="http://schemas.microsoft.com/office/powerpoint/2010/main" val="103606790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674EB15-54FA-4632-A580-76C5C1F5C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1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3333B2"/>
                </a:solidFill>
              </a:defRPr>
            </a:pPr>
            <a:r>
              <a:rPr sz="2925" b="1" i="0">
                <a:solidFill>
                  <a:srgbClr val="3333B2"/>
                </a:solidFill>
              </a:rPr>
              <a:t>Case A — Give StatsClaw a gated workflow</a:t>
            </a:r>
          </a:p>
        </p:txBody>
      </p:sp>
      <p:sp>
        <p:nvSpPr>
          <p:cNvPr id="2" name="rule-68-107">
            <a:extLst xmlns:a="http://schemas.openxmlformats.org/drawingml/2006/main">
              <a:ext uri="{FF2B5EF4-FFF2-40B4-BE49-F238E27FC236}">
                <a16:creationId xmlns:a16="http://schemas.microsoft.com/office/drawing/2014/main" id="{5DF3D168-06CC-4210-9137-4E4485010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19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84EADD0-0E5F-4E17-8B35-812607FD5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5C5C69"/>
                </a:solidFill>
              </a:defRPr>
            </a:pPr>
            <a:r>
              <a:rPr sz="825" b="0" i="0">
                <a:solidFill>
                  <a:srgbClr val="5C5C69"/>
                </a:solidFill>
              </a:rPr>
              <a:t>12 / 29</a:t>
            </a:r>
          </a:p>
        </p:txBody>
      </p:sp>
      <p:sp>
        <p:nvSpPr>
          <p:cNvPr id="4" name="prompt-rule">
            <a:extLst xmlns:a="http://schemas.openxmlformats.org/drawingml/2006/main">
              <a:ext uri="{FF2B5EF4-FFF2-40B4-BE49-F238E27FC236}">
                <a16:creationId xmlns:a16="http://schemas.microsoft.com/office/drawing/2014/main" id="{FF6C241C-6893-47BA-87BB-36313BDA0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66675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33B2"/>
          </a:solidFill>
          <a:ln xmlns:a="http://schemas.openxmlformats.org/drawingml/2006/main" w="0">
            <a:solidFill>
              <a:srgbClr val="3333B2"/>
            </a:solidFill>
            <a:prstDash val="solid"/>
          </a:ln>
        </p:spPr>
      </p:sp>
      <p:sp>
        <p:nvSpPr>
          <p:cNvPr id="5" name="prompt">
            <a:extLst xmlns:a="http://schemas.openxmlformats.org/drawingml/2006/main">
              <a:ext uri="{FF2B5EF4-FFF2-40B4-BE49-F238E27FC236}">
                <a16:creationId xmlns:a16="http://schemas.microsoft.com/office/drawing/2014/main" id="{3C195B06-851A-4DCE-8854-63F9D3B14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428750"/>
            <a:ext cx="9715500" cy="3762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17171C"/>
                </a:solidFill>
              </a:defRPr>
            </a:pPr>
            <a:r>
              <a:rPr sz="1725" b="0" i="0">
                <a:solidFill>
                  <a:srgbClr val="17171C"/>
                </a:solidFill>
              </a:rPr>
              <a:t>Use the StatsClaw planner to propose an applicant-level ITT analysis.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 i="0">
                <a:solidFill>
                  <a:srgbClr val="17171C"/>
                </a:solidFill>
              </a:defRPr>
            </a:pPr>
            <a:r>
              <a:rPr sz="1725" b="0" i="0">
                <a:solidFill>
                  <a:srgbClr val="17171C"/>
                </a:solidFill>
              </a:rPr>
              <a:t>Lock the unit, applicant_id keys, complete 1:1 merge contract, randomized offered_training treatment, employed_6m outcome, and sample.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 i="0">
                <a:solidFill>
                  <a:srgbClr val="17171C"/>
                </a:solidFill>
              </a:defRPr>
            </a:pPr>
            <a:r>
              <a:rPr sz="1725" b="0" i="0">
                <a:solidFill>
                  <a:srgbClr val="17171C"/>
                </a:solidFill>
              </a:rPr>
              <a:t>Do not authorize the builder yet. After accepting the plan, authorize the smallest build; assign an independent tester; run $review.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 i="0">
                <a:solidFill>
                  <a:srgbClr val="17171C"/>
                </a:solidFill>
              </a:defRPr>
            </a:pPr>
            <a:r>
              <a:rPr sz="1725" b="0" i="0">
                <a:solidFill>
                  <a:srgbClr val="17171C"/>
                </a:solidFill>
              </a:rPr>
              <a:t>Only after PASS: commit locally. Do not push.</a:t>
            </a:r>
          </a:p>
        </p:txBody>
      </p:sp>
      <p:sp>
        <p:nvSpPr>
          <p:cNvPr id="6" name="instruction">
            <a:extLst xmlns:a="http://schemas.openxmlformats.org/drawingml/2006/main">
              <a:ext uri="{FF2B5EF4-FFF2-40B4-BE49-F238E27FC236}">
                <a16:creationId xmlns:a16="http://schemas.microsoft.com/office/drawing/2014/main" id="{C5ED5DC8-E8F9-4788-8B4C-3091E0F39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495925"/>
            <a:ext cx="857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BF0040"/>
                </a:solidFill>
              </a:defRPr>
            </a:pPr>
            <a:r>
              <a:rPr sz="1650" b="1" i="0">
                <a:solidFill>
                  <a:srgbClr val="BF0040"/>
                </a:solidFill>
              </a:rPr>
              <a:t>Builder authority is withheld until the StatsClaw plan is accepted.</a:t>
            </a:r>
          </a:p>
        </p:txBody>
      </p:sp>
    </p:spTree>
    <p:extLst>
      <p:ext uri="{BB962C8B-B14F-4D97-AF65-F5344CB8AC3E}">
        <p14:creationId xmlns:p14="http://schemas.microsoft.com/office/powerpoint/2010/main" val="65601835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3E13F34-90CD-4FE1-87DA-356E2AA5C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1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3333B2"/>
                </a:solidFill>
              </a:defRPr>
            </a:pPr>
            <a:r>
              <a:rPr sz="2925" b="1" i="0">
                <a:solidFill>
                  <a:srgbClr val="3333B2"/>
                </a:solidFill>
              </a:rPr>
              <a:t>Write a data-and-design contract before analysis</a:t>
            </a:r>
          </a:p>
        </p:txBody>
      </p:sp>
      <p:sp>
        <p:nvSpPr>
          <p:cNvPr id="2" name="rule-68-107">
            <a:extLst xmlns:a="http://schemas.openxmlformats.org/drawingml/2006/main">
              <a:ext uri="{FF2B5EF4-FFF2-40B4-BE49-F238E27FC236}">
                <a16:creationId xmlns:a16="http://schemas.microsoft.com/office/drawing/2014/main" id="{0DBFF342-A4E7-4D87-A441-481AA800F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19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F652228-3545-484F-AF54-B0A529026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5C5C69"/>
                </a:solidFill>
              </a:defRPr>
            </a:pPr>
            <a:r>
              <a:rPr sz="825" b="0" i="0">
                <a:solidFill>
                  <a:srgbClr val="5C5C69"/>
                </a:solidFill>
              </a:rPr>
              <a:t>13 / 29</a:t>
            </a:r>
          </a:p>
        </p:txBody>
      </p:sp>
      <p:sp>
        <p:nvSpPr>
          <p:cNvPr id="4" name="bullet-145">
            <a:extLst xmlns:a="http://schemas.openxmlformats.org/drawingml/2006/main">
              <a:ext uri="{FF2B5EF4-FFF2-40B4-BE49-F238E27FC236}">
                <a16:creationId xmlns:a16="http://schemas.microsoft.com/office/drawing/2014/main" id="{2BF61630-0B4B-4D9C-ABD9-EC48CB363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362075"/>
            <a:ext cx="28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3333B2"/>
                </a:solidFill>
              </a:defRPr>
            </a:pPr>
            <a:r>
              <a:rPr sz="2325" b="1" i="0">
                <a:solidFill>
                  <a:srgbClr val="3333B2"/>
                </a:solidFill>
              </a:rPr>
              <a:t>•</a:t>
            </a:r>
          </a:p>
        </p:txBody>
      </p:sp>
      <p:sp>
        <p:nvSpPr>
          <p:cNvPr id="5" name="bullet-label-145">
            <a:extLst xmlns:a="http://schemas.openxmlformats.org/drawingml/2006/main">
              <a:ext uri="{FF2B5EF4-FFF2-40B4-BE49-F238E27FC236}">
                <a16:creationId xmlns:a16="http://schemas.microsoft.com/office/drawing/2014/main" id="{6562A634-18F7-4640-AE9F-108A03B0D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381125"/>
            <a:ext cx="933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3333B2"/>
                </a:solidFill>
              </a:defRPr>
            </a:pPr>
            <a:r>
              <a:rPr sz="2025" b="1" i="0">
                <a:solidFill>
                  <a:srgbClr val="3333B2"/>
                </a:solidFill>
              </a:rPr>
              <a:t>Unit and keys</a:t>
            </a:r>
          </a:p>
        </p:txBody>
      </p:sp>
      <p:sp>
        <p:nvSpPr>
          <p:cNvPr id="6" name="bullet-detail-145">
            <a:extLst xmlns:a="http://schemas.openxmlformats.org/drawingml/2006/main">
              <a:ext uri="{FF2B5EF4-FFF2-40B4-BE49-F238E27FC236}">
                <a16:creationId xmlns:a16="http://schemas.microsoft.com/office/drawing/2014/main" id="{47A174C6-4415-4E8A-9D7C-BB8248A28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752600"/>
            <a:ext cx="952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7171C"/>
                </a:solidFill>
              </a:defRPr>
            </a:pPr>
            <a:r>
              <a:rPr sz="1500" b="0" i="0">
                <a:solidFill>
                  <a:srgbClr val="17171C"/>
                </a:solidFill>
              </a:rPr>
              <a:t>One applicant per analysis row; applicant_id is unique where expected.</a:t>
            </a:r>
          </a:p>
        </p:txBody>
      </p:sp>
      <p:sp>
        <p:nvSpPr>
          <p:cNvPr id="7" name="bullet-235">
            <a:extLst xmlns:a="http://schemas.openxmlformats.org/drawingml/2006/main">
              <a:ext uri="{FF2B5EF4-FFF2-40B4-BE49-F238E27FC236}">
                <a16:creationId xmlns:a16="http://schemas.microsoft.com/office/drawing/2014/main" id="{2D1756B8-8A87-4EAE-802F-59B09885B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19325"/>
            <a:ext cx="28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3333B2"/>
                </a:solidFill>
              </a:defRPr>
            </a:pPr>
            <a:r>
              <a:rPr sz="2325" b="1" i="0">
                <a:solidFill>
                  <a:srgbClr val="3333B2"/>
                </a:solidFill>
              </a:rPr>
              <a:t>•</a:t>
            </a:r>
          </a:p>
        </p:txBody>
      </p:sp>
      <p:sp>
        <p:nvSpPr>
          <p:cNvPr id="8" name="bullet-label-235">
            <a:extLst xmlns:a="http://schemas.openxmlformats.org/drawingml/2006/main">
              <a:ext uri="{FF2B5EF4-FFF2-40B4-BE49-F238E27FC236}">
                <a16:creationId xmlns:a16="http://schemas.microsoft.com/office/drawing/2014/main" id="{C40F4D82-0928-4748-8216-54893F700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238375"/>
            <a:ext cx="933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3333B2"/>
                </a:solidFill>
              </a:defRPr>
            </a:pPr>
            <a:r>
              <a:rPr sz="2025" b="1" i="0">
                <a:solidFill>
                  <a:srgbClr val="3333B2"/>
                </a:solidFill>
              </a:rPr>
              <a:t>Treatment and timing</a:t>
            </a:r>
          </a:p>
        </p:txBody>
      </p:sp>
      <p:sp>
        <p:nvSpPr>
          <p:cNvPr id="9" name="bullet-detail-235">
            <a:extLst xmlns:a="http://schemas.openxmlformats.org/drawingml/2006/main">
              <a:ext uri="{FF2B5EF4-FFF2-40B4-BE49-F238E27FC236}">
                <a16:creationId xmlns:a16="http://schemas.microsoft.com/office/drawing/2014/main" id="{131ECCC5-E0F5-4CE2-8D1A-234729ACD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609850"/>
            <a:ext cx="952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7171C"/>
                </a:solidFill>
              </a:defRPr>
            </a:pPr>
            <a:r>
              <a:rPr sz="1500" b="0" i="0">
                <a:solidFill>
                  <a:srgbClr val="17171C"/>
                </a:solidFill>
              </a:rPr>
              <a:t>offered_training is assigned before outcomes; assignment is immutable.</a:t>
            </a:r>
          </a:p>
        </p:txBody>
      </p:sp>
      <p:sp>
        <p:nvSpPr>
          <p:cNvPr id="10" name="bullet-325">
            <a:extLst xmlns:a="http://schemas.openxmlformats.org/drawingml/2006/main">
              <a:ext uri="{FF2B5EF4-FFF2-40B4-BE49-F238E27FC236}">
                <a16:creationId xmlns:a16="http://schemas.microsoft.com/office/drawing/2014/main" id="{4DB58F4D-82F9-40A1-81AD-82FD5DE70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76575"/>
            <a:ext cx="28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3333B2"/>
                </a:solidFill>
              </a:defRPr>
            </a:pPr>
            <a:r>
              <a:rPr sz="2325" b="1" i="0">
                <a:solidFill>
                  <a:srgbClr val="3333B2"/>
                </a:solidFill>
              </a:rPr>
              <a:t>•</a:t>
            </a:r>
          </a:p>
        </p:txBody>
      </p:sp>
      <p:sp>
        <p:nvSpPr>
          <p:cNvPr id="11" name="bullet-label-325">
            <a:extLst xmlns:a="http://schemas.openxmlformats.org/drawingml/2006/main">
              <a:ext uri="{FF2B5EF4-FFF2-40B4-BE49-F238E27FC236}">
                <a16:creationId xmlns:a16="http://schemas.microsoft.com/office/drawing/2014/main" id="{4C7E5213-35FF-4365-A68A-CF8F483DF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95625"/>
            <a:ext cx="933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3333B2"/>
                </a:solidFill>
              </a:defRPr>
            </a:pPr>
            <a:r>
              <a:rPr sz="2025" b="1" i="0">
                <a:solidFill>
                  <a:srgbClr val="3333B2"/>
                </a:solidFill>
              </a:rPr>
              <a:t>Outcome and horizon</a:t>
            </a:r>
          </a:p>
        </p:txBody>
      </p:sp>
      <p:sp>
        <p:nvSpPr>
          <p:cNvPr id="12" name="bullet-detail-325">
            <a:extLst xmlns:a="http://schemas.openxmlformats.org/drawingml/2006/main">
              <a:ext uri="{FF2B5EF4-FFF2-40B4-BE49-F238E27FC236}">
                <a16:creationId xmlns:a16="http://schemas.microsoft.com/office/drawing/2014/main" id="{6A79ADFD-E274-4579-BF42-4693A5049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467100"/>
            <a:ext cx="952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7171C"/>
                </a:solidFill>
              </a:defRPr>
            </a:pPr>
            <a:r>
              <a:rPr sz="1500" b="0" i="0">
                <a:solidFill>
                  <a:srgbClr val="17171C"/>
                </a:solidFill>
              </a:rPr>
              <a:t>employed_6m is defined consistently for all applicants.</a:t>
            </a:r>
          </a:p>
        </p:txBody>
      </p:sp>
      <p:sp>
        <p:nvSpPr>
          <p:cNvPr id="13" name="bullet-415">
            <a:extLst xmlns:a="http://schemas.openxmlformats.org/drawingml/2006/main">
              <a:ext uri="{FF2B5EF4-FFF2-40B4-BE49-F238E27FC236}">
                <a16:creationId xmlns:a16="http://schemas.microsoft.com/office/drawing/2014/main" id="{A2F76AE0-64B0-4429-8EA7-7F6E9C19C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33825"/>
            <a:ext cx="28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3333B2"/>
                </a:solidFill>
              </a:defRPr>
            </a:pPr>
            <a:r>
              <a:rPr sz="2325" b="1" i="0">
                <a:solidFill>
                  <a:srgbClr val="3333B2"/>
                </a:solidFill>
              </a:rPr>
              <a:t>•</a:t>
            </a:r>
          </a:p>
        </p:txBody>
      </p:sp>
      <p:sp>
        <p:nvSpPr>
          <p:cNvPr id="14" name="bullet-label-415">
            <a:extLst xmlns:a="http://schemas.openxmlformats.org/drawingml/2006/main">
              <a:ext uri="{FF2B5EF4-FFF2-40B4-BE49-F238E27FC236}">
                <a16:creationId xmlns:a16="http://schemas.microsoft.com/office/drawing/2014/main" id="{E43330FA-2BCA-4AC3-BFE7-93B1C5491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52875"/>
            <a:ext cx="933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3333B2"/>
                </a:solidFill>
              </a:defRPr>
            </a:pPr>
            <a:r>
              <a:rPr sz="2025" b="1" i="0">
                <a:solidFill>
                  <a:srgbClr val="3333B2"/>
                </a:solidFill>
              </a:rPr>
              <a:t>Estimand and sample</a:t>
            </a:r>
          </a:p>
        </p:txBody>
      </p:sp>
      <p:sp>
        <p:nvSpPr>
          <p:cNvPr id="15" name="bullet-detail-415">
            <a:extLst xmlns:a="http://schemas.openxmlformats.org/drawingml/2006/main">
              <a:ext uri="{FF2B5EF4-FFF2-40B4-BE49-F238E27FC236}">
                <a16:creationId xmlns:a16="http://schemas.microsoft.com/office/drawing/2014/main" id="{B6F24C74-D3CD-4040-841E-75F17DEB0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324350"/>
            <a:ext cx="952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7171C"/>
                </a:solidFill>
              </a:defRPr>
            </a:pPr>
            <a:r>
              <a:rPr sz="1500" b="0" i="0">
                <a:solidFill>
                  <a:srgbClr val="17171C"/>
                </a:solidFill>
              </a:rPr>
              <a:t>ITT among randomized applicants; exclusions must be pre-specified.</a:t>
            </a:r>
          </a:p>
        </p:txBody>
      </p:sp>
      <p:sp>
        <p:nvSpPr>
          <p:cNvPr id="16" name="stop">
            <a:extLst xmlns:a="http://schemas.openxmlformats.org/drawingml/2006/main">
              <a:ext uri="{FF2B5EF4-FFF2-40B4-BE49-F238E27FC236}">
                <a16:creationId xmlns:a16="http://schemas.microsoft.com/office/drawing/2014/main" id="{8F2F5A78-C8C1-4140-B117-1B6B57A63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91125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FF0000"/>
                </a:solidFill>
              </a:defRPr>
            </a:pPr>
            <a:r>
              <a:rPr sz="1800" b="1" i="0">
                <a:solidFill>
                  <a:srgbClr val="FF0000"/>
                </a:solidFill>
              </a:rPr>
              <a:t>WITHHOLD BUILDER AUTHORITY until the StatsClaw planner locks this contract.</a:t>
            </a:r>
          </a:p>
        </p:txBody>
      </p:sp>
      <p:sp>
        <p:nvSpPr>
          <p:cNvPr id="17" name="stop2">
            <a:extLst xmlns:a="http://schemas.openxmlformats.org/drawingml/2006/main">
              <a:ext uri="{FF2B5EF4-FFF2-40B4-BE49-F238E27FC236}">
                <a16:creationId xmlns:a16="http://schemas.microsoft.com/office/drawing/2014/main" id="{9FF91ECC-20FA-4A30-B664-C7E1E2255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00700"/>
            <a:ext cx="1000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FF0000"/>
                </a:solidFill>
              </a:defRPr>
            </a:pPr>
            <a:r>
              <a:rPr sz="1650" b="1" i="0">
                <a:solidFill>
                  <a:srgbClr val="FF0000"/>
                </a:solidFill>
              </a:rPr>
              <a:t>STOP if keys fail, treatment changes, or exclusions are unexplained.</a:t>
            </a:r>
          </a:p>
        </p:txBody>
      </p:sp>
    </p:spTree>
    <p:extLst>
      <p:ext uri="{BB962C8B-B14F-4D97-AF65-F5344CB8AC3E}">
        <p14:creationId xmlns:p14="http://schemas.microsoft.com/office/powerpoint/2010/main" val="67173949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5AE43F4-0A49-4A7A-822D-8B26CCBF4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1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3333B2"/>
                </a:solidFill>
              </a:defRPr>
            </a:pPr>
            <a:r>
              <a:rPr sz="2925" b="1" i="0">
                <a:solidFill>
                  <a:srgbClr val="3333B2"/>
                </a:solidFill>
              </a:rPr>
              <a:t>StatsClaw separates planning, building, and verification</a:t>
            </a:r>
          </a:p>
        </p:txBody>
      </p:sp>
      <p:sp>
        <p:nvSpPr>
          <p:cNvPr id="2" name="rule-68-107">
            <a:extLst xmlns:a="http://schemas.openxmlformats.org/drawingml/2006/main">
              <a:ext uri="{FF2B5EF4-FFF2-40B4-BE49-F238E27FC236}">
                <a16:creationId xmlns:a16="http://schemas.microsoft.com/office/drawing/2014/main" id="{1403B2A6-5B77-463F-A9A4-BAA9B1236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19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A658070-0D33-4F23-BF50-099735190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5C5C69"/>
                </a:solidFill>
              </a:defRPr>
            </a:pPr>
            <a:r>
              <a:rPr sz="825" b="0" i="0">
                <a:solidFill>
                  <a:srgbClr val="5C5C69"/>
                </a:solidFill>
              </a:rPr>
              <a:t>14 / 29</a:t>
            </a:r>
          </a:p>
        </p:txBody>
      </p:sp>
      <p:sp>
        <p:nvSpPr>
          <p:cNvPr id="4" name="step-0">
            <a:extLst xmlns:a="http://schemas.openxmlformats.org/drawingml/2006/main">
              <a:ext uri="{FF2B5EF4-FFF2-40B4-BE49-F238E27FC236}">
                <a16:creationId xmlns:a16="http://schemas.microsoft.com/office/drawing/2014/main" id="{91151765-C7A2-4D29-A4FA-EEA1D768F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95500"/>
            <a:ext cx="180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StatsClaw</a:t>
            </a:r>
          </a:p>
          <a:p xmlns:a="http://schemas.openxmlformats.org/drawingml/2006/main">
            <a:pPr algn="ctr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planner</a:t>
            </a:r>
          </a:p>
        </p:txBody>
      </p:sp>
      <p:sp>
        <p:nvSpPr>
          <p:cNvPr id="5" name="arrow-0">
            <a:extLst xmlns:a="http://schemas.openxmlformats.org/drawingml/2006/main">
              <a:ext uri="{FF2B5EF4-FFF2-40B4-BE49-F238E27FC236}">
                <a16:creationId xmlns:a16="http://schemas.microsoft.com/office/drawing/2014/main" id="{06A73D2C-C6D5-4A37-9EC2-1007D12E5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2238375"/>
            <a:ext cx="361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100" b="0" i="0">
                <a:solidFill>
                  <a:srgbClr val="5C5C69"/>
                </a:solidFill>
              </a:defRPr>
            </a:pPr>
            <a:r>
              <a:rPr sz="2100" b="0" i="0">
                <a:solidFill>
                  <a:srgbClr val="5C5C69"/>
                </a:solidFill>
              </a:rPr>
              <a:t>→</a:t>
            </a:r>
          </a:p>
        </p:txBody>
      </p:sp>
      <p:sp>
        <p:nvSpPr>
          <p:cNvPr id="6" name="step-1">
            <a:extLst xmlns:a="http://schemas.openxmlformats.org/drawingml/2006/main">
              <a:ext uri="{FF2B5EF4-FFF2-40B4-BE49-F238E27FC236}">
                <a16:creationId xmlns:a16="http://schemas.microsoft.com/office/drawing/2014/main" id="{E2F33A43-0914-4580-9AAC-3792E545E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2095500"/>
            <a:ext cx="180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FF0000"/>
                </a:solidFill>
              </a:defRPr>
            </a:pPr>
            <a:r>
              <a:rPr sz="1500" b="1" i="0">
                <a:solidFill>
                  <a:srgbClr val="FF0000"/>
                </a:solidFill>
              </a:rPr>
              <a:t>authorized</a:t>
            </a:r>
          </a:p>
          <a:p xmlns:a="http://schemas.openxmlformats.org/drawingml/2006/main">
            <a:pPr algn="ctr">
              <a:defRPr sz="1500" b="1" i="0">
                <a:solidFill>
                  <a:srgbClr val="FF0000"/>
                </a:solidFill>
              </a:defRPr>
            </a:pPr>
            <a:r>
              <a:rPr sz="1500" b="1" i="0">
                <a:solidFill>
                  <a:srgbClr val="FF0000"/>
                </a:solidFill>
              </a:rPr>
              <a:t>builder</a:t>
            </a:r>
          </a:p>
        </p:txBody>
      </p:sp>
      <p:sp>
        <p:nvSpPr>
          <p:cNvPr id="7" name="arrow-1">
            <a:extLst xmlns:a="http://schemas.openxmlformats.org/drawingml/2006/main">
              <a:ext uri="{FF2B5EF4-FFF2-40B4-BE49-F238E27FC236}">
                <a16:creationId xmlns:a16="http://schemas.microsoft.com/office/drawing/2014/main" id="{B2CA58F9-BAB3-4BF3-AADF-9FD7F6860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2238375"/>
            <a:ext cx="361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100" b="0" i="0">
                <a:solidFill>
                  <a:srgbClr val="5C5C69"/>
                </a:solidFill>
              </a:defRPr>
            </a:pPr>
            <a:r>
              <a:rPr sz="2100" b="0" i="0">
                <a:solidFill>
                  <a:srgbClr val="5C5C69"/>
                </a:solidFill>
              </a:rPr>
              <a:t>→</a:t>
            </a:r>
          </a:p>
        </p:txBody>
      </p:sp>
      <p:sp>
        <p:nvSpPr>
          <p:cNvPr id="8" name="step-2">
            <a:extLst xmlns:a="http://schemas.openxmlformats.org/drawingml/2006/main">
              <a:ext uri="{FF2B5EF4-FFF2-40B4-BE49-F238E27FC236}">
                <a16:creationId xmlns:a16="http://schemas.microsoft.com/office/drawing/2014/main" id="{F19DFB41-352E-4627-ADBE-3F85F2B08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2095500"/>
            <a:ext cx="180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independent</a:t>
            </a:r>
          </a:p>
          <a:p xmlns:a="http://schemas.openxmlformats.org/drawingml/2006/main">
            <a:pPr algn="ctr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tester</a:t>
            </a:r>
          </a:p>
        </p:txBody>
      </p:sp>
      <p:sp>
        <p:nvSpPr>
          <p:cNvPr id="9" name="arrow-2">
            <a:extLst xmlns:a="http://schemas.openxmlformats.org/drawingml/2006/main">
              <a:ext uri="{FF2B5EF4-FFF2-40B4-BE49-F238E27FC236}">
                <a16:creationId xmlns:a16="http://schemas.microsoft.com/office/drawing/2014/main" id="{D87A6CB7-26A1-450A-8B99-EBF1DA614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4175" y="2238375"/>
            <a:ext cx="361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100" b="0" i="0">
                <a:solidFill>
                  <a:srgbClr val="5C5C69"/>
                </a:solidFill>
              </a:defRPr>
            </a:pPr>
            <a:r>
              <a:rPr sz="2100" b="0" i="0">
                <a:solidFill>
                  <a:srgbClr val="5C5C69"/>
                </a:solidFill>
              </a:rPr>
              <a:t>→</a:t>
            </a:r>
          </a:p>
        </p:txBody>
      </p:sp>
      <p:sp>
        <p:nvSpPr>
          <p:cNvPr id="10" name="step-3">
            <a:extLst xmlns:a="http://schemas.openxmlformats.org/drawingml/2006/main">
              <a:ext uri="{FF2B5EF4-FFF2-40B4-BE49-F238E27FC236}">
                <a16:creationId xmlns:a16="http://schemas.microsoft.com/office/drawing/2014/main" id="{D8E01F8B-04FB-422B-8B8D-303FC35C6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2095500"/>
            <a:ext cx="180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$review</a:t>
            </a:r>
          </a:p>
        </p:txBody>
      </p:sp>
      <p:sp>
        <p:nvSpPr>
          <p:cNvPr id="11" name="arrow-3">
            <a:extLst xmlns:a="http://schemas.openxmlformats.org/drawingml/2006/main">
              <a:ext uri="{FF2B5EF4-FFF2-40B4-BE49-F238E27FC236}">
                <a16:creationId xmlns:a16="http://schemas.microsoft.com/office/drawing/2014/main" id="{B84C8B2B-0DA9-4A1C-A220-ADC2ACB3F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4925" y="2238375"/>
            <a:ext cx="361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100" b="0" i="0">
                <a:solidFill>
                  <a:srgbClr val="5C5C69"/>
                </a:solidFill>
              </a:defRPr>
            </a:pPr>
            <a:r>
              <a:rPr sz="2100" b="0" i="0">
                <a:solidFill>
                  <a:srgbClr val="5C5C69"/>
                </a:solidFill>
              </a:rPr>
              <a:t>→</a:t>
            </a:r>
          </a:p>
        </p:txBody>
      </p:sp>
      <p:sp>
        <p:nvSpPr>
          <p:cNvPr id="12" name="step-4">
            <a:extLst xmlns:a="http://schemas.openxmlformats.org/drawingml/2006/main">
              <a:ext uri="{FF2B5EF4-FFF2-40B4-BE49-F238E27FC236}">
                <a16:creationId xmlns:a16="http://schemas.microsoft.com/office/drawing/2014/main" id="{C97AC4D1-22C0-4218-8D12-7AC6987DD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2095500"/>
            <a:ext cx="247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local Git commit</a:t>
            </a:r>
          </a:p>
          <a:p xmlns:a="http://schemas.openxmlformats.org/drawingml/2006/main">
            <a:pPr algn="ctr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after PASS</a:t>
            </a:r>
          </a:p>
        </p:txBody>
      </p:sp>
      <p:sp>
        <p:nvSpPr>
          <p:cNvPr id="13" name="cmd-355">
            <a:extLst xmlns:a="http://schemas.openxmlformats.org/drawingml/2006/main">
              <a:ext uri="{FF2B5EF4-FFF2-40B4-BE49-F238E27FC236}">
                <a16:creationId xmlns:a16="http://schemas.microsoft.com/office/drawing/2014/main" id="{0A854336-CF5F-4E0F-BE5A-53E10AAFB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381375"/>
            <a:ext cx="6953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0000FF"/>
                </a:solidFill>
              </a:defRPr>
            </a:pPr>
            <a:r>
              <a:rPr sz="1650" b="0" i="0">
                <a:solidFill>
                  <a:srgbClr val="0000FF"/>
                </a:solidFill>
              </a:rPr>
              <a:t>git switch -c yourname/case-a-itt</a:t>
            </a:r>
          </a:p>
        </p:txBody>
      </p:sp>
      <p:sp>
        <p:nvSpPr>
          <p:cNvPr id="14" name="pass-rule">
            <a:extLst xmlns:a="http://schemas.openxmlformats.org/drawingml/2006/main">
              <a:ext uri="{FF2B5EF4-FFF2-40B4-BE49-F238E27FC236}">
                <a16:creationId xmlns:a16="http://schemas.microsoft.com/office/drawing/2014/main" id="{E0642A7C-F12A-4B7D-B5C4-2E97AC483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24375"/>
            <a:ext cx="6477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BF0040"/>
                </a:solidFill>
              </a:defRPr>
            </a:pPr>
            <a:r>
              <a:rPr sz="2250" b="1" i="0">
                <a:solidFill>
                  <a:srgbClr val="BF0040"/>
                </a:solidFill>
              </a:rPr>
              <a:t>Commit locally only after PASS.</a:t>
            </a:r>
          </a:p>
        </p:txBody>
      </p:sp>
      <p:sp>
        <p:nvSpPr>
          <p:cNvPr id="15" name="no-ship">
            <a:extLst xmlns:a="http://schemas.openxmlformats.org/drawingml/2006/main">
              <a:ext uri="{FF2B5EF4-FFF2-40B4-BE49-F238E27FC236}">
                <a16:creationId xmlns:a16="http://schemas.microsoft.com/office/drawing/2014/main" id="{CFA4BF59-164F-40DE-9E6E-58780BFF3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95875"/>
            <a:ext cx="7239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FF0000"/>
                </a:solidFill>
              </a:defRPr>
            </a:pPr>
            <a:r>
              <a:rPr sz="2100" b="1" i="0">
                <a:solidFill>
                  <a:srgbClr val="FF0000"/>
                </a:solidFill>
              </a:rPr>
              <a:t>No $ship-it in class. Do not push.</a:t>
            </a:r>
          </a:p>
        </p:txBody>
      </p:sp>
    </p:spTree>
    <p:extLst>
      <p:ext uri="{BB962C8B-B14F-4D97-AF65-F5344CB8AC3E}">
        <p14:creationId xmlns:p14="http://schemas.microsoft.com/office/powerpoint/2010/main" val="67001608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71F9C63-29DE-4FDA-926D-8054092FA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1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3333B2"/>
                </a:solidFill>
              </a:defRPr>
            </a:pPr>
            <a:r>
              <a:rPr sz="2925" b="1" i="0">
                <a:solidFill>
                  <a:srgbClr val="3333B2"/>
                </a:solidFill>
              </a:rPr>
              <a:t>Every clean gate has a stage owner</a:t>
            </a:r>
          </a:p>
        </p:txBody>
      </p:sp>
      <p:sp>
        <p:nvSpPr>
          <p:cNvPr id="2" name="rule-68-107">
            <a:extLst xmlns:a="http://schemas.openxmlformats.org/drawingml/2006/main">
              <a:ext uri="{FF2B5EF4-FFF2-40B4-BE49-F238E27FC236}">
                <a16:creationId xmlns:a16="http://schemas.microsoft.com/office/drawing/2014/main" id="{4DB5307C-479F-4B62-8C1C-2467361F4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19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EA9D138-8FB7-4717-AAB2-03BEFBFF4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5C5C69"/>
                </a:solidFill>
              </a:defRPr>
            </a:pPr>
            <a:r>
              <a:rPr sz="825" b="0" i="0">
                <a:solidFill>
                  <a:srgbClr val="5C5C69"/>
                </a:solidFill>
              </a:rPr>
              <a:t>15 / 29</a:t>
            </a:r>
          </a:p>
        </p:txBody>
      </p:sp>
      <p:sp>
        <p:nvSpPr>
          <p:cNvPr id="4" name="gate-0">
            <a:extLst xmlns:a="http://schemas.openxmlformats.org/drawingml/2006/main">
              <a:ext uri="{FF2B5EF4-FFF2-40B4-BE49-F238E27FC236}">
                <a16:creationId xmlns:a16="http://schemas.microsoft.com/office/drawing/2014/main" id="{102CD238-1556-4DD3-BBE7-847F9679F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362075"/>
            <a:ext cx="2476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3333B2"/>
                </a:solidFill>
              </a:defRPr>
            </a:pPr>
            <a:r>
              <a:rPr sz="1425" b="1" i="0">
                <a:solidFill>
                  <a:srgbClr val="3333B2"/>
                </a:solidFill>
              </a:rPr>
              <a:t>PLANNER</a:t>
            </a:r>
          </a:p>
        </p:txBody>
      </p:sp>
      <p:sp>
        <p:nvSpPr>
          <p:cNvPr id="5" name="gate-desc-0">
            <a:extLst xmlns:a="http://schemas.openxmlformats.org/drawingml/2006/main">
              <a:ext uri="{FF2B5EF4-FFF2-40B4-BE49-F238E27FC236}">
                <a16:creationId xmlns:a16="http://schemas.microsoft.com/office/drawing/2014/main" id="{AFEC9DBA-D187-4821-99B8-D28C8CD06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362075"/>
            <a:ext cx="7620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7171C"/>
                </a:solidFill>
              </a:defRPr>
            </a:pPr>
            <a:r>
              <a:rPr sz="1650" b="0" i="0">
                <a:solidFill>
                  <a:srgbClr val="17171C"/>
                </a:solidFill>
              </a:rPr>
              <a:t>locks applicant unit, ITT estimand, and expected N</a:t>
            </a:r>
          </a:p>
        </p:txBody>
      </p:sp>
      <p:sp>
        <p:nvSpPr>
          <p:cNvPr id="6" name="rule-88-196">
            <a:extLst xmlns:a="http://schemas.openxmlformats.org/drawingml/2006/main">
              <a:ext uri="{FF2B5EF4-FFF2-40B4-BE49-F238E27FC236}">
                <a16:creationId xmlns:a16="http://schemas.microsoft.com/office/drawing/2014/main" id="{E9FB1DF8-BFD8-409E-8C2B-3B968B961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66900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7" name="gate-1">
            <a:extLst xmlns:a="http://schemas.openxmlformats.org/drawingml/2006/main">
              <a:ext uri="{FF2B5EF4-FFF2-40B4-BE49-F238E27FC236}">
                <a16:creationId xmlns:a16="http://schemas.microsoft.com/office/drawing/2014/main" id="{672AEC73-48C1-4DE1-8084-FBB496331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05025"/>
            <a:ext cx="2476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3333B2"/>
                </a:solidFill>
              </a:defRPr>
            </a:pPr>
            <a:r>
              <a:rPr sz="1425" b="1" i="0">
                <a:solidFill>
                  <a:srgbClr val="3333B2"/>
                </a:solidFill>
              </a:rPr>
              <a:t>PLANNER</a:t>
            </a:r>
          </a:p>
        </p:txBody>
      </p:sp>
      <p:sp>
        <p:nvSpPr>
          <p:cNvPr id="8" name="gate-desc-1">
            <a:extLst xmlns:a="http://schemas.openxmlformats.org/drawingml/2006/main">
              <a:ext uri="{FF2B5EF4-FFF2-40B4-BE49-F238E27FC236}">
                <a16:creationId xmlns:a16="http://schemas.microsoft.com/office/drawing/2014/main" id="{90D357AD-BB81-4E99-AD31-728B8123A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105025"/>
            <a:ext cx="7620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7171C"/>
                </a:solidFill>
              </a:defRPr>
            </a:pPr>
            <a:r>
              <a:rPr sz="1650" b="0" i="0">
                <a:solidFill>
                  <a:srgbClr val="17171C"/>
                </a:solidFill>
              </a:rPr>
              <a:t>locks unique keys and the complete 1:1 merge contract</a:t>
            </a:r>
          </a:p>
        </p:txBody>
      </p:sp>
      <p:sp>
        <p:nvSpPr>
          <p:cNvPr id="9" name="rule-88-274">
            <a:extLst xmlns:a="http://schemas.openxmlformats.org/drawingml/2006/main">
              <a:ext uri="{FF2B5EF4-FFF2-40B4-BE49-F238E27FC236}">
                <a16:creationId xmlns:a16="http://schemas.microsoft.com/office/drawing/2014/main" id="{584A397D-F457-4456-92DB-1D129205C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09850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10" name="gate-2">
            <a:extLst xmlns:a="http://schemas.openxmlformats.org/drawingml/2006/main">
              <a:ext uri="{FF2B5EF4-FFF2-40B4-BE49-F238E27FC236}">
                <a16:creationId xmlns:a16="http://schemas.microsoft.com/office/drawing/2014/main" id="{D3B26DDE-4DBD-4B03-968A-600EAC536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47975"/>
            <a:ext cx="2476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3333B2"/>
                </a:solidFill>
              </a:defRPr>
            </a:pPr>
            <a:r>
              <a:rPr sz="1425" b="1" i="0">
                <a:solidFill>
                  <a:srgbClr val="3333B2"/>
                </a:solidFill>
              </a:rPr>
              <a:t>AUTHORIZED BUILDER</a:t>
            </a:r>
          </a:p>
        </p:txBody>
      </p:sp>
      <p:sp>
        <p:nvSpPr>
          <p:cNvPr id="11" name="gate-desc-2">
            <a:extLst xmlns:a="http://schemas.openxmlformats.org/drawingml/2006/main">
              <a:ext uri="{FF2B5EF4-FFF2-40B4-BE49-F238E27FC236}">
                <a16:creationId xmlns:a16="http://schemas.microsoft.com/office/drawing/2014/main" id="{7F1A45E8-3FC6-4F87-8478-4FBF7BE1F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847975"/>
            <a:ext cx="7620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7171C"/>
                </a:solidFill>
              </a:defRPr>
            </a:pPr>
            <a:r>
              <a:rPr sz="1650" b="0" i="0">
                <a:solidFill>
                  <a:srgbClr val="17171C"/>
                </a:solidFill>
              </a:rPr>
              <a:t>implements only the accepted plan</a:t>
            </a:r>
          </a:p>
        </p:txBody>
      </p:sp>
      <p:sp>
        <p:nvSpPr>
          <p:cNvPr id="12" name="rule-88-352">
            <a:extLst xmlns:a="http://schemas.openxmlformats.org/drawingml/2006/main">
              <a:ext uri="{FF2B5EF4-FFF2-40B4-BE49-F238E27FC236}">
                <a16:creationId xmlns:a16="http://schemas.microsoft.com/office/drawing/2014/main" id="{3015EB72-1F43-4978-AE4E-4D6C317C1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52800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13" name="gate-3">
            <a:extLst xmlns:a="http://schemas.openxmlformats.org/drawingml/2006/main">
              <a:ext uri="{FF2B5EF4-FFF2-40B4-BE49-F238E27FC236}">
                <a16:creationId xmlns:a16="http://schemas.microsoft.com/office/drawing/2014/main" id="{B703A95E-7D41-401D-80D1-760E69165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90925"/>
            <a:ext cx="2476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3333B2"/>
                </a:solidFill>
              </a:defRPr>
            </a:pPr>
            <a:r>
              <a:rPr sz="1425" b="1" i="0">
                <a:solidFill>
                  <a:srgbClr val="3333B2"/>
                </a:solidFill>
              </a:rPr>
              <a:t>INDEPENDENT TESTER</a:t>
            </a:r>
          </a:p>
        </p:txBody>
      </p:sp>
      <p:sp>
        <p:nvSpPr>
          <p:cNvPr id="14" name="gate-desc-3">
            <a:extLst xmlns:a="http://schemas.openxmlformats.org/drawingml/2006/main">
              <a:ext uri="{FF2B5EF4-FFF2-40B4-BE49-F238E27FC236}">
                <a16:creationId xmlns:a16="http://schemas.microsoft.com/office/drawing/2014/main" id="{7296052D-CD32-4BF6-9572-2C37C7554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590925"/>
            <a:ext cx="7620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7171C"/>
                </a:solidFill>
              </a:defRPr>
            </a:pPr>
            <a:r>
              <a:rPr sz="1650" b="0" i="0">
                <a:solidFill>
                  <a:srgbClr val="17171C"/>
                </a:solidFill>
              </a:rPr>
              <a:t>checks N, keys, assignment, merges, and outcomes</a:t>
            </a:r>
          </a:p>
        </p:txBody>
      </p:sp>
      <p:sp>
        <p:nvSpPr>
          <p:cNvPr id="15" name="rule-88-430">
            <a:extLst xmlns:a="http://schemas.openxmlformats.org/drawingml/2006/main">
              <a:ext uri="{FF2B5EF4-FFF2-40B4-BE49-F238E27FC236}">
                <a16:creationId xmlns:a16="http://schemas.microsoft.com/office/drawing/2014/main" id="{FC80E5F4-87F2-4331-A877-15C863D53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95750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16" name="gate-4">
            <a:extLst xmlns:a="http://schemas.openxmlformats.org/drawingml/2006/main">
              <a:ext uri="{FF2B5EF4-FFF2-40B4-BE49-F238E27FC236}">
                <a16:creationId xmlns:a16="http://schemas.microsoft.com/office/drawing/2014/main" id="{4F80951F-ED38-4EDC-B97D-003B3AF5D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33875"/>
            <a:ext cx="2476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3333B2"/>
                </a:solidFill>
              </a:defRPr>
            </a:pPr>
            <a:r>
              <a:rPr sz="1425" b="1" i="0">
                <a:solidFill>
                  <a:srgbClr val="3333B2"/>
                </a:solidFill>
              </a:rPr>
              <a:t>$REVIEW</a:t>
            </a:r>
          </a:p>
        </p:txBody>
      </p:sp>
      <p:sp>
        <p:nvSpPr>
          <p:cNvPr id="17" name="gate-desc-4">
            <a:extLst xmlns:a="http://schemas.openxmlformats.org/drawingml/2006/main">
              <a:ext uri="{FF2B5EF4-FFF2-40B4-BE49-F238E27FC236}">
                <a16:creationId xmlns:a16="http://schemas.microsoft.com/office/drawing/2014/main" id="{DC04E349-4E4B-4AA7-B9A7-2A089D8F6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333875"/>
            <a:ext cx="7620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7171C"/>
                </a:solidFill>
              </a:defRPr>
            </a:pPr>
            <a:r>
              <a:rPr sz="1650" b="0" i="0">
                <a:solidFill>
                  <a:srgbClr val="17171C"/>
                </a:solidFill>
              </a:rPr>
              <a:t>compares plan, build, and test; issues a status</a:t>
            </a:r>
          </a:p>
        </p:txBody>
      </p:sp>
      <p:sp>
        <p:nvSpPr>
          <p:cNvPr id="18" name="rule-88-508">
            <a:extLst xmlns:a="http://schemas.openxmlformats.org/drawingml/2006/main">
              <a:ext uri="{FF2B5EF4-FFF2-40B4-BE49-F238E27FC236}">
                <a16:creationId xmlns:a16="http://schemas.microsoft.com/office/drawing/2014/main" id="{49044035-0D78-41DF-BDFC-C63C48C79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38700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19" name="gate-5">
            <a:extLst xmlns:a="http://schemas.openxmlformats.org/drawingml/2006/main">
              <a:ext uri="{FF2B5EF4-FFF2-40B4-BE49-F238E27FC236}">
                <a16:creationId xmlns:a16="http://schemas.microsoft.com/office/drawing/2014/main" id="{AED1B09C-7D88-4602-BCC3-2C7AA55CB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076825"/>
            <a:ext cx="2476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3333B2"/>
                </a:solidFill>
              </a:defRPr>
            </a:pPr>
            <a:r>
              <a:rPr sz="1425" b="1" i="0">
                <a:solidFill>
                  <a:srgbClr val="3333B2"/>
                </a:solidFill>
              </a:rPr>
              <a:t>LOCAL GIT</a:t>
            </a:r>
          </a:p>
        </p:txBody>
      </p:sp>
      <p:sp>
        <p:nvSpPr>
          <p:cNvPr id="20" name="gate-desc-5">
            <a:extLst xmlns:a="http://schemas.openxmlformats.org/drawingml/2006/main">
              <a:ext uri="{FF2B5EF4-FFF2-40B4-BE49-F238E27FC236}">
                <a16:creationId xmlns:a16="http://schemas.microsoft.com/office/drawing/2014/main" id="{543EFF35-754F-43D5-8496-51F589D13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076825"/>
            <a:ext cx="7620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7171C"/>
                </a:solidFill>
              </a:defRPr>
            </a:pPr>
            <a:r>
              <a:rPr sz="1650" b="0" i="0">
                <a:solidFill>
                  <a:srgbClr val="17171C"/>
                </a:solidFill>
              </a:rPr>
              <a:t>commit only after PASS; no push and no $ship-it</a:t>
            </a:r>
          </a:p>
        </p:txBody>
      </p:sp>
    </p:spTree>
    <p:extLst>
      <p:ext uri="{BB962C8B-B14F-4D97-AF65-F5344CB8AC3E}">
        <p14:creationId xmlns:p14="http://schemas.microsoft.com/office/powerpoint/2010/main" val="169062421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E78F7E5-D118-455F-AEDD-C60142095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1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3333B2"/>
                </a:solidFill>
              </a:defRPr>
            </a:pPr>
            <a:r>
              <a:rPr sz="2925" b="1" i="0">
                <a:solidFill>
                  <a:srgbClr val="3333B2"/>
                </a:solidFill>
              </a:rPr>
              <a:t>Case A — Expected independent tester output</a:t>
            </a:r>
          </a:p>
        </p:txBody>
      </p:sp>
      <p:sp>
        <p:nvSpPr>
          <p:cNvPr id="2" name="rule-68-107">
            <a:extLst xmlns:a="http://schemas.openxmlformats.org/drawingml/2006/main">
              <a:ext uri="{FF2B5EF4-FFF2-40B4-BE49-F238E27FC236}">
                <a16:creationId xmlns:a16="http://schemas.microsoft.com/office/drawing/2014/main" id="{73335A41-8361-4776-8387-3C5F1A1E6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19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C87C0DC-3DCD-46F9-97EE-E5E81A386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5C5C69"/>
                </a:solidFill>
              </a:defRPr>
            </a:pPr>
            <a:r>
              <a:rPr sz="825" b="0" i="0">
                <a:solidFill>
                  <a:srgbClr val="5C5C69"/>
                </a:solidFill>
              </a:rPr>
              <a:t>16 / 29</a:t>
            </a:r>
          </a:p>
        </p:txBody>
      </p:sp>
      <p:sp>
        <p:nvSpPr>
          <p:cNvPr id="4" name="tester-label-0">
            <a:extLst xmlns:a="http://schemas.openxmlformats.org/drawingml/2006/main">
              <a:ext uri="{FF2B5EF4-FFF2-40B4-BE49-F238E27FC236}">
                <a16:creationId xmlns:a16="http://schemas.microsoft.com/office/drawing/2014/main" id="{06400137-335C-4F2E-B67B-72BB6DDEC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573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3333B2"/>
                </a:solidFill>
              </a:defRPr>
            </a:pPr>
            <a:r>
              <a:rPr sz="1425" b="1" i="0">
                <a:solidFill>
                  <a:srgbClr val="3333B2"/>
                </a:solidFill>
              </a:rPr>
              <a:t>ANALYSIS N</a:t>
            </a:r>
          </a:p>
        </p:txBody>
      </p:sp>
      <p:sp>
        <p:nvSpPr>
          <p:cNvPr id="5" name="tester-value-0">
            <a:extLst xmlns:a="http://schemas.openxmlformats.org/drawingml/2006/main">
              <a:ext uri="{FF2B5EF4-FFF2-40B4-BE49-F238E27FC236}">
                <a16:creationId xmlns:a16="http://schemas.microsoft.com/office/drawing/2014/main" id="{6440F9DE-1A3E-497D-B894-38FD4EE89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12573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17171C"/>
                </a:solidFill>
              </a:defRPr>
            </a:pPr>
            <a:r>
              <a:rPr sz="1725" b="0" i="0">
                <a:solidFill>
                  <a:srgbClr val="17171C"/>
                </a:solidFill>
              </a:rPr>
              <a:t>3,000 applicants</a:t>
            </a:r>
          </a:p>
        </p:txBody>
      </p:sp>
      <p:sp>
        <p:nvSpPr>
          <p:cNvPr id="6" name="rule-82-177">
            <a:extLst xmlns:a="http://schemas.openxmlformats.org/drawingml/2006/main">
              <a:ext uri="{FF2B5EF4-FFF2-40B4-BE49-F238E27FC236}">
                <a16:creationId xmlns:a16="http://schemas.microsoft.com/office/drawing/2014/main" id="{5C065FBD-7937-4A62-86ED-2D234A5A2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85925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7" name="tester-label-1">
            <a:extLst xmlns:a="http://schemas.openxmlformats.org/drawingml/2006/main">
              <a:ext uri="{FF2B5EF4-FFF2-40B4-BE49-F238E27FC236}">
                <a16:creationId xmlns:a16="http://schemas.microsoft.com/office/drawing/2014/main" id="{77345B65-4180-4C6B-9E8F-682E236AB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76425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3333B2"/>
                </a:solidFill>
              </a:defRPr>
            </a:pPr>
            <a:r>
              <a:rPr sz="1425" b="1" i="0">
                <a:solidFill>
                  <a:srgbClr val="3333B2"/>
                </a:solidFill>
              </a:rPr>
              <a:t>UNIQUE IDs</a:t>
            </a:r>
          </a:p>
        </p:txBody>
      </p:sp>
      <p:sp>
        <p:nvSpPr>
          <p:cNvPr id="8" name="tester-value-1">
            <a:extLst xmlns:a="http://schemas.openxmlformats.org/drawingml/2006/main">
              <a:ext uri="{FF2B5EF4-FFF2-40B4-BE49-F238E27FC236}">
                <a16:creationId xmlns:a16="http://schemas.microsoft.com/office/drawing/2014/main" id="{1A860A5A-EA64-4E27-BFE5-289F5C4FB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1876425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17171C"/>
                </a:solidFill>
              </a:defRPr>
            </a:pPr>
            <a:r>
              <a:rPr sz="1725" b="0" i="0">
                <a:solidFill>
                  <a:srgbClr val="17171C"/>
                </a:solidFill>
              </a:rPr>
              <a:t>3,000 applicant_id values</a:t>
            </a:r>
          </a:p>
        </p:txBody>
      </p:sp>
      <p:sp>
        <p:nvSpPr>
          <p:cNvPr id="9" name="rule-82-242">
            <a:extLst xmlns:a="http://schemas.openxmlformats.org/drawingml/2006/main">
              <a:ext uri="{FF2B5EF4-FFF2-40B4-BE49-F238E27FC236}">
                <a16:creationId xmlns:a16="http://schemas.microsoft.com/office/drawing/2014/main" id="{3AFE0DE8-3462-4C7C-A739-6655FACC6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05050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10" name="tester-label-2">
            <a:extLst xmlns:a="http://schemas.openxmlformats.org/drawingml/2006/main">
              <a:ext uri="{FF2B5EF4-FFF2-40B4-BE49-F238E27FC236}">
                <a16:creationId xmlns:a16="http://schemas.microsoft.com/office/drawing/2014/main" id="{7AA42364-B3F9-4AA7-98EA-1F54B4B64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955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3333B2"/>
                </a:solidFill>
              </a:defRPr>
            </a:pPr>
            <a:r>
              <a:rPr sz="1425" b="1" i="0">
                <a:solidFill>
                  <a:srgbClr val="3333B2"/>
                </a:solidFill>
              </a:rPr>
              <a:t>ASSIGNMENT</a:t>
            </a:r>
          </a:p>
        </p:txBody>
      </p:sp>
      <p:sp>
        <p:nvSpPr>
          <p:cNvPr id="11" name="tester-value-2">
            <a:extLst xmlns:a="http://schemas.openxmlformats.org/drawingml/2006/main">
              <a:ext uri="{FF2B5EF4-FFF2-40B4-BE49-F238E27FC236}">
                <a16:creationId xmlns:a16="http://schemas.microsoft.com/office/drawing/2014/main" id="{23F8D0F2-D851-49F9-9959-85F9C1E73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49555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17171C"/>
                </a:solidFill>
              </a:defRPr>
            </a:pPr>
            <a:r>
              <a:rPr sz="1725" b="0" i="0">
                <a:solidFill>
                  <a:srgbClr val="17171C"/>
                </a:solidFill>
              </a:rPr>
              <a:t>Control 1,500  •  Offered 1,500</a:t>
            </a:r>
          </a:p>
        </p:txBody>
      </p:sp>
      <p:sp>
        <p:nvSpPr>
          <p:cNvPr id="12" name="rule-82-307">
            <a:extLst xmlns:a="http://schemas.openxmlformats.org/drawingml/2006/main">
              <a:ext uri="{FF2B5EF4-FFF2-40B4-BE49-F238E27FC236}">
                <a16:creationId xmlns:a16="http://schemas.microsoft.com/office/drawing/2014/main" id="{67A12279-2627-48C0-8B2F-2C75296A0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24175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13" name="tester-label-3">
            <a:extLst xmlns:a="http://schemas.openxmlformats.org/drawingml/2006/main">
              <a:ext uri="{FF2B5EF4-FFF2-40B4-BE49-F238E27FC236}">
                <a16:creationId xmlns:a16="http://schemas.microsoft.com/office/drawing/2014/main" id="{57359B68-8C14-42C2-9F68-38C588335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14675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3333B2"/>
                </a:solidFill>
              </a:defRPr>
            </a:pPr>
            <a:r>
              <a:rPr sz="1425" b="1" i="0">
                <a:solidFill>
                  <a:srgbClr val="3333B2"/>
                </a:solidFill>
              </a:rPr>
              <a:t>MERGES</a:t>
            </a:r>
          </a:p>
        </p:txBody>
      </p:sp>
      <p:sp>
        <p:nvSpPr>
          <p:cNvPr id="14" name="tester-value-3">
            <a:extLst xmlns:a="http://schemas.openxmlformats.org/drawingml/2006/main">
              <a:ext uri="{FF2B5EF4-FFF2-40B4-BE49-F238E27FC236}">
                <a16:creationId xmlns:a16="http://schemas.microsoft.com/office/drawing/2014/main" id="{4E13E238-8205-498F-AD3A-731BAEF66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114675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17171C"/>
                </a:solidFill>
              </a:defRPr>
            </a:pPr>
            <a:r>
              <a:rPr sz="1725" b="0" i="0">
                <a:solidFill>
                  <a:srgbClr val="17171C"/>
                </a:solidFill>
              </a:rPr>
              <a:t>Complete 1:1 applicant-level matches</a:t>
            </a:r>
          </a:p>
        </p:txBody>
      </p:sp>
      <p:sp>
        <p:nvSpPr>
          <p:cNvPr id="15" name="rule-82-372">
            <a:extLst xmlns:a="http://schemas.openxmlformats.org/drawingml/2006/main">
              <a:ext uri="{FF2B5EF4-FFF2-40B4-BE49-F238E27FC236}">
                <a16:creationId xmlns:a16="http://schemas.microsoft.com/office/drawing/2014/main" id="{6778CB5E-0375-4740-8278-1CF9AC537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43300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16" name="tester-label-4">
            <a:extLst xmlns:a="http://schemas.openxmlformats.org/drawingml/2006/main">
              <a:ext uri="{FF2B5EF4-FFF2-40B4-BE49-F238E27FC236}">
                <a16:creationId xmlns:a16="http://schemas.microsoft.com/office/drawing/2014/main" id="{93AF1F0E-1035-4EE5-99B5-F6C6EF051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338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3333B2"/>
                </a:solidFill>
              </a:defRPr>
            </a:pPr>
            <a:r>
              <a:rPr sz="1425" b="1" i="0">
                <a:solidFill>
                  <a:srgbClr val="3333B2"/>
                </a:solidFill>
              </a:rPr>
              <a:t>CONTROL EMPLOYED</a:t>
            </a:r>
          </a:p>
        </p:txBody>
      </p:sp>
      <p:sp>
        <p:nvSpPr>
          <p:cNvPr id="17" name="tester-value-4">
            <a:extLst xmlns:a="http://schemas.openxmlformats.org/drawingml/2006/main">
              <a:ext uri="{FF2B5EF4-FFF2-40B4-BE49-F238E27FC236}">
                <a16:creationId xmlns:a16="http://schemas.microsoft.com/office/drawing/2014/main" id="{1F622A8E-10E0-42BC-97A6-9B02D4195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7338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17171C"/>
                </a:solidFill>
              </a:defRPr>
            </a:pPr>
            <a:r>
              <a:rPr sz="1725" b="0" i="0">
                <a:solidFill>
                  <a:srgbClr val="17171C"/>
                </a:solidFill>
              </a:rPr>
              <a:t>945 / 1,500 = 63%</a:t>
            </a:r>
          </a:p>
        </p:txBody>
      </p:sp>
      <p:sp>
        <p:nvSpPr>
          <p:cNvPr id="18" name="rule-82-437">
            <a:extLst xmlns:a="http://schemas.openxmlformats.org/drawingml/2006/main">
              <a:ext uri="{FF2B5EF4-FFF2-40B4-BE49-F238E27FC236}">
                <a16:creationId xmlns:a16="http://schemas.microsoft.com/office/drawing/2014/main" id="{93ACFCE8-9D5C-4DF9-AA24-278D96B78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62425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19" name="tester-label-5">
            <a:extLst xmlns:a="http://schemas.openxmlformats.org/drawingml/2006/main">
              <a:ext uri="{FF2B5EF4-FFF2-40B4-BE49-F238E27FC236}">
                <a16:creationId xmlns:a16="http://schemas.microsoft.com/office/drawing/2014/main" id="{BC16815B-3B97-4938-8214-AB8710559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52925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3333B2"/>
                </a:solidFill>
              </a:defRPr>
            </a:pPr>
            <a:r>
              <a:rPr sz="1425" b="1" i="0">
                <a:solidFill>
                  <a:srgbClr val="3333B2"/>
                </a:solidFill>
              </a:rPr>
              <a:t>OFFERED EMPLOYED</a:t>
            </a:r>
          </a:p>
        </p:txBody>
      </p:sp>
      <p:sp>
        <p:nvSpPr>
          <p:cNvPr id="20" name="tester-value-5">
            <a:extLst xmlns:a="http://schemas.openxmlformats.org/drawingml/2006/main">
              <a:ext uri="{FF2B5EF4-FFF2-40B4-BE49-F238E27FC236}">
                <a16:creationId xmlns:a16="http://schemas.microsoft.com/office/drawing/2014/main" id="{14899321-8720-402F-8852-7EC6C5F02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352925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17171C"/>
                </a:solidFill>
              </a:defRPr>
            </a:pPr>
            <a:r>
              <a:rPr sz="1725" b="0" i="0">
                <a:solidFill>
                  <a:srgbClr val="17171C"/>
                </a:solidFill>
              </a:rPr>
              <a:t>1,050 / 1,500 = 70%</a:t>
            </a:r>
          </a:p>
        </p:txBody>
      </p:sp>
      <p:sp>
        <p:nvSpPr>
          <p:cNvPr id="21" name="rule-82-502">
            <a:extLst xmlns:a="http://schemas.openxmlformats.org/drawingml/2006/main">
              <a:ext uri="{FF2B5EF4-FFF2-40B4-BE49-F238E27FC236}">
                <a16:creationId xmlns:a16="http://schemas.microsoft.com/office/drawing/2014/main" id="{593A8848-FDA0-497F-9BF2-478B2CEA2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81550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22" name="tester-label-6">
            <a:extLst xmlns:a="http://schemas.openxmlformats.org/drawingml/2006/main">
              <a:ext uri="{FF2B5EF4-FFF2-40B4-BE49-F238E27FC236}">
                <a16:creationId xmlns:a16="http://schemas.microsoft.com/office/drawing/2014/main" id="{6EDC5BDA-BF2D-4665-9C22-592990325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720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3333B2"/>
                </a:solidFill>
              </a:defRPr>
            </a:pPr>
            <a:r>
              <a:rPr sz="1425" b="1" i="0">
                <a:solidFill>
                  <a:srgbClr val="3333B2"/>
                </a:solidFill>
              </a:rPr>
              <a:t>ITT</a:t>
            </a:r>
          </a:p>
        </p:txBody>
      </p:sp>
      <p:sp>
        <p:nvSpPr>
          <p:cNvPr id="23" name="tester-value-6">
            <a:extLst xmlns:a="http://schemas.openxmlformats.org/drawingml/2006/main">
              <a:ext uri="{FF2B5EF4-FFF2-40B4-BE49-F238E27FC236}">
                <a16:creationId xmlns:a16="http://schemas.microsoft.com/office/drawing/2014/main" id="{F275D041-250C-450E-8E63-1451A652C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97205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BF0040"/>
                </a:solidFill>
              </a:defRPr>
            </a:pPr>
            <a:r>
              <a:rPr sz="2025" b="1" i="0">
                <a:solidFill>
                  <a:srgbClr val="BF0040"/>
                </a:solidFill>
              </a:rPr>
              <a:t>+7 percentage points</a:t>
            </a:r>
          </a:p>
        </p:txBody>
      </p:sp>
      <p:sp>
        <p:nvSpPr>
          <p:cNvPr id="24" name="framing">
            <a:extLst xmlns:a="http://schemas.openxmlformats.org/drawingml/2006/main">
              <a:ext uri="{FF2B5EF4-FFF2-40B4-BE49-F238E27FC236}">
                <a16:creationId xmlns:a16="http://schemas.microsoft.com/office/drawing/2014/main" id="{E5E954A4-97FA-4A78-B009-29246F38D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791200"/>
            <a:ext cx="857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BF0040"/>
                </a:solidFill>
              </a:defRPr>
            </a:pPr>
            <a:r>
              <a:rPr sz="1800" b="1" i="0">
                <a:solidFill>
                  <a:srgbClr val="BF0040"/>
                </a:solidFill>
              </a:rPr>
              <a:t>Verification target—not a good or bad result.</a:t>
            </a:r>
          </a:p>
        </p:txBody>
      </p:sp>
    </p:spTree>
    <p:extLst>
      <p:ext uri="{BB962C8B-B14F-4D97-AF65-F5344CB8AC3E}">
        <p14:creationId xmlns:p14="http://schemas.microsoft.com/office/powerpoint/2010/main" val="113988403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0537CF5-2D35-415E-B197-9FD4178C3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1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3333B2"/>
                </a:solidFill>
              </a:defRPr>
            </a:pPr>
            <a:r>
              <a:rPr sz="2925" b="1" i="0">
                <a:solidFill>
                  <a:srgbClr val="3333B2"/>
                </a:solidFill>
              </a:rPr>
              <a:t>Case A — Verified employment rates differ by 7 pp</a:t>
            </a:r>
          </a:p>
        </p:txBody>
      </p:sp>
      <p:sp>
        <p:nvSpPr>
          <p:cNvPr id="2" name="rule-68-107">
            <a:extLst xmlns:a="http://schemas.openxmlformats.org/drawingml/2006/main">
              <a:ext uri="{FF2B5EF4-FFF2-40B4-BE49-F238E27FC236}">
                <a16:creationId xmlns:a16="http://schemas.microsoft.com/office/drawing/2014/main" id="{C0C73F3F-49C8-448D-8903-75C377099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19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E33F17C-E5B5-4068-A58B-FF2CB34E6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5C5C69"/>
                </a:solidFill>
              </a:defRPr>
            </a:pPr>
            <a:r>
              <a:rPr sz="825" b="0" i="0">
                <a:solidFill>
                  <a:srgbClr val="5C5C69"/>
                </a:solidFill>
              </a:rPr>
              <a:t>17 / 29</a:t>
            </a:r>
          </a:p>
        </p:txBody>
      </p:sp>
      <p:sp>
        <p:nvSpPr>
          <p:cNvPr id="4" name="rule-130-570">
            <a:extLst xmlns:a="http://schemas.openxmlformats.org/drawingml/2006/main">
              <a:ext uri="{FF2B5EF4-FFF2-40B4-BE49-F238E27FC236}">
                <a16:creationId xmlns:a16="http://schemas.microsoft.com/office/drawing/2014/main" id="{A2948FEC-A098-4793-B37F-DB5D39B0F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429250"/>
            <a:ext cx="6762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C5C69"/>
          </a:solidFill>
          <a:ln xmlns:a="http://schemas.openxmlformats.org/drawingml/2006/main" w="0">
            <a:solidFill>
              <a:srgbClr val="5C5C69"/>
            </a:solidFill>
            <a:prstDash val="solid"/>
          </a:ln>
        </p:spPr>
      </p:sp>
      <p:sp>
        <p:nvSpPr>
          <p:cNvPr id="5" name="case-a-axis-0">
            <a:extLst xmlns:a="http://schemas.openxmlformats.org/drawingml/2006/main">
              <a:ext uri="{FF2B5EF4-FFF2-40B4-BE49-F238E27FC236}">
                <a16:creationId xmlns:a16="http://schemas.microsoft.com/office/drawing/2014/main" id="{F1B72EF2-CF75-485B-9FD6-EFE4F3144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05425"/>
            <a:ext cx="619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 i="0">
                <a:solidFill>
                  <a:srgbClr val="5C5C69"/>
                </a:solidFill>
              </a:defRPr>
            </a:pPr>
            <a:r>
              <a:rPr sz="1050" b="0" i="0">
                <a:solidFill>
                  <a:srgbClr val="5C5C69"/>
                </a:solidFill>
              </a:rPr>
              <a:t>0%</a:t>
            </a:r>
          </a:p>
        </p:txBody>
      </p:sp>
      <p:sp>
        <p:nvSpPr>
          <p:cNvPr id="6" name="rule-130-492">
            <a:extLst xmlns:a="http://schemas.openxmlformats.org/drawingml/2006/main">
              <a:ext uri="{FF2B5EF4-FFF2-40B4-BE49-F238E27FC236}">
                <a16:creationId xmlns:a16="http://schemas.microsoft.com/office/drawing/2014/main" id="{371FFFAC-BED8-4207-9280-03CA58015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686300"/>
            <a:ext cx="676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7" name="case-a-axis-20">
            <a:extLst xmlns:a="http://schemas.openxmlformats.org/drawingml/2006/main">
              <a:ext uri="{FF2B5EF4-FFF2-40B4-BE49-F238E27FC236}">
                <a16:creationId xmlns:a16="http://schemas.microsoft.com/office/drawing/2014/main" id="{87EC7357-D7D5-487F-A95E-C5F9A274F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62475"/>
            <a:ext cx="619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 i="0">
                <a:solidFill>
                  <a:srgbClr val="5C5C69"/>
                </a:solidFill>
              </a:defRPr>
            </a:pPr>
            <a:r>
              <a:rPr sz="1050" b="0" i="0">
                <a:solidFill>
                  <a:srgbClr val="5C5C69"/>
                </a:solidFill>
              </a:rPr>
              <a:t>20%</a:t>
            </a:r>
          </a:p>
        </p:txBody>
      </p:sp>
      <p:sp>
        <p:nvSpPr>
          <p:cNvPr id="8" name="rule-130-414">
            <a:extLst xmlns:a="http://schemas.openxmlformats.org/drawingml/2006/main">
              <a:ext uri="{FF2B5EF4-FFF2-40B4-BE49-F238E27FC236}">
                <a16:creationId xmlns:a16="http://schemas.microsoft.com/office/drawing/2014/main" id="{7570CA50-865E-4A2A-BEEE-86B948A4B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43350"/>
            <a:ext cx="676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9" name="case-a-axis-40">
            <a:extLst xmlns:a="http://schemas.openxmlformats.org/drawingml/2006/main">
              <a:ext uri="{FF2B5EF4-FFF2-40B4-BE49-F238E27FC236}">
                <a16:creationId xmlns:a16="http://schemas.microsoft.com/office/drawing/2014/main" id="{912B118A-E634-4B3B-A71F-62FA678D0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9525"/>
            <a:ext cx="619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 i="0">
                <a:solidFill>
                  <a:srgbClr val="5C5C69"/>
                </a:solidFill>
              </a:defRPr>
            </a:pPr>
            <a:r>
              <a:rPr sz="1050" b="0" i="0">
                <a:solidFill>
                  <a:srgbClr val="5C5C69"/>
                </a:solidFill>
              </a:rPr>
              <a:t>40%</a:t>
            </a:r>
          </a:p>
        </p:txBody>
      </p:sp>
      <p:sp>
        <p:nvSpPr>
          <p:cNvPr id="10" name="rule-130-336">
            <a:extLst xmlns:a="http://schemas.openxmlformats.org/drawingml/2006/main">
              <a:ext uri="{FF2B5EF4-FFF2-40B4-BE49-F238E27FC236}">
                <a16:creationId xmlns:a16="http://schemas.microsoft.com/office/drawing/2014/main" id="{42D79A3B-7AC9-4D88-B503-046C784B5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00400"/>
            <a:ext cx="676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11" name="case-a-axis-60">
            <a:extLst xmlns:a="http://schemas.openxmlformats.org/drawingml/2006/main">
              <a:ext uri="{FF2B5EF4-FFF2-40B4-BE49-F238E27FC236}">
                <a16:creationId xmlns:a16="http://schemas.microsoft.com/office/drawing/2014/main" id="{C2459240-9F5C-422E-BED3-64D79CCB8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76575"/>
            <a:ext cx="619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 i="0">
                <a:solidFill>
                  <a:srgbClr val="5C5C69"/>
                </a:solidFill>
              </a:defRPr>
            </a:pPr>
            <a:r>
              <a:rPr sz="1050" b="0" i="0">
                <a:solidFill>
                  <a:srgbClr val="5C5C69"/>
                </a:solidFill>
              </a:rPr>
              <a:t>60%</a:t>
            </a:r>
          </a:p>
        </p:txBody>
      </p:sp>
      <p:sp>
        <p:nvSpPr>
          <p:cNvPr id="12" name="rule-130-258">
            <a:extLst xmlns:a="http://schemas.openxmlformats.org/drawingml/2006/main">
              <a:ext uri="{FF2B5EF4-FFF2-40B4-BE49-F238E27FC236}">
                <a16:creationId xmlns:a16="http://schemas.microsoft.com/office/drawing/2014/main" id="{934B7A6D-FD81-4BCC-9BF3-640121EA9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457450"/>
            <a:ext cx="676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13" name="case-a-axis-80">
            <a:extLst xmlns:a="http://schemas.openxmlformats.org/drawingml/2006/main">
              <a:ext uri="{FF2B5EF4-FFF2-40B4-BE49-F238E27FC236}">
                <a16:creationId xmlns:a16="http://schemas.microsoft.com/office/drawing/2014/main" id="{8AAC3705-0CCF-4229-9D0E-9163868AD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33625"/>
            <a:ext cx="619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 i="0">
                <a:solidFill>
                  <a:srgbClr val="5C5C69"/>
                </a:solidFill>
              </a:defRPr>
            </a:pPr>
            <a:r>
              <a:rPr sz="1050" b="0" i="0">
                <a:solidFill>
                  <a:srgbClr val="5C5C69"/>
                </a:solidFill>
              </a:rPr>
              <a:t>80%</a:t>
            </a:r>
          </a:p>
        </p:txBody>
      </p:sp>
      <p:sp>
        <p:nvSpPr>
          <p:cNvPr id="14" name="rule-130-180">
            <a:extLst xmlns:a="http://schemas.openxmlformats.org/drawingml/2006/main">
              <a:ext uri="{FF2B5EF4-FFF2-40B4-BE49-F238E27FC236}">
                <a16:creationId xmlns:a16="http://schemas.microsoft.com/office/drawing/2014/main" id="{26AAA50A-7109-40E6-BEDA-77D51D137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714500"/>
            <a:ext cx="676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15" name="case-a-axis-100">
            <a:extLst xmlns:a="http://schemas.openxmlformats.org/drawingml/2006/main">
              <a:ext uri="{FF2B5EF4-FFF2-40B4-BE49-F238E27FC236}">
                <a16:creationId xmlns:a16="http://schemas.microsoft.com/office/drawing/2014/main" id="{32F91F95-1A32-4BFF-882C-99749021C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90675"/>
            <a:ext cx="619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 i="0">
                <a:solidFill>
                  <a:srgbClr val="5C5C69"/>
                </a:solidFill>
              </a:defRPr>
            </a:pPr>
            <a:r>
              <a:rPr sz="1050" b="0" i="0">
                <a:solidFill>
                  <a:srgbClr val="5C5C69"/>
                </a:solidFill>
              </a:rPr>
              <a:t>100%</a:t>
            </a:r>
          </a:p>
        </p:txBody>
      </p:sp>
      <p:sp>
        <p:nvSpPr>
          <p:cNvPr id="16" name="case-a-control-bar">
            <a:extLst xmlns:a="http://schemas.openxmlformats.org/drawingml/2006/main">
              <a:ext uri="{FF2B5EF4-FFF2-40B4-BE49-F238E27FC236}">
                <a16:creationId xmlns:a16="http://schemas.microsoft.com/office/drawing/2014/main" id="{34A451A7-D0BA-4FCD-9061-F1ADC18B6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086100"/>
            <a:ext cx="1476375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C5C69"/>
          </a:solidFill>
          <a:ln xmlns:a="http://schemas.openxmlformats.org/drawingml/2006/main" w="0">
            <a:solidFill>
              <a:srgbClr val="5C5C69"/>
            </a:solidFill>
            <a:prstDash val="solid"/>
          </a:ln>
        </p:spPr>
      </p:sp>
      <p:sp>
        <p:nvSpPr>
          <p:cNvPr id="17" name="case-a-offered-bar">
            <a:extLst xmlns:a="http://schemas.openxmlformats.org/drawingml/2006/main">
              <a:ext uri="{FF2B5EF4-FFF2-40B4-BE49-F238E27FC236}">
                <a16:creationId xmlns:a16="http://schemas.microsoft.com/office/drawing/2014/main" id="{9657254B-07A5-4C73-B511-9B5624480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2828925"/>
            <a:ext cx="1476375" cy="2600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33B2"/>
          </a:solidFill>
          <a:ln xmlns:a="http://schemas.openxmlformats.org/drawingml/2006/main" w="0">
            <a:solidFill>
              <a:srgbClr val="3333B2"/>
            </a:solidFill>
            <a:prstDash val="solid"/>
          </a:ln>
        </p:spPr>
      </p:sp>
      <p:sp>
        <p:nvSpPr>
          <p:cNvPr id="18" name="case-a-control-label">
            <a:extLst xmlns:a="http://schemas.openxmlformats.org/drawingml/2006/main">
              <a:ext uri="{FF2B5EF4-FFF2-40B4-BE49-F238E27FC236}">
                <a16:creationId xmlns:a16="http://schemas.microsoft.com/office/drawing/2014/main" id="{EBCDD32B-950B-43E0-826F-A3A756E32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724150"/>
            <a:ext cx="1476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17171C"/>
                </a:solidFill>
              </a:defRPr>
            </a:pPr>
            <a:r>
              <a:rPr sz="1800" b="1" i="0">
                <a:solidFill>
                  <a:srgbClr val="17171C"/>
                </a:solidFill>
              </a:rPr>
              <a:t>63%</a:t>
            </a:r>
          </a:p>
        </p:txBody>
      </p:sp>
      <p:sp>
        <p:nvSpPr>
          <p:cNvPr id="19" name="case-a-offered-label">
            <a:extLst xmlns:a="http://schemas.openxmlformats.org/drawingml/2006/main">
              <a:ext uri="{FF2B5EF4-FFF2-40B4-BE49-F238E27FC236}">
                <a16:creationId xmlns:a16="http://schemas.microsoft.com/office/drawing/2014/main" id="{711F455F-0B87-4763-AB4A-AE0D6F06B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2466975"/>
            <a:ext cx="1476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3333B2"/>
                </a:solidFill>
              </a:defRPr>
            </a:pPr>
            <a:r>
              <a:rPr sz="1800" b="1" i="0">
                <a:solidFill>
                  <a:srgbClr val="3333B2"/>
                </a:solidFill>
              </a:rPr>
              <a:t>70%</a:t>
            </a:r>
          </a:p>
        </p:txBody>
      </p:sp>
      <p:sp>
        <p:nvSpPr>
          <p:cNvPr id="20" name="case-a-control-category">
            <a:extLst xmlns:a="http://schemas.openxmlformats.org/drawingml/2006/main">
              <a:ext uri="{FF2B5EF4-FFF2-40B4-BE49-F238E27FC236}">
                <a16:creationId xmlns:a16="http://schemas.microsoft.com/office/drawing/2014/main" id="{83383191-383E-4F0F-A401-D213FAC68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5524500"/>
            <a:ext cx="1762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17171C"/>
                </a:solidFill>
              </a:defRPr>
            </a:pPr>
            <a:r>
              <a:rPr sz="1500" b="1" i="0">
                <a:solidFill>
                  <a:srgbClr val="17171C"/>
                </a:solidFill>
              </a:rPr>
              <a:t>Control</a:t>
            </a:r>
          </a:p>
        </p:txBody>
      </p:sp>
      <p:sp>
        <p:nvSpPr>
          <p:cNvPr id="21" name="case-a-offered-category">
            <a:extLst xmlns:a="http://schemas.openxmlformats.org/drawingml/2006/main">
              <a:ext uri="{FF2B5EF4-FFF2-40B4-BE49-F238E27FC236}">
                <a16:creationId xmlns:a16="http://schemas.microsoft.com/office/drawing/2014/main" id="{30BB7583-917B-481B-BA32-D0DC97428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5524500"/>
            <a:ext cx="1762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17171C"/>
                </a:solidFill>
              </a:defRPr>
            </a:pPr>
            <a:r>
              <a:rPr sz="1500" b="1" i="0">
                <a:solidFill>
                  <a:srgbClr val="17171C"/>
                </a:solidFill>
              </a:rPr>
              <a:t>Offered</a:t>
            </a:r>
          </a:p>
        </p:txBody>
      </p:sp>
      <p:sp>
        <p:nvSpPr>
          <p:cNvPr id="22" name="case-a-y-title">
            <a:extLst xmlns:a="http://schemas.openxmlformats.org/drawingml/2006/main">
              <a:ext uri="{FF2B5EF4-FFF2-40B4-BE49-F238E27FC236}">
                <a16:creationId xmlns:a16="http://schemas.microsoft.com/office/drawing/2014/main" id="{85B2A413-A440-4CDD-BED3-1EF325979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" y="285750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0" i="0">
                <a:solidFill>
                  <a:srgbClr val="5C5C69"/>
                </a:solidFill>
              </a:defRPr>
            </a:pPr>
            <a:r>
              <a:rPr sz="1200" b="0" i="0">
                <a:solidFill>
                  <a:srgbClr val="5C5C69"/>
                </a:solidFill>
              </a:rPr>
              <a:t>Employment at 6 months</a:t>
            </a:r>
          </a:p>
        </p:txBody>
      </p:sp>
      <p:sp>
        <p:nvSpPr>
          <p:cNvPr id="23" name="control-exact">
            <a:extLst xmlns:a="http://schemas.openxmlformats.org/drawingml/2006/main">
              <a:ext uri="{FF2B5EF4-FFF2-40B4-BE49-F238E27FC236}">
                <a16:creationId xmlns:a16="http://schemas.microsoft.com/office/drawing/2014/main" id="{0D491035-1DA9-48C7-8D47-37CDC7D07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714500"/>
            <a:ext cx="2571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 i="0">
                <a:solidFill>
                  <a:srgbClr val="17171C"/>
                </a:solidFill>
              </a:defRPr>
            </a:pPr>
            <a:r>
              <a:rPr sz="1725" b="1" i="0">
                <a:solidFill>
                  <a:srgbClr val="17171C"/>
                </a:solidFill>
              </a:rPr>
              <a:t>Control</a:t>
            </a:r>
          </a:p>
          <a:p xmlns:a="http://schemas.openxmlformats.org/drawingml/2006/main">
            <a:pPr algn="ctr">
              <a:defRPr sz="1725" b="1" i="0">
                <a:solidFill>
                  <a:srgbClr val="17171C"/>
                </a:solidFill>
              </a:defRPr>
            </a:pPr>
            <a:r>
              <a:rPr sz="1725" b="1" i="0">
                <a:solidFill>
                  <a:srgbClr val="17171C"/>
                </a:solidFill>
              </a:rPr>
              <a:t>945 / 1,500</a:t>
            </a:r>
          </a:p>
          <a:p xmlns:a="http://schemas.openxmlformats.org/drawingml/2006/main">
            <a:pPr algn="ctr">
              <a:defRPr sz="1725" b="1" i="0">
                <a:solidFill>
                  <a:srgbClr val="17171C"/>
                </a:solidFill>
              </a:defRPr>
            </a:pPr>
            <a:r>
              <a:rPr sz="1725" b="1" i="0">
                <a:solidFill>
                  <a:srgbClr val="17171C"/>
                </a:solidFill>
              </a:rPr>
              <a:t>63%</a:t>
            </a:r>
          </a:p>
        </p:txBody>
      </p:sp>
      <p:sp>
        <p:nvSpPr>
          <p:cNvPr id="24" name="offered-exact">
            <a:extLst xmlns:a="http://schemas.openxmlformats.org/drawingml/2006/main">
              <a:ext uri="{FF2B5EF4-FFF2-40B4-BE49-F238E27FC236}">
                <a16:creationId xmlns:a16="http://schemas.microsoft.com/office/drawing/2014/main" id="{D42359D0-B5F7-473C-97A8-EC6865FF8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048000"/>
            <a:ext cx="2571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 i="0">
                <a:solidFill>
                  <a:srgbClr val="17171C"/>
                </a:solidFill>
              </a:defRPr>
            </a:pPr>
            <a:r>
              <a:rPr sz="1725" b="1" i="0">
                <a:solidFill>
                  <a:srgbClr val="17171C"/>
                </a:solidFill>
              </a:rPr>
              <a:t>Offered</a:t>
            </a:r>
          </a:p>
          <a:p xmlns:a="http://schemas.openxmlformats.org/drawingml/2006/main">
            <a:pPr algn="ctr">
              <a:defRPr sz="1725" b="1" i="0">
                <a:solidFill>
                  <a:srgbClr val="17171C"/>
                </a:solidFill>
              </a:defRPr>
            </a:pPr>
            <a:r>
              <a:rPr sz="1725" b="1" i="0">
                <a:solidFill>
                  <a:srgbClr val="17171C"/>
                </a:solidFill>
              </a:rPr>
              <a:t>1,050 / 1,500</a:t>
            </a:r>
          </a:p>
          <a:p xmlns:a="http://schemas.openxmlformats.org/drawingml/2006/main">
            <a:pPr algn="ctr">
              <a:defRPr sz="1725" b="1" i="0">
                <a:solidFill>
                  <a:srgbClr val="17171C"/>
                </a:solidFill>
              </a:defRPr>
            </a:pPr>
            <a:r>
              <a:rPr sz="1725" b="1" i="0">
                <a:solidFill>
                  <a:srgbClr val="17171C"/>
                </a:solidFill>
              </a:rPr>
              <a:t>70%</a:t>
            </a:r>
          </a:p>
        </p:txBody>
      </p:sp>
      <p:sp>
        <p:nvSpPr>
          <p:cNvPr id="25" name="itt-callout">
            <a:extLst xmlns:a="http://schemas.openxmlformats.org/drawingml/2006/main">
              <a:ext uri="{FF2B5EF4-FFF2-40B4-BE49-F238E27FC236}">
                <a16:creationId xmlns:a16="http://schemas.microsoft.com/office/drawing/2014/main" id="{DB8D2807-AF95-4678-BE70-D8AA22F9F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4552950"/>
            <a:ext cx="2571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400" b="1" i="0">
                <a:solidFill>
                  <a:srgbClr val="BF0040"/>
                </a:solidFill>
              </a:defRPr>
            </a:pPr>
            <a:r>
              <a:rPr sz="2400" b="1" i="0">
                <a:solidFill>
                  <a:srgbClr val="BF0040"/>
                </a:solidFill>
              </a:rPr>
              <a:t>ITT  +7 pp</a:t>
            </a:r>
          </a:p>
        </p:txBody>
      </p:sp>
      <p:sp>
        <p:nvSpPr>
          <p:cNvPr id="26" name="framing">
            <a:extLst xmlns:a="http://schemas.openxmlformats.org/drawingml/2006/main">
              <a:ext uri="{FF2B5EF4-FFF2-40B4-BE49-F238E27FC236}">
                <a16:creationId xmlns:a16="http://schemas.microsoft.com/office/drawing/2014/main" id="{15881E28-7D3F-4F9D-90C2-C238177F5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5286375"/>
            <a:ext cx="304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 i="0">
                <a:solidFill>
                  <a:srgbClr val="5C5C69"/>
                </a:solidFill>
              </a:defRPr>
            </a:pPr>
            <a:r>
              <a:rPr sz="1350" b="0" i="0">
                <a:solidFill>
                  <a:srgbClr val="5C5C69"/>
                </a:solidFill>
              </a:rPr>
              <a:t>A tester target—not a verdict on substantive value.</a:t>
            </a:r>
          </a:p>
        </p:txBody>
      </p:sp>
    </p:spTree>
    <p:extLst>
      <p:ext uri="{BB962C8B-B14F-4D97-AF65-F5344CB8AC3E}">
        <p14:creationId xmlns:p14="http://schemas.microsoft.com/office/powerpoint/2010/main" val="52433964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E829DEA-20EF-40EC-AD63-19E654793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1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3333B2"/>
                </a:solidFill>
              </a:defRPr>
            </a:pPr>
            <a:r>
              <a:rPr sz="2925" b="1" i="0">
                <a:solidFill>
                  <a:srgbClr val="3333B2"/>
                </a:solidFill>
              </a:rPr>
              <a:t>Case A decision — PASS is earned by evidence</a:t>
            </a:r>
          </a:p>
        </p:txBody>
      </p:sp>
      <p:sp>
        <p:nvSpPr>
          <p:cNvPr id="2" name="rule-68-107">
            <a:extLst xmlns:a="http://schemas.openxmlformats.org/drawingml/2006/main">
              <a:ext uri="{FF2B5EF4-FFF2-40B4-BE49-F238E27FC236}">
                <a16:creationId xmlns:a16="http://schemas.microsoft.com/office/drawing/2014/main" id="{DB22C3EB-31E5-4F0B-9564-BB21A3F20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19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9CFF913-3163-4237-9ABD-188BC867C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5C5C69"/>
                </a:solidFill>
              </a:defRPr>
            </a:pPr>
            <a:r>
              <a:rPr sz="825" b="0" i="0">
                <a:solidFill>
                  <a:srgbClr val="5C5C69"/>
                </a:solidFill>
              </a:rPr>
              <a:t>18 / 29</a:t>
            </a:r>
          </a:p>
        </p:txBody>
      </p:sp>
      <p:sp>
        <p:nvSpPr>
          <p:cNvPr id="4" name="decision">
            <a:extLst xmlns:a="http://schemas.openxmlformats.org/drawingml/2006/main">
              <a:ext uri="{FF2B5EF4-FFF2-40B4-BE49-F238E27FC236}">
                <a16:creationId xmlns:a16="http://schemas.microsoft.com/office/drawing/2014/main" id="{FE23B7C3-D8E6-42E2-880D-71B24391A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38300"/>
            <a:ext cx="4000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200" b="1" i="0">
                <a:solidFill>
                  <a:srgbClr val="3333B2"/>
                </a:solidFill>
              </a:defRPr>
            </a:pPr>
            <a:r>
              <a:rPr sz="4200" b="1" i="0">
                <a:solidFill>
                  <a:srgbClr val="3333B2"/>
                </a:solidFill>
              </a:rPr>
              <a:t>PASS</a:t>
            </a:r>
          </a:p>
        </p:txBody>
      </p:sp>
      <p:sp>
        <p:nvSpPr>
          <p:cNvPr id="5" name="condition">
            <a:extLst xmlns:a="http://schemas.openxmlformats.org/drawingml/2006/main">
              <a:ext uri="{FF2B5EF4-FFF2-40B4-BE49-F238E27FC236}">
                <a16:creationId xmlns:a16="http://schemas.microsoft.com/office/drawing/2014/main" id="{12D696BB-047F-41DC-A944-86FA76377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43175"/>
            <a:ext cx="8858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0" i="0">
                <a:solidFill>
                  <a:srgbClr val="17171C"/>
                </a:solidFill>
              </a:defRPr>
            </a:pPr>
            <a:r>
              <a:rPr sz="2100" b="0" i="0">
                <a:solidFill>
                  <a:srgbClr val="17171C"/>
                </a:solidFill>
              </a:rPr>
              <a:t>only if the design contract and all six gates are supported.</a:t>
            </a:r>
          </a:p>
        </p:txBody>
      </p:sp>
      <p:sp>
        <p:nvSpPr>
          <p:cNvPr id="6" name="evidence1">
            <a:extLst xmlns:a="http://schemas.openxmlformats.org/drawingml/2006/main">
              <a:ext uri="{FF2B5EF4-FFF2-40B4-BE49-F238E27FC236}">
                <a16:creationId xmlns:a16="http://schemas.microsoft.com/office/drawing/2014/main" id="{FC1669F0-CA77-4731-899F-3DDDEFB52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38550"/>
            <a:ext cx="714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17171C"/>
                </a:solidFill>
              </a:defRPr>
            </a:pPr>
            <a:r>
              <a:rPr sz="1875" b="0" i="0">
                <a:solidFill>
                  <a:srgbClr val="17171C"/>
                </a:solidFill>
              </a:rPr>
              <a:t>✓ assignment remains the treatment</a:t>
            </a:r>
          </a:p>
        </p:txBody>
      </p:sp>
      <p:sp>
        <p:nvSpPr>
          <p:cNvPr id="7" name="evidence2">
            <a:extLst xmlns:a="http://schemas.openxmlformats.org/drawingml/2006/main">
              <a:ext uri="{FF2B5EF4-FFF2-40B4-BE49-F238E27FC236}">
                <a16:creationId xmlns:a16="http://schemas.microsoft.com/office/drawing/2014/main" id="{AD44973A-96A8-4F9A-920E-6A7B6662F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238625"/>
            <a:ext cx="714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17171C"/>
                </a:solidFill>
              </a:defRPr>
            </a:pPr>
            <a:r>
              <a:rPr sz="1875" b="0" i="0">
                <a:solidFill>
                  <a:srgbClr val="17171C"/>
                </a:solidFill>
              </a:rPr>
              <a:t>✓ applicant-level keys survive the merge</a:t>
            </a:r>
          </a:p>
        </p:txBody>
      </p:sp>
      <p:sp>
        <p:nvSpPr>
          <p:cNvPr id="8" name="evidence3">
            <a:extLst xmlns:a="http://schemas.openxmlformats.org/drawingml/2006/main">
              <a:ext uri="{FF2B5EF4-FFF2-40B4-BE49-F238E27FC236}">
                <a16:creationId xmlns:a16="http://schemas.microsoft.com/office/drawing/2014/main" id="{B1C09CD6-5C6F-4558-A9CE-D13187D21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838700"/>
            <a:ext cx="7620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17171C"/>
                </a:solidFill>
              </a:defRPr>
            </a:pPr>
            <a:r>
              <a:rPr sz="1875" b="0" i="0">
                <a:solidFill>
                  <a:srgbClr val="17171C"/>
                </a:solidFill>
              </a:rPr>
              <a:t>✓ outcome and estimand match the contract</a:t>
            </a:r>
          </a:p>
        </p:txBody>
      </p:sp>
      <p:sp>
        <p:nvSpPr>
          <p:cNvPr id="9" name="debrief">
            <a:extLst xmlns:a="http://schemas.openxmlformats.org/drawingml/2006/main">
              <a:ext uri="{FF2B5EF4-FFF2-40B4-BE49-F238E27FC236}">
                <a16:creationId xmlns:a16="http://schemas.microsoft.com/office/drawing/2014/main" id="{25B40563-B348-4F2C-A89E-0381C8F82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29275"/>
            <a:ext cx="7810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BF0040"/>
                </a:solidFill>
              </a:defRPr>
            </a:pPr>
            <a:r>
              <a:rPr sz="1800" b="1" i="0">
                <a:solidFill>
                  <a:srgbClr val="BF0040"/>
                </a:solidFill>
              </a:rPr>
              <a:t>After PASS: commit locally. Do not push.</a:t>
            </a:r>
          </a:p>
        </p:txBody>
      </p:sp>
    </p:spTree>
    <p:extLst>
      <p:ext uri="{BB962C8B-B14F-4D97-AF65-F5344CB8AC3E}">
        <p14:creationId xmlns:p14="http://schemas.microsoft.com/office/powerpoint/2010/main" val="320402591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C3AD9E6-E0FD-43EE-ACB9-5A9F69894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5C5C69"/>
                </a:solidFill>
              </a:defRPr>
            </a:pPr>
            <a:r>
              <a:rPr sz="825" b="0" i="0">
                <a:solidFill>
                  <a:srgbClr val="5C5C69"/>
                </a:solidFill>
              </a:rPr>
              <a:t>19 / 29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213B1E72-E45F-437D-961C-52BDC72EA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33350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3333B2"/>
                </a:solidFill>
              </a:defRPr>
            </a:pPr>
            <a:r>
              <a:rPr sz="1800" b="1" i="0">
                <a:solidFill>
                  <a:srgbClr val="3333B2"/>
                </a:solidFill>
              </a:rPr>
              <a:t>CASE B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BAD4E90-63F5-4F6B-9FDF-DECFA7346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14550"/>
            <a:ext cx="8572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350" b="1" i="0">
                <a:solidFill>
                  <a:srgbClr val="17171C"/>
                </a:solidFill>
              </a:defRPr>
            </a:pPr>
            <a:r>
              <a:rPr sz="4350" b="1" i="0">
                <a:solidFill>
                  <a:srgbClr val="17171C"/>
                </a:solidFill>
              </a:rPr>
              <a:t>Inherited analysis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5DCBC3F9-41EC-42B2-AEAC-5126FAFB1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52800"/>
            <a:ext cx="933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BF0040"/>
                </a:solidFill>
              </a:defRPr>
            </a:pPr>
            <a:r>
              <a:rPr sz="2250" b="1" i="0">
                <a:solidFill>
                  <a:srgbClr val="BF0040"/>
                </a:solidFill>
              </a:rPr>
              <a:t>Reconstruct the experiment before trusting the output.</a:t>
            </a:r>
          </a:p>
        </p:txBody>
      </p:sp>
      <p:sp>
        <p:nvSpPr>
          <p:cNvPr id="5" name="rule-82-480">
            <a:extLst xmlns:a="http://schemas.openxmlformats.org/drawingml/2006/main">
              <a:ext uri="{FF2B5EF4-FFF2-40B4-BE49-F238E27FC236}">
                <a16:creationId xmlns:a16="http://schemas.microsoft.com/office/drawing/2014/main" id="{5F08EF37-5FDA-4A6D-ABF5-1B99D890F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72000"/>
            <a:ext cx="5905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33B2"/>
          </a:solidFill>
          <a:ln xmlns:a="http://schemas.openxmlformats.org/drawingml/2006/main" w="0">
            <a:solidFill>
              <a:srgbClr val="3333B2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99940371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72F1E30-A106-4438-AF29-01DE76436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1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3333B2"/>
                </a:solidFill>
              </a:defRPr>
            </a:pPr>
            <a:r>
              <a:rPr sz="2925" b="1" i="0">
                <a:solidFill>
                  <a:srgbClr val="3333B2"/>
                </a:solidFill>
              </a:rPr>
              <a:t>The inherited result is scheduled for tomorrow</a:t>
            </a:r>
          </a:p>
        </p:txBody>
      </p:sp>
      <p:sp>
        <p:nvSpPr>
          <p:cNvPr id="2" name="rule-68-107">
            <a:extLst xmlns:a="http://schemas.openxmlformats.org/drawingml/2006/main">
              <a:ext uri="{FF2B5EF4-FFF2-40B4-BE49-F238E27FC236}">
                <a16:creationId xmlns:a16="http://schemas.microsoft.com/office/drawing/2014/main" id="{7A2C79B0-F879-4A43-A50D-283EE6873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19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6010CD7-C1E1-4F64-9D03-4E13B6977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5C5C69"/>
                </a:solidFill>
              </a:defRPr>
            </a:pPr>
            <a:r>
              <a:rPr sz="825" b="0" i="0">
                <a:solidFill>
                  <a:srgbClr val="5C5C69"/>
                </a:solidFill>
              </a:rPr>
              <a:t>20 / 29</a:t>
            </a:r>
          </a:p>
        </p:txBody>
      </p:sp>
      <p:sp>
        <p:nvSpPr>
          <p:cNvPr id="4" name="big-question">
            <a:extLst xmlns:a="http://schemas.openxmlformats.org/drawingml/2006/main">
              <a:ext uri="{FF2B5EF4-FFF2-40B4-BE49-F238E27FC236}">
                <a16:creationId xmlns:a16="http://schemas.microsoft.com/office/drawing/2014/main" id="{547C8582-5EDE-4943-A5DE-6E1C8555D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14500"/>
            <a:ext cx="9525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350" b="1" i="0">
                <a:solidFill>
                  <a:srgbClr val="FF0000"/>
                </a:solidFill>
              </a:defRPr>
            </a:pPr>
            <a:r>
              <a:rPr sz="4350" b="1" i="0">
                <a:solidFill>
                  <a:srgbClr val="FF0000"/>
                </a:solidFill>
              </a:rPr>
              <a:t>Would you sign off?</a:t>
            </a:r>
          </a:p>
        </p:txBody>
      </p:sp>
      <p:sp>
        <p:nvSpPr>
          <p:cNvPr id="5" name="context">
            <a:extLst xmlns:a="http://schemas.openxmlformats.org/drawingml/2006/main">
              <a:ext uri="{FF2B5EF4-FFF2-40B4-BE49-F238E27FC236}">
                <a16:creationId xmlns:a16="http://schemas.microsoft.com/office/drawing/2014/main" id="{E50EC693-28AC-4985-9C88-2112091D9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90875"/>
            <a:ext cx="10001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7171C"/>
                </a:solidFill>
              </a:defRPr>
            </a:pPr>
            <a:r>
              <a:rPr sz="2175" b="0" i="0">
                <a:solidFill>
                  <a:srgbClr val="17171C"/>
                </a:solidFill>
              </a:rPr>
              <a:t>Claim: training participation increased employment at six months.</a:t>
            </a:r>
          </a:p>
        </p:txBody>
      </p:sp>
      <p:sp>
        <p:nvSpPr>
          <p:cNvPr id="6" name="constraint">
            <a:extLst xmlns:a="http://schemas.openxmlformats.org/drawingml/2006/main">
              <a:ext uri="{FF2B5EF4-FFF2-40B4-BE49-F238E27FC236}">
                <a16:creationId xmlns:a16="http://schemas.microsoft.com/office/drawing/2014/main" id="{AC1FBE01-6F6E-48EF-AD45-4476404F3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43375"/>
            <a:ext cx="9144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BF0040"/>
                </a:solidFill>
              </a:defRPr>
            </a:pPr>
            <a:r>
              <a:rPr sz="2100" b="1" i="0">
                <a:solidFill>
                  <a:srgbClr val="BF0040"/>
                </a:solidFill>
              </a:rPr>
              <a:t>Your answer must be supported by repository evidence.</a:t>
            </a:r>
          </a:p>
        </p:txBody>
      </p:sp>
      <p:sp>
        <p:nvSpPr>
          <p:cNvPr id="7" name="warning">
            <a:extLst xmlns:a="http://schemas.openxmlformats.org/drawingml/2006/main">
              <a:ext uri="{FF2B5EF4-FFF2-40B4-BE49-F238E27FC236}">
                <a16:creationId xmlns:a16="http://schemas.microsoft.com/office/drawing/2014/main" id="{A7515E68-84A3-4F7C-BF1D-6F67A567B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0062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3333B2"/>
                </a:solidFill>
              </a:defRPr>
            </a:pPr>
            <a:r>
              <a:rPr sz="1800" b="1" i="0">
                <a:solidFill>
                  <a:srgbClr val="3333B2"/>
                </a:solidFill>
              </a:rPr>
              <a:t>Do not begin with the point estimate.</a:t>
            </a:r>
          </a:p>
        </p:txBody>
      </p:sp>
    </p:spTree>
    <p:extLst>
      <p:ext uri="{BB962C8B-B14F-4D97-AF65-F5344CB8AC3E}">
        <p14:creationId xmlns:p14="http://schemas.microsoft.com/office/powerpoint/2010/main" val="928069187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FEAAECB-4D46-45C6-93B0-A18191DD2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1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3333B2"/>
                </a:solidFill>
              </a:defRPr>
            </a:pPr>
            <a:r>
              <a:rPr sz="2925" b="1" i="0">
                <a:solidFill>
                  <a:srgbClr val="3333B2"/>
                </a:solidFill>
              </a:rPr>
              <a:t>Inherited files: assignment, behavior, and output</a:t>
            </a:r>
          </a:p>
        </p:txBody>
      </p:sp>
      <p:sp>
        <p:nvSpPr>
          <p:cNvPr id="2" name="rule-68-107">
            <a:extLst xmlns:a="http://schemas.openxmlformats.org/drawingml/2006/main">
              <a:ext uri="{FF2B5EF4-FFF2-40B4-BE49-F238E27FC236}">
                <a16:creationId xmlns:a16="http://schemas.microsoft.com/office/drawing/2014/main" id="{FD9355F2-FCB6-4E4F-8DF1-344D25A92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19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2B97C37-8979-45EC-BEC3-57A44EE7C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5C5C69"/>
                </a:solidFill>
              </a:defRPr>
            </a:pPr>
            <a:r>
              <a:rPr sz="825" b="0" i="0">
                <a:solidFill>
                  <a:srgbClr val="5C5C69"/>
                </a:solidFill>
              </a:rPr>
              <a:t>21 / 29</a:t>
            </a:r>
          </a:p>
        </p:txBody>
      </p:sp>
      <p:sp>
        <p:nvSpPr>
          <p:cNvPr id="4" name="file-0">
            <a:extLst xmlns:a="http://schemas.openxmlformats.org/drawingml/2006/main">
              <a:ext uri="{FF2B5EF4-FFF2-40B4-BE49-F238E27FC236}">
                <a16:creationId xmlns:a16="http://schemas.microsoft.com/office/drawing/2014/main" id="{7BECBFB3-45EB-4E06-9406-0E90C4B12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352550"/>
            <a:ext cx="542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0000FF"/>
                </a:solidFill>
              </a:defRPr>
            </a:pPr>
            <a:r>
              <a:rPr sz="1725" b="1" i="0">
                <a:solidFill>
                  <a:srgbClr val="0000FF"/>
                </a:solidFill>
              </a:rPr>
              <a:t>data/baseline.csv</a:t>
            </a:r>
          </a:p>
        </p:txBody>
      </p:sp>
      <p:sp>
        <p:nvSpPr>
          <p:cNvPr id="5" name="file-desc-0">
            <a:extLst xmlns:a="http://schemas.openxmlformats.org/drawingml/2006/main">
              <a:ext uri="{FF2B5EF4-FFF2-40B4-BE49-F238E27FC236}">
                <a16:creationId xmlns:a16="http://schemas.microsoft.com/office/drawing/2014/main" id="{743F1C59-E9D2-46B3-ACC5-251371A0B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352550"/>
            <a:ext cx="4286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7171C"/>
                </a:solidFill>
              </a:defRPr>
            </a:pPr>
            <a:r>
              <a:rPr sz="1650" b="0" i="0">
                <a:solidFill>
                  <a:srgbClr val="17171C"/>
                </a:solidFill>
              </a:rPr>
              <a:t>applicant characteristics</a:t>
            </a:r>
          </a:p>
        </p:txBody>
      </p:sp>
      <p:sp>
        <p:nvSpPr>
          <p:cNvPr id="6" name="rule-84-197">
            <a:extLst xmlns:a="http://schemas.openxmlformats.org/drawingml/2006/main">
              <a:ext uri="{FF2B5EF4-FFF2-40B4-BE49-F238E27FC236}">
                <a16:creationId xmlns:a16="http://schemas.microsoft.com/office/drawing/2014/main" id="{EE806B63-D610-4A59-83F3-2379DA710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76425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7" name="file-1">
            <a:extLst xmlns:a="http://schemas.openxmlformats.org/drawingml/2006/main">
              <a:ext uri="{FF2B5EF4-FFF2-40B4-BE49-F238E27FC236}">
                <a16:creationId xmlns:a16="http://schemas.microsoft.com/office/drawing/2014/main" id="{C56895A6-D2F4-44E3-8E5C-1E4E9D48B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43125"/>
            <a:ext cx="542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0000FF"/>
                </a:solidFill>
              </a:defRPr>
            </a:pPr>
            <a:r>
              <a:rPr sz="1725" b="1" i="0">
                <a:solidFill>
                  <a:srgbClr val="0000FF"/>
                </a:solidFill>
              </a:rPr>
              <a:t>data/assignment.csv</a:t>
            </a:r>
          </a:p>
        </p:txBody>
      </p:sp>
      <p:sp>
        <p:nvSpPr>
          <p:cNvPr id="8" name="file-desc-1">
            <a:extLst xmlns:a="http://schemas.openxmlformats.org/drawingml/2006/main">
              <a:ext uri="{FF2B5EF4-FFF2-40B4-BE49-F238E27FC236}">
                <a16:creationId xmlns:a16="http://schemas.microsoft.com/office/drawing/2014/main" id="{1B29F08E-47B5-43E5-9C47-6BC0801B0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43125"/>
            <a:ext cx="4286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7171C"/>
                </a:solidFill>
              </a:defRPr>
            </a:pPr>
            <a:r>
              <a:rPr sz="1650" b="0" i="0">
                <a:solidFill>
                  <a:srgbClr val="17171C"/>
                </a:solidFill>
              </a:rPr>
              <a:t>randomized offer</a:t>
            </a:r>
          </a:p>
        </p:txBody>
      </p:sp>
      <p:sp>
        <p:nvSpPr>
          <p:cNvPr id="9" name="rule-84-280">
            <a:extLst xmlns:a="http://schemas.openxmlformats.org/drawingml/2006/main">
              <a:ext uri="{FF2B5EF4-FFF2-40B4-BE49-F238E27FC236}">
                <a16:creationId xmlns:a16="http://schemas.microsoft.com/office/drawing/2014/main" id="{E1D79EF7-200A-45A6-A6C6-D0161DD1F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0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10" name="file-2">
            <a:extLst xmlns:a="http://schemas.openxmlformats.org/drawingml/2006/main">
              <a:ext uri="{FF2B5EF4-FFF2-40B4-BE49-F238E27FC236}">
                <a16:creationId xmlns:a16="http://schemas.microsoft.com/office/drawing/2014/main" id="{BCCDEDF2-B873-4F93-A8EF-0DA834C52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33700"/>
            <a:ext cx="542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0000FF"/>
                </a:solidFill>
              </a:defRPr>
            </a:pPr>
            <a:r>
              <a:rPr sz="1725" b="1" i="0">
                <a:solidFill>
                  <a:srgbClr val="0000FF"/>
                </a:solidFill>
              </a:rPr>
              <a:t>data/followup.csv</a:t>
            </a:r>
          </a:p>
        </p:txBody>
      </p:sp>
      <p:sp>
        <p:nvSpPr>
          <p:cNvPr id="11" name="file-desc-2">
            <a:extLst xmlns:a="http://schemas.openxmlformats.org/drawingml/2006/main">
              <a:ext uri="{FF2B5EF4-FFF2-40B4-BE49-F238E27FC236}">
                <a16:creationId xmlns:a16="http://schemas.microsoft.com/office/drawing/2014/main" id="{CF30FFFE-0E4A-43B7-B042-3509A7A15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933700"/>
            <a:ext cx="4286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7171C"/>
                </a:solidFill>
              </a:defRPr>
            </a:pPr>
            <a:r>
              <a:rPr sz="1650" b="0" i="0">
                <a:solidFill>
                  <a:srgbClr val="17171C"/>
                </a:solidFill>
              </a:rPr>
              <a:t>six-month employment</a:t>
            </a:r>
          </a:p>
        </p:txBody>
      </p:sp>
      <p:sp>
        <p:nvSpPr>
          <p:cNvPr id="12" name="rule-84-363">
            <a:extLst xmlns:a="http://schemas.openxmlformats.org/drawingml/2006/main">
              <a:ext uri="{FF2B5EF4-FFF2-40B4-BE49-F238E27FC236}">
                <a16:creationId xmlns:a16="http://schemas.microsoft.com/office/drawing/2014/main" id="{22FCAF99-C7D7-4F22-847B-EF9C7EF10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57575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13" name="file-3">
            <a:extLst xmlns:a="http://schemas.openxmlformats.org/drawingml/2006/main">
              <a:ext uri="{FF2B5EF4-FFF2-40B4-BE49-F238E27FC236}">
                <a16:creationId xmlns:a16="http://schemas.microsoft.com/office/drawing/2014/main" id="{507636EC-0E58-4539-8E53-5E88C112E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24275"/>
            <a:ext cx="542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0000FF"/>
                </a:solidFill>
              </a:defRPr>
            </a:pPr>
            <a:r>
              <a:rPr sz="1725" b="1" i="0">
                <a:solidFill>
                  <a:srgbClr val="0000FF"/>
                </a:solidFill>
              </a:rPr>
              <a:t>data/attendance_log.csv</a:t>
            </a:r>
          </a:p>
        </p:txBody>
      </p:sp>
      <p:sp>
        <p:nvSpPr>
          <p:cNvPr id="14" name="file-desc-3">
            <a:extLst xmlns:a="http://schemas.openxmlformats.org/drawingml/2006/main">
              <a:ext uri="{FF2B5EF4-FFF2-40B4-BE49-F238E27FC236}">
                <a16:creationId xmlns:a16="http://schemas.microsoft.com/office/drawing/2014/main" id="{6F9ACB01-A398-43C6-B72C-E93B1C74F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724275"/>
            <a:ext cx="4286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7171C"/>
                </a:solidFill>
              </a:defRPr>
            </a:pPr>
            <a:r>
              <a:rPr sz="1650" b="0" i="0">
                <a:solidFill>
                  <a:srgbClr val="17171C"/>
                </a:solidFill>
              </a:rPr>
              <a:t>training attendance events</a:t>
            </a:r>
          </a:p>
        </p:txBody>
      </p:sp>
      <p:sp>
        <p:nvSpPr>
          <p:cNvPr id="15" name="rule-84-446">
            <a:extLst xmlns:a="http://schemas.openxmlformats.org/drawingml/2006/main">
              <a:ext uri="{FF2B5EF4-FFF2-40B4-BE49-F238E27FC236}">
                <a16:creationId xmlns:a16="http://schemas.microsoft.com/office/drawing/2014/main" id="{C1862D78-D45D-4A2A-AAA8-E0073208A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48150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16" name="file-4">
            <a:extLst xmlns:a="http://schemas.openxmlformats.org/drawingml/2006/main">
              <a:ext uri="{FF2B5EF4-FFF2-40B4-BE49-F238E27FC236}">
                <a16:creationId xmlns:a16="http://schemas.microsoft.com/office/drawing/2014/main" id="{72891A02-8DF2-485F-A58B-23A8370F4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14850"/>
            <a:ext cx="542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0000FF"/>
                </a:solidFill>
              </a:defRPr>
            </a:pPr>
            <a:r>
              <a:rPr sz="1725" b="1" i="0">
                <a:solidFill>
                  <a:srgbClr val="0000FF"/>
                </a:solidFill>
              </a:rPr>
              <a:t>data/case_b_analysis_received.csv</a:t>
            </a:r>
          </a:p>
        </p:txBody>
      </p:sp>
      <p:sp>
        <p:nvSpPr>
          <p:cNvPr id="17" name="file-desc-4">
            <a:extLst xmlns:a="http://schemas.openxmlformats.org/drawingml/2006/main">
              <a:ext uri="{FF2B5EF4-FFF2-40B4-BE49-F238E27FC236}">
                <a16:creationId xmlns:a16="http://schemas.microsoft.com/office/drawing/2014/main" id="{9CF08A21-8432-449F-91E4-81F3C33A7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514850"/>
            <a:ext cx="4286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7171C"/>
                </a:solidFill>
              </a:defRPr>
            </a:pPr>
            <a:r>
              <a:rPr sz="1650" b="0" i="0">
                <a:solidFill>
                  <a:srgbClr val="17171C"/>
                </a:solidFill>
              </a:rPr>
              <a:t>analysis received from prior researcher</a:t>
            </a:r>
          </a:p>
        </p:txBody>
      </p:sp>
      <p:sp>
        <p:nvSpPr>
          <p:cNvPr id="18" name="question">
            <a:extLst xmlns:a="http://schemas.openxmlformats.org/drawingml/2006/main">
              <a:ext uri="{FF2B5EF4-FFF2-40B4-BE49-F238E27FC236}">
                <a16:creationId xmlns:a16="http://schemas.microsoft.com/office/drawing/2014/main" id="{BD3E081A-A5AE-4347-9805-F5BBA2EF1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52450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FF0000"/>
                </a:solidFill>
              </a:defRPr>
            </a:pPr>
            <a:r>
              <a:rPr sz="1800" b="1" i="0">
                <a:solidFill>
                  <a:srgbClr val="FF0000"/>
                </a:solidFill>
              </a:rPr>
              <a:t>Which file describes assignment—and which only records behavior after assignment?</a:t>
            </a:r>
          </a:p>
        </p:txBody>
      </p:sp>
    </p:spTree>
    <p:extLst>
      <p:ext uri="{BB962C8B-B14F-4D97-AF65-F5344CB8AC3E}">
        <p14:creationId xmlns:p14="http://schemas.microsoft.com/office/powerpoint/2010/main" val="1668513954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A3FD359-7DCB-4A6F-9E8C-8CD11ED73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1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3333B2"/>
                </a:solidFill>
              </a:defRPr>
            </a:pPr>
            <a:r>
              <a:rPr sz="2925" b="1" i="0">
                <a:solidFill>
                  <a:srgbClr val="3333B2"/>
                </a:solidFill>
              </a:rPr>
              <a:t>Case B — Begin with a read-only StatsClaw audit</a:t>
            </a:r>
          </a:p>
        </p:txBody>
      </p:sp>
      <p:sp>
        <p:nvSpPr>
          <p:cNvPr id="2" name="rule-68-107">
            <a:extLst xmlns:a="http://schemas.openxmlformats.org/drawingml/2006/main">
              <a:ext uri="{FF2B5EF4-FFF2-40B4-BE49-F238E27FC236}">
                <a16:creationId xmlns:a16="http://schemas.microsoft.com/office/drawing/2014/main" id="{01DF0DBF-411E-4672-A83F-DAC644495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19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0E7FBCE-98D9-46E1-9FDD-9A8DA3D56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5C5C69"/>
                </a:solidFill>
              </a:defRPr>
            </a:pPr>
            <a:r>
              <a:rPr sz="825" b="0" i="0">
                <a:solidFill>
                  <a:srgbClr val="5C5C69"/>
                </a:solidFill>
              </a:rPr>
              <a:t>22 / 29</a:t>
            </a:r>
          </a:p>
        </p:txBody>
      </p:sp>
      <p:sp>
        <p:nvSpPr>
          <p:cNvPr id="4" name="prompt-rule">
            <a:extLst xmlns:a="http://schemas.openxmlformats.org/drawingml/2006/main">
              <a:ext uri="{FF2B5EF4-FFF2-40B4-BE49-F238E27FC236}">
                <a16:creationId xmlns:a16="http://schemas.microsoft.com/office/drawing/2014/main" id="{F0DBFD73-859C-45EF-883F-6CA3BA631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66675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33B2"/>
          </a:solidFill>
          <a:ln xmlns:a="http://schemas.openxmlformats.org/drawingml/2006/main" w="0">
            <a:solidFill>
              <a:srgbClr val="3333B2"/>
            </a:solidFill>
            <a:prstDash val="solid"/>
          </a:ln>
        </p:spPr>
      </p:sp>
      <p:sp>
        <p:nvSpPr>
          <p:cNvPr id="5" name="prompt">
            <a:extLst xmlns:a="http://schemas.openxmlformats.org/drawingml/2006/main">
              <a:ext uri="{FF2B5EF4-FFF2-40B4-BE49-F238E27FC236}">
                <a16:creationId xmlns:a16="http://schemas.microsoft.com/office/drawing/2014/main" id="{ABA68F4D-0BB9-44BE-8BD5-F11088186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428750"/>
            <a:ext cx="9810750" cy="3762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17171C"/>
                </a:solidFill>
              </a:defRPr>
            </a:pPr>
            <a:r>
              <a:rPr sz="1800" b="0" i="0">
                <a:solidFill>
                  <a:srgbClr val="17171C"/>
                </a:solidFill>
              </a:rPr>
              <a:t>Ask StatsClaw to audit in read-only mode. Do not edit or repair.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00" b="0" i="0">
                <a:solidFill>
                  <a:srgbClr val="17171C"/>
                </a:solidFill>
              </a:defRPr>
            </a:pPr>
            <a:r>
              <a:rPr sz="1800" b="0" i="0">
                <a:solidFill>
                  <a:srgbClr val="17171C"/>
                </a:solidFill>
              </a:rPr>
              <a:t>Trace units, applicant_id uniqueness, merge cardinality, treatment definition, sample, and estimand across the inherited files.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00" b="0" i="0">
                <a:solidFill>
                  <a:srgbClr val="17171C"/>
                </a:solidFill>
              </a:defRPr>
            </a:pPr>
            <a:r>
              <a:rPr sz="1800" b="0" i="0">
                <a:solidFill>
                  <a:srgbClr val="17171C"/>
                </a:solidFill>
              </a:rPr>
              <a:t>Before any change, issue one status: PASS / REPAIR / BLOCK / DESIGN REVIEW.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00" b="0" i="0">
                <a:solidFill>
                  <a:srgbClr val="17171C"/>
                </a:solidFill>
              </a:defRPr>
            </a:pPr>
            <a:r>
              <a:rPr sz="1800" b="0" i="0">
                <a:solidFill>
                  <a:srgbClr val="17171C"/>
                </a:solidFill>
              </a:rPr>
              <a:t>Only if the status permits REPAIR: propose the smallest applicant-level repair and wait for authorization.</a:t>
            </a:r>
          </a:p>
        </p:txBody>
      </p:sp>
      <p:sp>
        <p:nvSpPr>
          <p:cNvPr id="6" name="instruction">
            <a:extLst xmlns:a="http://schemas.openxmlformats.org/drawingml/2006/main">
              <a:ext uri="{FF2B5EF4-FFF2-40B4-BE49-F238E27FC236}">
                <a16:creationId xmlns:a16="http://schemas.microsoft.com/office/drawing/2014/main" id="{EA155298-443A-4B03-90A7-1A1A5BD12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476875"/>
            <a:ext cx="723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BF0040"/>
                </a:solidFill>
              </a:defRPr>
            </a:pPr>
            <a:r>
              <a:rPr sz="1650" b="1" i="0">
                <a:solidFill>
                  <a:srgbClr val="BF0040"/>
                </a:solidFill>
              </a:rPr>
              <a:t>No builder authority during the audit.</a:t>
            </a:r>
          </a:p>
        </p:txBody>
      </p:sp>
    </p:spTree>
    <p:extLst>
      <p:ext uri="{BB962C8B-B14F-4D97-AF65-F5344CB8AC3E}">
        <p14:creationId xmlns:p14="http://schemas.microsoft.com/office/powerpoint/2010/main" val="141488312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4600731-664F-4DAB-AF11-9C9CE2CE9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1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3333B2"/>
                </a:solidFill>
              </a:defRPr>
            </a:pPr>
            <a:r>
              <a:rPr sz="2925" b="1" i="0">
                <a:solidFill>
                  <a:srgbClr val="3333B2"/>
                </a:solidFill>
              </a:rPr>
              <a:t>Pause and make the investigation legible</a:t>
            </a:r>
          </a:p>
        </p:txBody>
      </p:sp>
      <p:sp>
        <p:nvSpPr>
          <p:cNvPr id="2" name="rule-68-107">
            <a:extLst xmlns:a="http://schemas.openxmlformats.org/drawingml/2006/main">
              <a:ext uri="{FF2B5EF4-FFF2-40B4-BE49-F238E27FC236}">
                <a16:creationId xmlns:a16="http://schemas.microsoft.com/office/drawing/2014/main" id="{2D50621C-E9B9-4719-880B-BDE02E0E3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19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C2BD125-E9D9-46AE-9E4B-F6D300814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5C5C69"/>
                </a:solidFill>
              </a:defRPr>
            </a:pPr>
            <a:r>
              <a:rPr sz="825" b="0" i="0">
                <a:solidFill>
                  <a:srgbClr val="5C5C69"/>
                </a:solidFill>
              </a:rPr>
              <a:t>23 / 29</a:t>
            </a:r>
          </a:p>
        </p:txBody>
      </p:sp>
      <p:sp>
        <p:nvSpPr>
          <p:cNvPr id="4" name="qhead-0">
            <a:extLst xmlns:a="http://schemas.openxmlformats.org/drawingml/2006/main">
              <a:ext uri="{FF2B5EF4-FFF2-40B4-BE49-F238E27FC236}">
                <a16:creationId xmlns:a16="http://schemas.microsoft.com/office/drawing/2014/main" id="{BEAF374F-1CFD-400E-AF63-CEA1DBDEB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428750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CURRENT BELIEF</a:t>
            </a:r>
          </a:p>
        </p:txBody>
      </p:sp>
      <p:sp>
        <p:nvSpPr>
          <p:cNvPr id="5" name="qbody-0">
            <a:extLst xmlns:a="http://schemas.openxmlformats.org/drawingml/2006/main">
              <a:ext uri="{FF2B5EF4-FFF2-40B4-BE49-F238E27FC236}">
                <a16:creationId xmlns:a16="http://schemas.microsoft.com/office/drawing/2014/main" id="{6EA2AAD5-E401-4EC4-AB80-086028E77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1428750"/>
            <a:ext cx="7239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17171C"/>
                </a:solidFill>
              </a:defRPr>
            </a:pPr>
            <a:r>
              <a:rPr sz="1875" b="0" i="0">
                <a:solidFill>
                  <a:srgbClr val="17171C"/>
                </a:solidFill>
              </a:rPr>
              <a:t>What experiment do you think was run?</a:t>
            </a:r>
          </a:p>
        </p:txBody>
      </p:sp>
      <p:sp>
        <p:nvSpPr>
          <p:cNvPr id="6" name="qhead-1">
            <a:extLst xmlns:a="http://schemas.openxmlformats.org/drawingml/2006/main">
              <a:ext uri="{FF2B5EF4-FFF2-40B4-BE49-F238E27FC236}">
                <a16:creationId xmlns:a16="http://schemas.microsoft.com/office/drawing/2014/main" id="{4BED48F7-23A0-4E01-A6A5-6345AD83E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95550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BEST EVIDENCE</a:t>
            </a:r>
          </a:p>
        </p:txBody>
      </p:sp>
      <p:sp>
        <p:nvSpPr>
          <p:cNvPr id="7" name="qbody-1">
            <a:extLst xmlns:a="http://schemas.openxmlformats.org/drawingml/2006/main">
              <a:ext uri="{FF2B5EF4-FFF2-40B4-BE49-F238E27FC236}">
                <a16:creationId xmlns:a16="http://schemas.microsoft.com/office/drawing/2014/main" id="{EB0FBD69-D505-4A75-82A2-60861817E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495550"/>
            <a:ext cx="7239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17171C"/>
                </a:solidFill>
              </a:defRPr>
            </a:pPr>
            <a:r>
              <a:rPr sz="1875" b="0" i="0">
                <a:solidFill>
                  <a:srgbClr val="17171C"/>
                </a:solidFill>
              </a:rPr>
              <a:t>Which file, field, or history entry supports that belief?</a:t>
            </a:r>
          </a:p>
        </p:txBody>
      </p:sp>
      <p:sp>
        <p:nvSpPr>
          <p:cNvPr id="8" name="qhead-2">
            <a:extLst xmlns:a="http://schemas.openxmlformats.org/drawingml/2006/main">
              <a:ext uri="{FF2B5EF4-FFF2-40B4-BE49-F238E27FC236}">
                <a16:creationId xmlns:a16="http://schemas.microsoft.com/office/drawing/2014/main" id="{A0C8A48E-FC7C-48B8-B163-0D08FF198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62350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UNRESOLVED</a:t>
            </a:r>
          </a:p>
        </p:txBody>
      </p:sp>
      <p:sp>
        <p:nvSpPr>
          <p:cNvPr id="9" name="qbody-2">
            <a:extLst xmlns:a="http://schemas.openxmlformats.org/drawingml/2006/main">
              <a:ext uri="{FF2B5EF4-FFF2-40B4-BE49-F238E27FC236}">
                <a16:creationId xmlns:a16="http://schemas.microsoft.com/office/drawing/2014/main" id="{75C7E9EB-EE94-4003-A3A5-F5E8B1438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562350"/>
            <a:ext cx="7239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17171C"/>
                </a:solidFill>
              </a:defRPr>
            </a:pPr>
            <a:r>
              <a:rPr sz="1875" b="0" i="0">
                <a:solidFill>
                  <a:srgbClr val="17171C"/>
                </a:solidFill>
              </a:rPr>
              <a:t>What could still overturn your conclusion?</a:t>
            </a:r>
          </a:p>
        </p:txBody>
      </p:sp>
      <p:sp>
        <p:nvSpPr>
          <p:cNvPr id="10" name="qhead-3">
            <a:extLst xmlns:a="http://schemas.openxmlformats.org/drawingml/2006/main">
              <a:ext uri="{FF2B5EF4-FFF2-40B4-BE49-F238E27FC236}">
                <a16:creationId xmlns:a16="http://schemas.microsoft.com/office/drawing/2014/main" id="{B8249721-E7DD-4B3B-9F67-AC79DC811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29150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NEXT CHECK</a:t>
            </a:r>
          </a:p>
        </p:txBody>
      </p:sp>
      <p:sp>
        <p:nvSpPr>
          <p:cNvPr id="11" name="qbody-3">
            <a:extLst xmlns:a="http://schemas.openxmlformats.org/drawingml/2006/main">
              <a:ext uri="{FF2B5EF4-FFF2-40B4-BE49-F238E27FC236}">
                <a16:creationId xmlns:a16="http://schemas.microsoft.com/office/drawing/2014/main" id="{2A1A26BA-6C2D-4EA5-BAE0-8A6E34205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629150"/>
            <a:ext cx="7239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FF0000"/>
                </a:solidFill>
              </a:defRPr>
            </a:pPr>
            <a:r>
              <a:rPr sz="1875" b="1" i="0">
                <a:solidFill>
                  <a:srgbClr val="FF0000"/>
                </a:solidFill>
              </a:rPr>
              <a:t>What will you inspect now—and why?</a:t>
            </a:r>
          </a:p>
        </p:txBody>
      </p:sp>
    </p:spTree>
    <p:extLst>
      <p:ext uri="{BB962C8B-B14F-4D97-AF65-F5344CB8AC3E}">
        <p14:creationId xmlns:p14="http://schemas.microsoft.com/office/powerpoint/2010/main" val="608454046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E9A26BD-875E-409C-BE02-3D78C92D0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1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3333B2"/>
                </a:solidFill>
              </a:defRPr>
            </a:pPr>
            <a:r>
              <a:rPr sz="2925" b="1" i="0">
                <a:solidFill>
                  <a:srgbClr val="3333B2"/>
                </a:solidFill>
              </a:rPr>
              <a:t>Git is part of the research record</a:t>
            </a:r>
          </a:p>
        </p:txBody>
      </p:sp>
      <p:sp>
        <p:nvSpPr>
          <p:cNvPr id="2" name="rule-68-107">
            <a:extLst xmlns:a="http://schemas.openxmlformats.org/drawingml/2006/main">
              <a:ext uri="{FF2B5EF4-FFF2-40B4-BE49-F238E27FC236}">
                <a16:creationId xmlns:a16="http://schemas.microsoft.com/office/drawing/2014/main" id="{6DDA4791-BCD9-47AA-ABF4-ED3EEBD23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19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CE3B584-87F5-4D67-938D-40B618F28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5C5C69"/>
                </a:solidFill>
              </a:defRPr>
            </a:pPr>
            <a:r>
              <a:rPr sz="825" b="0" i="0">
                <a:solidFill>
                  <a:srgbClr val="5C5C69"/>
                </a:solidFill>
              </a:rPr>
              <a:t>24 / 29</a:t>
            </a:r>
          </a:p>
        </p:txBody>
      </p:sp>
      <p:sp>
        <p:nvSpPr>
          <p:cNvPr id="4" name="cmd-155">
            <a:extLst xmlns:a="http://schemas.openxmlformats.org/drawingml/2006/main">
              <a:ext uri="{FF2B5EF4-FFF2-40B4-BE49-F238E27FC236}">
                <a16:creationId xmlns:a16="http://schemas.microsoft.com/office/drawing/2014/main" id="{AE3B61EC-24F5-49EC-A5DD-DCF71B2CB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476375"/>
            <a:ext cx="10001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0000FF"/>
                </a:solidFill>
              </a:defRPr>
            </a:pPr>
            <a:r>
              <a:rPr sz="1650" b="0" i="0">
                <a:solidFill>
                  <a:srgbClr val="0000FF"/>
                </a:solidFill>
              </a:rPr>
              <a:t>git status</a:t>
            </a:r>
          </a:p>
        </p:txBody>
      </p:sp>
      <p:sp>
        <p:nvSpPr>
          <p:cNvPr id="5" name="cmd-218">
            <a:extLst xmlns:a="http://schemas.openxmlformats.org/drawingml/2006/main">
              <a:ext uri="{FF2B5EF4-FFF2-40B4-BE49-F238E27FC236}">
                <a16:creationId xmlns:a16="http://schemas.microsoft.com/office/drawing/2014/main" id="{E072D9CB-55DC-4AE2-A4E1-96284571C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76450"/>
            <a:ext cx="10001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0000FF"/>
                </a:solidFill>
              </a:defRPr>
            </a:pPr>
            <a:r>
              <a:rPr sz="1650" b="0" i="0">
                <a:solidFill>
                  <a:srgbClr val="0000FF"/>
                </a:solidFill>
              </a:rPr>
              <a:t>git log --oneline --all --decorate</a:t>
            </a:r>
          </a:p>
        </p:txBody>
      </p:sp>
      <p:sp>
        <p:nvSpPr>
          <p:cNvPr id="6" name="cmd-281">
            <a:extLst xmlns:a="http://schemas.openxmlformats.org/drawingml/2006/main">
              <a:ext uri="{FF2B5EF4-FFF2-40B4-BE49-F238E27FC236}">
                <a16:creationId xmlns:a16="http://schemas.microsoft.com/office/drawing/2014/main" id="{4541E755-CC68-4914-9735-6BFE414AB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76525"/>
            <a:ext cx="10001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0000FF"/>
                </a:solidFill>
              </a:defRPr>
            </a:pPr>
            <a:r>
              <a:rPr sz="1650" b="0" i="0">
                <a:solidFill>
                  <a:srgbClr val="0000FF"/>
                </a:solidFill>
              </a:rPr>
              <a:t>git diff</a:t>
            </a:r>
          </a:p>
        </p:txBody>
      </p:sp>
      <p:sp>
        <p:nvSpPr>
          <p:cNvPr id="7" name="cmd-344">
            <a:extLst xmlns:a="http://schemas.openxmlformats.org/drawingml/2006/main">
              <a:ext uri="{FF2B5EF4-FFF2-40B4-BE49-F238E27FC236}">
                <a16:creationId xmlns:a16="http://schemas.microsoft.com/office/drawing/2014/main" id="{F8890E65-1D60-435C-A557-93C911227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276600"/>
            <a:ext cx="10001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0000FF"/>
                </a:solidFill>
              </a:defRPr>
            </a:pPr>
            <a:r>
              <a:rPr sz="1650" b="0" i="0">
                <a:solidFill>
                  <a:srgbClr val="0000FF"/>
                </a:solidFill>
              </a:rPr>
              <a:t>git show &lt;commit&gt;</a:t>
            </a:r>
          </a:p>
        </p:txBody>
      </p:sp>
      <p:sp>
        <p:nvSpPr>
          <p:cNvPr id="8" name="cmd-407">
            <a:extLst xmlns:a="http://schemas.openxmlformats.org/drawingml/2006/main">
              <a:ext uri="{FF2B5EF4-FFF2-40B4-BE49-F238E27FC236}">
                <a16:creationId xmlns:a16="http://schemas.microsoft.com/office/drawing/2014/main" id="{712B1C66-B5D9-4FC2-92EB-320DD2846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876675"/>
            <a:ext cx="10001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0000FF"/>
                </a:solidFill>
              </a:defRPr>
            </a:pPr>
            <a:r>
              <a:rPr sz="1650" b="0" i="0">
                <a:solidFill>
                  <a:srgbClr val="0000FF"/>
                </a:solidFill>
              </a:rPr>
              <a:t>git blame &lt;file&gt;</a:t>
            </a:r>
          </a:p>
        </p:txBody>
      </p:sp>
      <p:sp>
        <p:nvSpPr>
          <p:cNvPr id="9" name="question">
            <a:extLst xmlns:a="http://schemas.openxmlformats.org/drawingml/2006/main">
              <a:ext uri="{FF2B5EF4-FFF2-40B4-BE49-F238E27FC236}">
                <a16:creationId xmlns:a16="http://schemas.microsoft.com/office/drawing/2014/main" id="{4756CF73-90F6-49A0-9EAA-714BF832C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5300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FF0000"/>
                </a:solidFill>
              </a:defRPr>
            </a:pPr>
            <a:r>
              <a:rPr sz="2325" b="1" i="0">
                <a:solidFill>
                  <a:srgbClr val="FF0000"/>
                </a:solidFill>
              </a:rPr>
              <a:t>What can history tell you that the current files cannot?</a:t>
            </a:r>
          </a:p>
        </p:txBody>
      </p:sp>
    </p:spTree>
    <p:extLst>
      <p:ext uri="{BB962C8B-B14F-4D97-AF65-F5344CB8AC3E}">
        <p14:creationId xmlns:p14="http://schemas.microsoft.com/office/powerpoint/2010/main" val="164620619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ADBB930-B78D-46E5-BC5E-2B575ADBB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1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3333B2"/>
                </a:solidFill>
              </a:defRPr>
            </a:pPr>
            <a:r>
              <a:rPr sz="2925" b="1" i="0">
                <a:solidFill>
                  <a:srgbClr val="3333B2"/>
                </a:solidFill>
              </a:rPr>
              <a:t>StatsClaw must issue a status before any change</a:t>
            </a:r>
          </a:p>
        </p:txBody>
      </p:sp>
      <p:sp>
        <p:nvSpPr>
          <p:cNvPr id="2" name="rule-68-107">
            <a:extLst xmlns:a="http://schemas.openxmlformats.org/drawingml/2006/main">
              <a:ext uri="{FF2B5EF4-FFF2-40B4-BE49-F238E27FC236}">
                <a16:creationId xmlns:a16="http://schemas.microsoft.com/office/drawing/2014/main" id="{822CDFC2-6D52-4CD3-95DE-956D0564D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19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2DE30E7-2F47-4511-8E3A-69EB61735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5C5C69"/>
                </a:solidFill>
              </a:defRPr>
            </a:pPr>
            <a:r>
              <a:rPr sz="825" b="0" i="0">
                <a:solidFill>
                  <a:srgbClr val="5C5C69"/>
                </a:solidFill>
              </a:rPr>
              <a:t>25 / 29</a:t>
            </a:r>
          </a:p>
        </p:txBody>
      </p:sp>
      <p:sp>
        <p:nvSpPr>
          <p:cNvPr id="4" name="decision-0">
            <a:extLst xmlns:a="http://schemas.openxmlformats.org/drawingml/2006/main">
              <a:ext uri="{FF2B5EF4-FFF2-40B4-BE49-F238E27FC236}">
                <a16:creationId xmlns:a16="http://schemas.microsoft.com/office/drawing/2014/main" id="{3F9A0223-E1F9-45C4-9199-5DF5D6D01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381125"/>
            <a:ext cx="304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3333B2"/>
                </a:solidFill>
              </a:defRPr>
            </a:pPr>
            <a:r>
              <a:rPr sz="2025" b="1" i="0">
                <a:solidFill>
                  <a:srgbClr val="3333B2"/>
                </a:solidFill>
              </a:rPr>
              <a:t>PASS</a:t>
            </a:r>
          </a:p>
        </p:txBody>
      </p:sp>
      <p:sp>
        <p:nvSpPr>
          <p:cNvPr id="5" name="decision-desc-0">
            <a:extLst xmlns:a="http://schemas.openxmlformats.org/drawingml/2006/main">
              <a:ext uri="{FF2B5EF4-FFF2-40B4-BE49-F238E27FC236}">
                <a16:creationId xmlns:a16="http://schemas.microsoft.com/office/drawing/2014/main" id="{32D90DBF-2390-446E-B65E-767D35A24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381125"/>
            <a:ext cx="7000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17171C"/>
                </a:solidFill>
              </a:defRPr>
            </a:pPr>
            <a:r>
              <a:rPr sz="1800" b="0" i="0">
                <a:solidFill>
                  <a:srgbClr val="17171C"/>
                </a:solidFill>
              </a:rPr>
              <a:t>design is intentional and supported</a:t>
            </a:r>
          </a:p>
        </p:txBody>
      </p:sp>
      <p:sp>
        <p:nvSpPr>
          <p:cNvPr id="6" name="decision-1">
            <a:extLst xmlns:a="http://schemas.openxmlformats.org/drawingml/2006/main">
              <a:ext uri="{FF2B5EF4-FFF2-40B4-BE49-F238E27FC236}">
                <a16:creationId xmlns:a16="http://schemas.microsoft.com/office/drawing/2014/main" id="{B4CB283A-A556-44D4-9826-9359808AA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81250"/>
            <a:ext cx="304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3333B2"/>
                </a:solidFill>
              </a:defRPr>
            </a:pPr>
            <a:r>
              <a:rPr sz="2025" b="1" i="0">
                <a:solidFill>
                  <a:srgbClr val="3333B2"/>
                </a:solidFill>
              </a:rPr>
              <a:t>REPAIR</a:t>
            </a:r>
          </a:p>
        </p:txBody>
      </p:sp>
      <p:sp>
        <p:nvSpPr>
          <p:cNvPr id="7" name="decision-desc-1">
            <a:extLst xmlns:a="http://schemas.openxmlformats.org/drawingml/2006/main">
              <a:ext uri="{FF2B5EF4-FFF2-40B4-BE49-F238E27FC236}">
                <a16:creationId xmlns:a16="http://schemas.microsoft.com/office/drawing/2014/main" id="{C9B1786D-7F17-4811-B594-4F3330A8F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381250"/>
            <a:ext cx="7000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17171C"/>
                </a:solidFill>
              </a:defRPr>
            </a:pPr>
            <a:r>
              <a:rPr sz="1800" b="0" i="0">
                <a:solidFill>
                  <a:srgbClr val="17171C"/>
                </a:solidFill>
              </a:rPr>
              <a:t>a bounded implementation error can be corrected</a:t>
            </a:r>
          </a:p>
        </p:txBody>
      </p:sp>
      <p:sp>
        <p:nvSpPr>
          <p:cNvPr id="8" name="decision-2">
            <a:extLst xmlns:a="http://schemas.openxmlformats.org/drawingml/2006/main">
              <a:ext uri="{FF2B5EF4-FFF2-40B4-BE49-F238E27FC236}">
                <a16:creationId xmlns:a16="http://schemas.microsoft.com/office/drawing/2014/main" id="{87F1ECDB-9D50-442D-A305-BCD3A40B6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81375"/>
            <a:ext cx="304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3333B2"/>
                </a:solidFill>
              </a:defRPr>
            </a:pPr>
            <a:r>
              <a:rPr sz="2025" b="1" i="0">
                <a:solidFill>
                  <a:srgbClr val="3333B2"/>
                </a:solidFill>
              </a:rPr>
              <a:t>BLOCK</a:t>
            </a:r>
          </a:p>
        </p:txBody>
      </p:sp>
      <p:sp>
        <p:nvSpPr>
          <p:cNvPr id="9" name="decision-desc-2">
            <a:extLst xmlns:a="http://schemas.openxmlformats.org/drawingml/2006/main">
              <a:ext uri="{FF2B5EF4-FFF2-40B4-BE49-F238E27FC236}">
                <a16:creationId xmlns:a16="http://schemas.microsoft.com/office/drawing/2014/main" id="{1F5E5A15-F650-48DD-8DA0-3FAB6163E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381375"/>
            <a:ext cx="7000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17171C"/>
                </a:solidFill>
              </a:defRPr>
            </a:pPr>
            <a:r>
              <a:rPr sz="1800" b="0" i="0">
                <a:solidFill>
                  <a:srgbClr val="17171C"/>
                </a:solidFill>
              </a:rPr>
              <a:t>current result should not be presented</a:t>
            </a:r>
          </a:p>
        </p:txBody>
      </p:sp>
      <p:sp>
        <p:nvSpPr>
          <p:cNvPr id="10" name="decision-3">
            <a:extLst xmlns:a="http://schemas.openxmlformats.org/drawingml/2006/main">
              <a:ext uri="{FF2B5EF4-FFF2-40B4-BE49-F238E27FC236}">
                <a16:creationId xmlns:a16="http://schemas.microsoft.com/office/drawing/2014/main" id="{027DB22C-E44E-44E7-B009-C7CEBF8A7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81500"/>
            <a:ext cx="304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3333B2"/>
                </a:solidFill>
              </a:defRPr>
            </a:pPr>
            <a:r>
              <a:rPr sz="2025" b="1" i="0">
                <a:solidFill>
                  <a:srgbClr val="3333B2"/>
                </a:solidFill>
              </a:rPr>
              <a:t>DESIGN REVIEW</a:t>
            </a:r>
          </a:p>
        </p:txBody>
      </p:sp>
      <p:sp>
        <p:nvSpPr>
          <p:cNvPr id="11" name="decision-desc-3">
            <a:extLst xmlns:a="http://schemas.openxmlformats.org/drawingml/2006/main">
              <a:ext uri="{FF2B5EF4-FFF2-40B4-BE49-F238E27FC236}">
                <a16:creationId xmlns:a16="http://schemas.microsoft.com/office/drawing/2014/main" id="{8150C51D-0435-476E-B040-4257013C0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381500"/>
            <a:ext cx="7000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17171C"/>
                </a:solidFill>
              </a:defRPr>
            </a:pPr>
            <a:r>
              <a:rPr sz="1800" b="0" i="0">
                <a:solidFill>
                  <a:srgbClr val="17171C"/>
                </a:solidFill>
              </a:rPr>
              <a:t>the intended experiment is unresolved</a:t>
            </a:r>
          </a:p>
        </p:txBody>
      </p:sp>
      <p:sp>
        <p:nvSpPr>
          <p:cNvPr id="12" name="sentence">
            <a:extLst xmlns:a="http://schemas.openxmlformats.org/drawingml/2006/main">
              <a:ext uri="{FF2B5EF4-FFF2-40B4-BE49-F238E27FC236}">
                <a16:creationId xmlns:a16="http://schemas.microsoft.com/office/drawing/2014/main" id="{C6493D8A-D357-4883-ADA5-44AAA654E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57212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BF0040"/>
                </a:solidFill>
              </a:defRPr>
            </a:pPr>
            <a:r>
              <a:rPr sz="1800" b="1" i="0">
                <a:solidFill>
                  <a:srgbClr val="BF0040"/>
                </a:solidFill>
              </a:rPr>
              <a:t>Only REPAIR authorizes a smallest repair. BLOCK forbids presentation.</a:t>
            </a:r>
          </a:p>
        </p:txBody>
      </p:sp>
    </p:spTree>
    <p:extLst>
      <p:ext uri="{BB962C8B-B14F-4D97-AF65-F5344CB8AC3E}">
        <p14:creationId xmlns:p14="http://schemas.microsoft.com/office/powerpoint/2010/main" val="1457465845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reveal-band">
            <a:extLst xmlns:a="http://schemas.openxmlformats.org/drawingml/2006/main">
              <a:ext uri="{FF2B5EF4-FFF2-40B4-BE49-F238E27FC236}">
                <a16:creationId xmlns:a16="http://schemas.microsoft.com/office/drawing/2014/main" id="{E61CCE70-A3C0-4369-926B-12E43293F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90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0">
            <a:solidFill>
              <a:srgbClr val="FF0000"/>
            </a:solidFill>
            <a:prstDash val="solid"/>
          </a:ln>
        </p:spPr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ED77E5B-EB93-476B-AF7F-936A88A47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1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FF0000"/>
                </a:solidFill>
              </a:defRPr>
            </a:pPr>
            <a:r>
              <a:rPr sz="2925" b="1" i="0">
                <a:solidFill>
                  <a:srgbClr val="FF0000"/>
                </a:solidFill>
              </a:rPr>
              <a:t>REVEAL — The inherited file changed the experiment</a:t>
            </a:r>
          </a:p>
        </p:txBody>
      </p:sp>
      <p:sp>
        <p:nvSpPr>
          <p:cNvPr id="3" name="rule-68-107">
            <a:extLst xmlns:a="http://schemas.openxmlformats.org/drawingml/2006/main">
              <a:ext uri="{FF2B5EF4-FFF2-40B4-BE49-F238E27FC236}">
                <a16:creationId xmlns:a16="http://schemas.microsoft.com/office/drawing/2014/main" id="{79DE9862-0924-40C1-8008-DE66DD983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19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7CBFB09-B324-4703-8B21-E9A25219F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5C5C69"/>
                </a:solidFill>
              </a:defRPr>
            </a:pPr>
            <a:r>
              <a:rPr sz="825" b="0" i="0">
                <a:solidFill>
                  <a:srgbClr val="5C5C69"/>
                </a:solidFill>
              </a:rPr>
              <a:t>26 / 29</a:t>
            </a:r>
          </a:p>
        </p:txBody>
      </p:sp>
      <p:sp>
        <p:nvSpPr>
          <p:cNvPr id="5" name="reveal-bg">
            <a:extLst xmlns:a="http://schemas.openxmlformats.org/drawingml/2006/main">
              <a:ext uri="{FF2B5EF4-FFF2-40B4-BE49-F238E27FC236}">
                <a16:creationId xmlns:a16="http://schemas.microsoft.com/office/drawing/2014/main" id="{ADEE27CA-137B-46A7-964D-06FB012B6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19200"/>
            <a:ext cx="10953750" cy="445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rows">
            <a:extLst xmlns:a="http://schemas.openxmlformats.org/drawingml/2006/main">
              <a:ext uri="{FF2B5EF4-FFF2-40B4-BE49-F238E27FC236}">
                <a16:creationId xmlns:a16="http://schemas.microsoft.com/office/drawing/2014/main" id="{82E53FC3-B852-4D95-9C79-3F23F90A3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466850"/>
            <a:ext cx="4000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FF0000"/>
                </a:solidFill>
              </a:defRPr>
            </a:pPr>
            <a:r>
              <a:rPr sz="2850" b="1" i="0">
                <a:solidFill>
                  <a:srgbClr val="FF0000"/>
                </a:solidFill>
              </a:rPr>
              <a:t>3,430 rows</a:t>
            </a:r>
          </a:p>
        </p:txBody>
      </p:sp>
      <p:sp>
        <p:nvSpPr>
          <p:cNvPr id="7" name="ids">
            <a:extLst xmlns:a="http://schemas.openxmlformats.org/drawingml/2006/main">
              <a:ext uri="{FF2B5EF4-FFF2-40B4-BE49-F238E27FC236}">
                <a16:creationId xmlns:a16="http://schemas.microsoft.com/office/drawing/2014/main" id="{858618A1-6F6D-4E1E-9C1C-7CA8D8A13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4305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17171C"/>
                </a:solidFill>
              </a:defRPr>
            </a:pPr>
            <a:r>
              <a:rPr sz="2175" b="1" i="0">
                <a:solidFill>
                  <a:srgbClr val="17171C"/>
                </a:solidFill>
              </a:rPr>
              <a:t>but only 3,000 applicant IDs</a:t>
            </a:r>
          </a:p>
        </p:txBody>
      </p:sp>
      <p:sp>
        <p:nvSpPr>
          <p:cNvPr id="8" name="dups">
            <a:extLst xmlns:a="http://schemas.openxmlformats.org/drawingml/2006/main">
              <a:ext uri="{FF2B5EF4-FFF2-40B4-BE49-F238E27FC236}">
                <a16:creationId xmlns:a16="http://schemas.microsoft.com/office/drawing/2014/main" id="{F56FB3B6-9C37-4E88-B589-A54114FBA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47900"/>
            <a:ext cx="885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0" i="0">
                <a:solidFill>
                  <a:srgbClr val="17171C"/>
                </a:solidFill>
              </a:defRPr>
            </a:pPr>
            <a:r>
              <a:rPr sz="2025" b="0" i="0">
                <a:solidFill>
                  <a:srgbClr val="17171C"/>
                </a:solidFill>
              </a:rPr>
              <a:t>350 applicant IDs are duplicated.</a:t>
            </a:r>
          </a:p>
        </p:txBody>
      </p:sp>
      <p:sp>
        <p:nvSpPr>
          <p:cNvPr id="9" name="concentration">
            <a:extLst xmlns:a="http://schemas.openxmlformats.org/drawingml/2006/main">
              <a:ext uri="{FF2B5EF4-FFF2-40B4-BE49-F238E27FC236}">
                <a16:creationId xmlns:a16="http://schemas.microsoft.com/office/drawing/2014/main" id="{8E329E32-2992-404E-9ECD-143BDE74A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00350"/>
            <a:ext cx="9906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0" i="0">
                <a:solidFill>
                  <a:srgbClr val="17171C"/>
                </a:solidFill>
              </a:defRPr>
            </a:pPr>
            <a:r>
              <a:rPr sz="2025" b="0" i="0">
                <a:solidFill>
                  <a:srgbClr val="17171C"/>
                </a:solidFill>
              </a:rPr>
              <a:t>Duplicates are concentrated among applicants offered training.</a:t>
            </a:r>
          </a:p>
        </p:txBody>
      </p:sp>
      <p:sp>
        <p:nvSpPr>
          <p:cNvPr id="10" name="replacement">
            <a:extLst xmlns:a="http://schemas.openxmlformats.org/drawingml/2006/main">
              <a:ext uri="{FF2B5EF4-FFF2-40B4-BE49-F238E27FC236}">
                <a16:creationId xmlns:a16="http://schemas.microsoft.com/office/drawing/2014/main" id="{FB684D3E-AEDB-4BB1-82D6-2B8950EA7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52800"/>
            <a:ext cx="10096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FF0000"/>
                </a:solidFill>
              </a:defRPr>
            </a:pPr>
            <a:r>
              <a:rPr sz="2025" b="1" i="0">
                <a:solidFill>
                  <a:srgbClr val="FF0000"/>
                </a:solidFill>
              </a:rPr>
              <a:t>The inherited analysis used program_participant as treatment instead of randomized offered_training.</a:t>
            </a:r>
          </a:p>
        </p:txBody>
      </p:sp>
      <p:sp>
        <p:nvSpPr>
          <p:cNvPr id="11" name="rule-92-436">
            <a:extLst xmlns:a="http://schemas.openxmlformats.org/drawingml/2006/main">
              <a:ext uri="{FF2B5EF4-FFF2-40B4-BE49-F238E27FC236}">
                <a16:creationId xmlns:a16="http://schemas.microsoft.com/office/drawing/2014/main" id="{73DF3DEA-A84E-432A-A37F-ABA7B459D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52900"/>
            <a:ext cx="971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0">
            <a:solidFill>
              <a:srgbClr val="FF0000"/>
            </a:solidFill>
            <a:prstDash val="solid"/>
          </a:ln>
        </p:spPr>
      </p:sp>
      <p:sp>
        <p:nvSpPr>
          <p:cNvPr id="12" name="decision">
            <a:extLst xmlns:a="http://schemas.openxmlformats.org/drawingml/2006/main">
              <a:ext uri="{FF2B5EF4-FFF2-40B4-BE49-F238E27FC236}">
                <a16:creationId xmlns:a16="http://schemas.microsoft.com/office/drawing/2014/main" id="{6E4327D0-551D-4524-B8BE-5F775BD09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00550"/>
            <a:ext cx="4667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00" b="1" i="0">
                <a:solidFill>
                  <a:srgbClr val="FF0000"/>
                </a:solidFill>
              </a:defRPr>
            </a:pPr>
            <a:r>
              <a:rPr sz="2700" b="1" i="0">
                <a:solidFill>
                  <a:srgbClr val="FF0000"/>
                </a:solidFill>
              </a:rPr>
              <a:t>Decision: BLOCK</a:t>
            </a:r>
          </a:p>
        </p:txBody>
      </p:sp>
      <p:sp>
        <p:nvSpPr>
          <p:cNvPr id="13" name="repair">
            <a:extLst xmlns:a="http://schemas.openxmlformats.org/drawingml/2006/main">
              <a:ext uri="{FF2B5EF4-FFF2-40B4-BE49-F238E27FC236}">
                <a16:creationId xmlns:a16="http://schemas.microsoft.com/office/drawing/2014/main" id="{FDFAD635-D062-4321-9416-E276CE843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10150"/>
            <a:ext cx="9906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7171C"/>
                </a:solidFill>
              </a:defRPr>
            </a:pPr>
            <a:r>
              <a:rPr sz="1650" b="1" i="0">
                <a:solidFill>
                  <a:srgbClr val="17171C"/>
                </a:solidFill>
              </a:rPr>
              <a:t>offered_training remains in the CSV. Repair at the applicant level: treat attendance as a diagnostic; keep offered_training as treatment.</a:t>
            </a:r>
          </a:p>
        </p:txBody>
      </p:sp>
    </p:spTree>
    <p:extLst>
      <p:ext uri="{BB962C8B-B14F-4D97-AF65-F5344CB8AC3E}">
        <p14:creationId xmlns:p14="http://schemas.microsoft.com/office/powerpoint/2010/main" val="247036835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80CD7CC-7935-4A42-AC1B-CE1CBCC99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1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3333B2"/>
                </a:solidFill>
              </a:defRPr>
            </a:pPr>
            <a:r>
              <a:rPr sz="2925" b="1" i="0">
                <a:solidFill>
                  <a:srgbClr val="3333B2"/>
                </a:solidFill>
              </a:rPr>
              <a:t>Case B — Expected StatsClaw audit output</a:t>
            </a:r>
          </a:p>
        </p:txBody>
      </p:sp>
      <p:sp>
        <p:nvSpPr>
          <p:cNvPr id="2" name="rule-68-107">
            <a:extLst xmlns:a="http://schemas.openxmlformats.org/drawingml/2006/main">
              <a:ext uri="{FF2B5EF4-FFF2-40B4-BE49-F238E27FC236}">
                <a16:creationId xmlns:a16="http://schemas.microsoft.com/office/drawing/2014/main" id="{2F2D6F9A-536E-4D5C-9471-4B0EEC339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19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A4D39E5-F2DB-451A-9D7A-143418A79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5C5C69"/>
                </a:solidFill>
              </a:defRPr>
            </a:pPr>
            <a:r>
              <a:rPr sz="825" b="0" i="0">
                <a:solidFill>
                  <a:srgbClr val="5C5C69"/>
                </a:solidFill>
              </a:rPr>
              <a:t>27 / 29</a:t>
            </a:r>
          </a:p>
        </p:txBody>
      </p:sp>
      <p:sp>
        <p:nvSpPr>
          <p:cNvPr id="4" name="audit-label-0">
            <a:extLst xmlns:a="http://schemas.openxmlformats.org/drawingml/2006/main">
              <a:ext uri="{FF2B5EF4-FFF2-40B4-BE49-F238E27FC236}">
                <a16:creationId xmlns:a16="http://schemas.microsoft.com/office/drawing/2014/main" id="{CC062543-0867-4BE5-AAF1-F8E3D6863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5730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3333B2"/>
                </a:solidFill>
              </a:defRPr>
            </a:pPr>
            <a:r>
              <a:rPr sz="1425" b="1" i="0">
                <a:solidFill>
                  <a:srgbClr val="3333B2"/>
                </a:solidFill>
              </a:rPr>
              <a:t>ROWS</a:t>
            </a:r>
          </a:p>
        </p:txBody>
      </p:sp>
      <p:sp>
        <p:nvSpPr>
          <p:cNvPr id="5" name="audit-value-0">
            <a:extLst xmlns:a="http://schemas.openxmlformats.org/drawingml/2006/main">
              <a:ext uri="{FF2B5EF4-FFF2-40B4-BE49-F238E27FC236}">
                <a16:creationId xmlns:a16="http://schemas.microsoft.com/office/drawing/2014/main" id="{C45FB862-52A6-4A3D-A85E-20C568E65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257300"/>
            <a:ext cx="695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17171C"/>
                </a:solidFill>
              </a:defRPr>
            </a:pPr>
            <a:r>
              <a:rPr sz="1725" b="0" i="0">
                <a:solidFill>
                  <a:srgbClr val="17171C"/>
                </a:solidFill>
              </a:rPr>
              <a:t>3,430</a:t>
            </a:r>
          </a:p>
        </p:txBody>
      </p:sp>
      <p:sp>
        <p:nvSpPr>
          <p:cNvPr id="6" name="rule-82-177">
            <a:extLst xmlns:a="http://schemas.openxmlformats.org/drawingml/2006/main">
              <a:ext uri="{FF2B5EF4-FFF2-40B4-BE49-F238E27FC236}">
                <a16:creationId xmlns:a16="http://schemas.microsoft.com/office/drawing/2014/main" id="{48B9E79A-92F5-497B-98EE-C2ACE33D7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85925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7" name="audit-label-1">
            <a:extLst xmlns:a="http://schemas.openxmlformats.org/drawingml/2006/main">
              <a:ext uri="{FF2B5EF4-FFF2-40B4-BE49-F238E27FC236}">
                <a16:creationId xmlns:a16="http://schemas.microsoft.com/office/drawing/2014/main" id="{18100EE0-00B2-4853-BF14-0CFC2FC7C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76425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3333B2"/>
                </a:solidFill>
              </a:defRPr>
            </a:pPr>
            <a:r>
              <a:rPr sz="1425" b="1" i="0">
                <a:solidFill>
                  <a:srgbClr val="3333B2"/>
                </a:solidFill>
              </a:rPr>
              <a:t>UNIQUE APPLICANT IDs</a:t>
            </a:r>
          </a:p>
        </p:txBody>
      </p:sp>
      <p:sp>
        <p:nvSpPr>
          <p:cNvPr id="8" name="audit-value-1">
            <a:extLst xmlns:a="http://schemas.openxmlformats.org/drawingml/2006/main">
              <a:ext uri="{FF2B5EF4-FFF2-40B4-BE49-F238E27FC236}">
                <a16:creationId xmlns:a16="http://schemas.microsoft.com/office/drawing/2014/main" id="{BEF0D11C-26CA-41C6-B15E-3BF201D99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876425"/>
            <a:ext cx="695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17171C"/>
                </a:solidFill>
              </a:defRPr>
            </a:pPr>
            <a:r>
              <a:rPr sz="1725" b="0" i="0">
                <a:solidFill>
                  <a:srgbClr val="17171C"/>
                </a:solidFill>
              </a:rPr>
              <a:t>3,000</a:t>
            </a:r>
          </a:p>
        </p:txBody>
      </p:sp>
      <p:sp>
        <p:nvSpPr>
          <p:cNvPr id="9" name="rule-82-242">
            <a:extLst xmlns:a="http://schemas.openxmlformats.org/drawingml/2006/main">
              <a:ext uri="{FF2B5EF4-FFF2-40B4-BE49-F238E27FC236}">
                <a16:creationId xmlns:a16="http://schemas.microsoft.com/office/drawing/2014/main" id="{BD807F7C-A916-474B-9AE2-41CEC4F71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05050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10" name="audit-label-2">
            <a:extLst xmlns:a="http://schemas.openxmlformats.org/drawingml/2006/main">
              <a:ext uri="{FF2B5EF4-FFF2-40B4-BE49-F238E27FC236}">
                <a16:creationId xmlns:a16="http://schemas.microsoft.com/office/drawing/2014/main" id="{E4809F79-5CCF-4DBD-8363-20C1CDA7C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955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3333B2"/>
                </a:solidFill>
              </a:defRPr>
            </a:pPr>
            <a:r>
              <a:rPr sz="1425" b="1" i="0">
                <a:solidFill>
                  <a:srgbClr val="3333B2"/>
                </a:solidFill>
              </a:rPr>
              <a:t>DUPLICATED IDs</a:t>
            </a:r>
          </a:p>
        </p:txBody>
      </p:sp>
      <p:sp>
        <p:nvSpPr>
          <p:cNvPr id="11" name="audit-value-2">
            <a:extLst xmlns:a="http://schemas.openxmlformats.org/drawingml/2006/main">
              <a:ext uri="{FF2B5EF4-FFF2-40B4-BE49-F238E27FC236}">
                <a16:creationId xmlns:a16="http://schemas.microsoft.com/office/drawing/2014/main" id="{FFAFD56E-8346-43F7-8BE8-2F60A30B4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495550"/>
            <a:ext cx="695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17171C"/>
                </a:solidFill>
              </a:defRPr>
            </a:pPr>
            <a:r>
              <a:rPr sz="1725" b="0" i="0">
                <a:solidFill>
                  <a:srgbClr val="17171C"/>
                </a:solidFill>
              </a:rPr>
              <a:t>350</a:t>
            </a:r>
          </a:p>
        </p:txBody>
      </p:sp>
      <p:sp>
        <p:nvSpPr>
          <p:cNvPr id="12" name="rule-82-307">
            <a:extLst xmlns:a="http://schemas.openxmlformats.org/drawingml/2006/main">
              <a:ext uri="{FF2B5EF4-FFF2-40B4-BE49-F238E27FC236}">
                <a16:creationId xmlns:a16="http://schemas.microsoft.com/office/drawing/2014/main" id="{EF926225-395F-4EA4-A85C-0A050FCF2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24175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13" name="audit-label-3">
            <a:extLst xmlns:a="http://schemas.openxmlformats.org/drawingml/2006/main">
              <a:ext uri="{FF2B5EF4-FFF2-40B4-BE49-F238E27FC236}">
                <a16:creationId xmlns:a16="http://schemas.microsoft.com/office/drawing/2014/main" id="{0EF495CC-CCA5-4C26-947A-75DB479D0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14675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3333B2"/>
                </a:solidFill>
              </a:defRPr>
            </a:pPr>
            <a:r>
              <a:rPr sz="1425" b="1" i="0">
                <a:solidFill>
                  <a:srgbClr val="3333B2"/>
                </a:solidFill>
              </a:rPr>
              <a:t>EXCESS ROWS</a:t>
            </a:r>
          </a:p>
        </p:txBody>
      </p:sp>
      <p:sp>
        <p:nvSpPr>
          <p:cNvPr id="14" name="audit-value-3">
            <a:extLst xmlns:a="http://schemas.openxmlformats.org/drawingml/2006/main">
              <a:ext uri="{FF2B5EF4-FFF2-40B4-BE49-F238E27FC236}">
                <a16:creationId xmlns:a16="http://schemas.microsoft.com/office/drawing/2014/main" id="{D322C4C8-CBA9-4CE8-B1E3-12F6D1915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114675"/>
            <a:ext cx="695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17171C"/>
                </a:solidFill>
              </a:defRPr>
            </a:pPr>
            <a:r>
              <a:rPr sz="1725" b="0" i="0">
                <a:solidFill>
                  <a:srgbClr val="17171C"/>
                </a:solidFill>
              </a:rPr>
              <a:t>430</a:t>
            </a:r>
          </a:p>
        </p:txBody>
      </p:sp>
      <p:sp>
        <p:nvSpPr>
          <p:cNvPr id="15" name="rule-82-372">
            <a:extLst xmlns:a="http://schemas.openxmlformats.org/drawingml/2006/main">
              <a:ext uri="{FF2B5EF4-FFF2-40B4-BE49-F238E27FC236}">
                <a16:creationId xmlns:a16="http://schemas.microsoft.com/office/drawing/2014/main" id="{273723CD-94B2-46A1-904B-2265FC0F4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43300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16" name="audit-label-4">
            <a:extLst xmlns:a="http://schemas.openxmlformats.org/drawingml/2006/main">
              <a:ext uri="{FF2B5EF4-FFF2-40B4-BE49-F238E27FC236}">
                <a16:creationId xmlns:a16="http://schemas.microsoft.com/office/drawing/2014/main" id="{987A2348-1ABC-4249-86C5-1E398CC3F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3380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3333B2"/>
                </a:solidFill>
              </a:defRPr>
            </a:pPr>
            <a:r>
              <a:rPr sz="1425" b="1" i="0">
                <a:solidFill>
                  <a:srgbClr val="3333B2"/>
                </a:solidFill>
              </a:rPr>
              <a:t>DUPLICATION PATTERN</a:t>
            </a:r>
          </a:p>
        </p:txBody>
      </p:sp>
      <p:sp>
        <p:nvSpPr>
          <p:cNvPr id="17" name="audit-value-4">
            <a:extLst xmlns:a="http://schemas.openxmlformats.org/drawingml/2006/main">
              <a:ext uri="{FF2B5EF4-FFF2-40B4-BE49-F238E27FC236}">
                <a16:creationId xmlns:a16="http://schemas.microsoft.com/office/drawing/2014/main" id="{E3BBC866-F731-4750-B3B8-E1B99F1A7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733800"/>
            <a:ext cx="695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17171C"/>
                </a:solidFill>
              </a:defRPr>
            </a:pPr>
            <a:r>
              <a:rPr sz="1725" b="0" i="0">
                <a:solidFill>
                  <a:srgbClr val="17171C"/>
                </a:solidFill>
              </a:rPr>
              <a:t>All duplicated IDs are offered applicants</a:t>
            </a:r>
          </a:p>
        </p:txBody>
      </p:sp>
      <p:sp>
        <p:nvSpPr>
          <p:cNvPr id="18" name="rule-82-437">
            <a:extLst xmlns:a="http://schemas.openxmlformats.org/drawingml/2006/main">
              <a:ext uri="{FF2B5EF4-FFF2-40B4-BE49-F238E27FC236}">
                <a16:creationId xmlns:a16="http://schemas.microsoft.com/office/drawing/2014/main" id="{BAEF53DA-7DCE-4D3B-B3F8-9374AF28B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62425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19" name="audit-label-5">
            <a:extLst xmlns:a="http://schemas.openxmlformats.org/drawingml/2006/main">
              <a:ext uri="{FF2B5EF4-FFF2-40B4-BE49-F238E27FC236}">
                <a16:creationId xmlns:a16="http://schemas.microsoft.com/office/drawing/2014/main" id="{4B676D90-8921-436E-B19C-5CFD4A8D6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52925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3333B2"/>
                </a:solidFill>
              </a:defRPr>
            </a:pPr>
            <a:r>
              <a:rPr sz="1425" b="1" i="0">
                <a:solidFill>
                  <a:srgbClr val="3333B2"/>
                </a:solidFill>
              </a:rPr>
              <a:t>PARTICIPATION</a:t>
            </a:r>
          </a:p>
        </p:txBody>
      </p:sp>
      <p:sp>
        <p:nvSpPr>
          <p:cNvPr id="20" name="audit-value-5">
            <a:extLst xmlns:a="http://schemas.openxmlformats.org/drawingml/2006/main">
              <a:ext uri="{FF2B5EF4-FFF2-40B4-BE49-F238E27FC236}">
                <a16:creationId xmlns:a16="http://schemas.microsoft.com/office/drawing/2014/main" id="{68E49516-9321-48A2-A539-D5DBC4B99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352925"/>
            <a:ext cx="695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17171C"/>
                </a:solidFill>
              </a:defRPr>
            </a:pPr>
            <a:r>
              <a:rPr sz="1725" b="0" i="0">
                <a:solidFill>
                  <a:srgbClr val="17171C"/>
                </a:solidFill>
              </a:rPr>
              <a:t>1,395 participants  •  1,605 non-participants</a:t>
            </a:r>
          </a:p>
        </p:txBody>
      </p:sp>
      <p:sp>
        <p:nvSpPr>
          <p:cNvPr id="21" name="rule-82-502">
            <a:extLst xmlns:a="http://schemas.openxmlformats.org/drawingml/2006/main">
              <a:ext uri="{FF2B5EF4-FFF2-40B4-BE49-F238E27FC236}">
                <a16:creationId xmlns:a16="http://schemas.microsoft.com/office/drawing/2014/main" id="{33B1710A-40B9-47C6-BF91-02F0EC8C7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81550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22" name="audit-label-6">
            <a:extLst xmlns:a="http://schemas.openxmlformats.org/drawingml/2006/main">
              <a:ext uri="{FF2B5EF4-FFF2-40B4-BE49-F238E27FC236}">
                <a16:creationId xmlns:a16="http://schemas.microsoft.com/office/drawing/2014/main" id="{45BE8DED-E006-443A-80EC-BEDEF3EF6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720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3333B2"/>
                </a:solidFill>
              </a:defRPr>
            </a:pPr>
            <a:r>
              <a:rPr sz="1425" b="1" i="0">
                <a:solidFill>
                  <a:srgbClr val="3333B2"/>
                </a:solidFill>
              </a:rPr>
              <a:t>STATUS</a:t>
            </a:r>
          </a:p>
        </p:txBody>
      </p:sp>
      <p:sp>
        <p:nvSpPr>
          <p:cNvPr id="23" name="audit-value-6">
            <a:extLst xmlns:a="http://schemas.openxmlformats.org/drawingml/2006/main">
              <a:ext uri="{FF2B5EF4-FFF2-40B4-BE49-F238E27FC236}">
                <a16:creationId xmlns:a16="http://schemas.microsoft.com/office/drawing/2014/main" id="{BEFA1303-1C36-4FD7-B5CD-9BEAFE5FE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972050"/>
            <a:ext cx="695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 i="0">
                <a:solidFill>
                  <a:srgbClr val="FF0000"/>
                </a:solidFill>
              </a:defRPr>
            </a:pPr>
            <a:r>
              <a:rPr sz="2400" b="1" i="0">
                <a:solidFill>
                  <a:srgbClr val="FF0000"/>
                </a:solidFill>
              </a:rPr>
              <a:t>BLOCK</a:t>
            </a:r>
          </a:p>
        </p:txBody>
      </p:sp>
      <p:sp>
        <p:nvSpPr>
          <p:cNvPr id="24" name="framing">
            <a:extLst xmlns:a="http://schemas.openxmlformats.org/drawingml/2006/main">
              <a:ext uri="{FF2B5EF4-FFF2-40B4-BE49-F238E27FC236}">
                <a16:creationId xmlns:a16="http://schemas.microsoft.com/office/drawing/2014/main" id="{49BA6717-32C6-4263-9D46-75E5DC14B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791200"/>
            <a:ext cx="981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BF0040"/>
                </a:solidFill>
              </a:defRPr>
            </a:pPr>
            <a:r>
              <a:rPr sz="1725" b="1" i="0">
                <a:solidFill>
                  <a:srgbClr val="BF0040"/>
                </a:solidFill>
              </a:rPr>
              <a:t>The row structure changes the comparison; presentation is blocked.</a:t>
            </a:r>
          </a:p>
        </p:txBody>
      </p:sp>
    </p:spTree>
    <p:extLst>
      <p:ext uri="{BB962C8B-B14F-4D97-AF65-F5344CB8AC3E}">
        <p14:creationId xmlns:p14="http://schemas.microsoft.com/office/powerpoint/2010/main" val="1313697579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B44A4C3-0A34-49FA-9AFC-C4998A021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1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3333B2"/>
                </a:solidFill>
              </a:defRPr>
            </a:pPr>
            <a:r>
              <a:rPr sz="2925" b="1" i="0">
                <a:solidFill>
                  <a:srgbClr val="3333B2"/>
                </a:solidFill>
              </a:rPr>
              <a:t>Case B — 430 excess rows appear among offered applicants</a:t>
            </a:r>
          </a:p>
        </p:txBody>
      </p:sp>
      <p:sp>
        <p:nvSpPr>
          <p:cNvPr id="2" name="rule-68-107">
            <a:extLst xmlns:a="http://schemas.openxmlformats.org/drawingml/2006/main">
              <a:ext uri="{FF2B5EF4-FFF2-40B4-BE49-F238E27FC236}">
                <a16:creationId xmlns:a16="http://schemas.microsoft.com/office/drawing/2014/main" id="{CC362B87-6051-4FB6-B016-B3AD7C5DF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19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69D2C75-F08A-4B25-957A-9AD3C02D2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5C5C69"/>
                </a:solidFill>
              </a:defRPr>
            </a:pPr>
            <a:r>
              <a:rPr sz="825" b="0" i="0">
                <a:solidFill>
                  <a:srgbClr val="5C5C69"/>
                </a:solidFill>
              </a:rPr>
              <a:t>28 / 29</a:t>
            </a:r>
          </a:p>
        </p:txBody>
      </p:sp>
      <p:sp>
        <p:nvSpPr>
          <p:cNvPr id="4" name="rule-130-570">
            <a:extLst xmlns:a="http://schemas.openxmlformats.org/drawingml/2006/main">
              <a:ext uri="{FF2B5EF4-FFF2-40B4-BE49-F238E27FC236}">
                <a16:creationId xmlns:a16="http://schemas.microsoft.com/office/drawing/2014/main" id="{60C95F54-62F2-4685-A9CD-E39B3DB02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429250"/>
            <a:ext cx="685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C5C69"/>
          </a:solidFill>
          <a:ln xmlns:a="http://schemas.openxmlformats.org/drawingml/2006/main" w="0">
            <a:solidFill>
              <a:srgbClr val="5C5C69"/>
            </a:solidFill>
            <a:prstDash val="solid"/>
          </a:ln>
        </p:spPr>
      </p:sp>
      <p:sp>
        <p:nvSpPr>
          <p:cNvPr id="5" name="case-b-axis-0">
            <a:extLst xmlns:a="http://schemas.openxmlformats.org/drawingml/2006/main">
              <a:ext uri="{FF2B5EF4-FFF2-40B4-BE49-F238E27FC236}">
                <a16:creationId xmlns:a16="http://schemas.microsoft.com/office/drawing/2014/main" id="{0318F663-F547-4E0E-B4B8-3CD9006FB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305425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 i="0">
                <a:solidFill>
                  <a:srgbClr val="5C5C69"/>
                </a:solidFill>
              </a:defRPr>
            </a:pPr>
            <a:r>
              <a:rPr sz="1050" b="0" i="0">
                <a:solidFill>
                  <a:srgbClr val="5C5C69"/>
                </a:solidFill>
              </a:rPr>
              <a:t>0</a:t>
            </a:r>
          </a:p>
        </p:txBody>
      </p:sp>
      <p:sp>
        <p:nvSpPr>
          <p:cNvPr id="6" name="rule-130-479">
            <a:extLst xmlns:a="http://schemas.openxmlformats.org/drawingml/2006/main">
              <a:ext uri="{FF2B5EF4-FFF2-40B4-BE49-F238E27FC236}">
                <a16:creationId xmlns:a16="http://schemas.microsoft.com/office/drawing/2014/main" id="{47C8A8E5-65C7-4387-8240-60A77A825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562475"/>
            <a:ext cx="685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7" name="case-b-axis-500">
            <a:extLst xmlns:a="http://schemas.openxmlformats.org/drawingml/2006/main">
              <a:ext uri="{FF2B5EF4-FFF2-40B4-BE49-F238E27FC236}">
                <a16:creationId xmlns:a16="http://schemas.microsoft.com/office/drawing/2014/main" id="{B4ED005F-CA1E-454B-8051-9A6301B61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43865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 i="0">
                <a:solidFill>
                  <a:srgbClr val="5C5C69"/>
                </a:solidFill>
              </a:defRPr>
            </a:pPr>
            <a:r>
              <a:rPr sz="1050" b="0" i="0">
                <a:solidFill>
                  <a:srgbClr val="5C5C69"/>
                </a:solidFill>
              </a:rPr>
              <a:t>500</a:t>
            </a:r>
          </a:p>
        </p:txBody>
      </p:sp>
      <p:sp>
        <p:nvSpPr>
          <p:cNvPr id="8" name="rule-130-388">
            <a:extLst xmlns:a="http://schemas.openxmlformats.org/drawingml/2006/main">
              <a:ext uri="{FF2B5EF4-FFF2-40B4-BE49-F238E27FC236}">
                <a16:creationId xmlns:a16="http://schemas.microsoft.com/office/drawing/2014/main" id="{77F86365-C399-445E-B259-56B587D58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695700"/>
            <a:ext cx="685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9" name="case-b-axis-1000">
            <a:extLst xmlns:a="http://schemas.openxmlformats.org/drawingml/2006/main">
              <a:ext uri="{FF2B5EF4-FFF2-40B4-BE49-F238E27FC236}">
                <a16:creationId xmlns:a16="http://schemas.microsoft.com/office/drawing/2014/main" id="{4307FE12-603D-4FF7-B1A2-B25535D68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571875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 i="0">
                <a:solidFill>
                  <a:srgbClr val="5C5C69"/>
                </a:solidFill>
              </a:defRPr>
            </a:pPr>
            <a:r>
              <a:rPr sz="1050" b="0" i="0">
                <a:solidFill>
                  <a:srgbClr val="5C5C69"/>
                </a:solidFill>
              </a:rPr>
              <a:t>1,000</a:t>
            </a:r>
          </a:p>
        </p:txBody>
      </p:sp>
      <p:sp>
        <p:nvSpPr>
          <p:cNvPr id="10" name="rule-130-297">
            <a:extLst xmlns:a="http://schemas.openxmlformats.org/drawingml/2006/main">
              <a:ext uri="{FF2B5EF4-FFF2-40B4-BE49-F238E27FC236}">
                <a16:creationId xmlns:a16="http://schemas.microsoft.com/office/drawing/2014/main" id="{698DEDCC-C707-45C6-A66D-1E04F0CDC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828925"/>
            <a:ext cx="685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11" name="case-b-axis-1500">
            <a:extLst xmlns:a="http://schemas.openxmlformats.org/drawingml/2006/main">
              <a:ext uri="{FF2B5EF4-FFF2-40B4-BE49-F238E27FC236}">
                <a16:creationId xmlns:a16="http://schemas.microsoft.com/office/drawing/2014/main" id="{47C43C9A-5605-4B71-8B51-3086DD13F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70510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 i="0">
                <a:solidFill>
                  <a:srgbClr val="5C5C69"/>
                </a:solidFill>
              </a:defRPr>
            </a:pPr>
            <a:r>
              <a:rPr sz="1050" b="0" i="0">
                <a:solidFill>
                  <a:srgbClr val="5C5C69"/>
                </a:solidFill>
              </a:rPr>
              <a:t>1,500</a:t>
            </a:r>
          </a:p>
        </p:txBody>
      </p:sp>
      <p:sp>
        <p:nvSpPr>
          <p:cNvPr id="12" name="rule-130-206">
            <a:extLst xmlns:a="http://schemas.openxmlformats.org/drawingml/2006/main">
              <a:ext uri="{FF2B5EF4-FFF2-40B4-BE49-F238E27FC236}">
                <a16:creationId xmlns:a16="http://schemas.microsoft.com/office/drawing/2014/main" id="{C8622DF1-41E2-498D-B0F9-9938EDDCD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962150"/>
            <a:ext cx="685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13" name="case-b-axis-2000">
            <a:extLst xmlns:a="http://schemas.openxmlformats.org/drawingml/2006/main">
              <a:ext uri="{FF2B5EF4-FFF2-40B4-BE49-F238E27FC236}">
                <a16:creationId xmlns:a16="http://schemas.microsoft.com/office/drawing/2014/main" id="{3DB33BA6-0CC6-40FE-BF1D-12D59EE18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838325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 i="0">
                <a:solidFill>
                  <a:srgbClr val="5C5C69"/>
                </a:solidFill>
              </a:defRPr>
            </a:pPr>
            <a:r>
              <a:rPr sz="1050" b="0" i="0">
                <a:solidFill>
                  <a:srgbClr val="5C5C69"/>
                </a:solidFill>
              </a:rPr>
              <a:t>2,000</a:t>
            </a:r>
          </a:p>
        </p:txBody>
      </p:sp>
      <p:sp>
        <p:nvSpPr>
          <p:cNvPr id="14" name="case-b-control-rows">
            <a:extLst xmlns:a="http://schemas.openxmlformats.org/drawingml/2006/main">
              <a:ext uri="{FF2B5EF4-FFF2-40B4-BE49-F238E27FC236}">
                <a16:creationId xmlns:a16="http://schemas.microsoft.com/office/drawing/2014/main" id="{7930C4E7-A268-4844-99B6-60D40A968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2828925"/>
            <a:ext cx="857250" cy="2600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33B2"/>
          </a:solidFill>
          <a:ln xmlns:a="http://schemas.openxmlformats.org/drawingml/2006/main" w="0">
            <a:solidFill>
              <a:srgbClr val="3333B2"/>
            </a:solidFill>
            <a:prstDash val="solid"/>
          </a:ln>
        </p:spPr>
      </p:sp>
      <p:sp>
        <p:nvSpPr>
          <p:cNvPr id="15" name="case-b-control-applicants">
            <a:extLst xmlns:a="http://schemas.openxmlformats.org/drawingml/2006/main">
              <a:ext uri="{FF2B5EF4-FFF2-40B4-BE49-F238E27FC236}">
                <a16:creationId xmlns:a16="http://schemas.microsoft.com/office/drawing/2014/main" id="{1A201C26-59F4-4A27-9A2A-C44E47A7B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828925"/>
            <a:ext cx="857250" cy="2600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C5C69"/>
          </a:solidFill>
          <a:ln xmlns:a="http://schemas.openxmlformats.org/drawingml/2006/main" w="0">
            <a:solidFill>
              <a:srgbClr val="5C5C69"/>
            </a:solidFill>
            <a:prstDash val="solid"/>
          </a:ln>
        </p:spPr>
      </p:sp>
      <p:sp>
        <p:nvSpPr>
          <p:cNvPr id="16" name="case-b-offered-rows">
            <a:extLst xmlns:a="http://schemas.openxmlformats.org/drawingml/2006/main">
              <a:ext uri="{FF2B5EF4-FFF2-40B4-BE49-F238E27FC236}">
                <a16:creationId xmlns:a16="http://schemas.microsoft.com/office/drawing/2014/main" id="{38E2800A-0584-4D94-9E4F-417D036D2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85975"/>
            <a:ext cx="857250" cy="3343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33B2"/>
          </a:solidFill>
          <a:ln xmlns:a="http://schemas.openxmlformats.org/drawingml/2006/main" w="0">
            <a:solidFill>
              <a:srgbClr val="3333B2"/>
            </a:solidFill>
            <a:prstDash val="solid"/>
          </a:ln>
        </p:spPr>
      </p:sp>
      <p:sp>
        <p:nvSpPr>
          <p:cNvPr id="17" name="case-b-offered-applicants">
            <a:extLst xmlns:a="http://schemas.openxmlformats.org/drawingml/2006/main">
              <a:ext uri="{FF2B5EF4-FFF2-40B4-BE49-F238E27FC236}">
                <a16:creationId xmlns:a16="http://schemas.microsoft.com/office/drawing/2014/main" id="{07ED48F7-584C-4A46-ACC9-F83A86E5C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2828925"/>
            <a:ext cx="857250" cy="2600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C5C69"/>
          </a:solidFill>
          <a:ln xmlns:a="http://schemas.openxmlformats.org/drawingml/2006/main" w="0">
            <a:solidFill>
              <a:srgbClr val="5C5C69"/>
            </a:solidFill>
            <a:prstDash val="solid"/>
          </a:ln>
        </p:spPr>
      </p:sp>
      <p:sp>
        <p:nvSpPr>
          <p:cNvPr id="18" name="case-b-label-cr">
            <a:extLst xmlns:a="http://schemas.openxmlformats.org/drawingml/2006/main">
              <a:ext uri="{FF2B5EF4-FFF2-40B4-BE49-F238E27FC236}">
                <a16:creationId xmlns:a16="http://schemas.microsoft.com/office/drawing/2014/main" id="{A4326004-D539-4E87-9BE7-43B4A871A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2505075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17171C"/>
                </a:solidFill>
              </a:defRPr>
            </a:pPr>
            <a:r>
              <a:rPr sz="1350" b="1" i="0">
                <a:solidFill>
                  <a:srgbClr val="17171C"/>
                </a:solidFill>
              </a:rPr>
              <a:t>1,500</a:t>
            </a:r>
          </a:p>
        </p:txBody>
      </p:sp>
      <p:sp>
        <p:nvSpPr>
          <p:cNvPr id="19" name="case-b-label-ca">
            <a:extLst xmlns:a="http://schemas.openxmlformats.org/drawingml/2006/main">
              <a:ext uri="{FF2B5EF4-FFF2-40B4-BE49-F238E27FC236}">
                <a16:creationId xmlns:a16="http://schemas.microsoft.com/office/drawing/2014/main" id="{CD4DCB79-3EEE-48DF-AF1F-B827CF8C1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2505075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17171C"/>
                </a:solidFill>
              </a:defRPr>
            </a:pPr>
            <a:r>
              <a:rPr sz="1350" b="1" i="0">
                <a:solidFill>
                  <a:srgbClr val="17171C"/>
                </a:solidFill>
              </a:rPr>
              <a:t>1,500</a:t>
            </a:r>
          </a:p>
        </p:txBody>
      </p:sp>
      <p:sp>
        <p:nvSpPr>
          <p:cNvPr id="20" name="case-b-label-or">
            <a:extLst xmlns:a="http://schemas.openxmlformats.org/drawingml/2006/main">
              <a:ext uri="{FF2B5EF4-FFF2-40B4-BE49-F238E27FC236}">
                <a16:creationId xmlns:a16="http://schemas.microsoft.com/office/drawing/2014/main" id="{ADF21B9D-DCD3-412C-9B8A-EB0A29D60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1762125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3333B2"/>
                </a:solidFill>
              </a:defRPr>
            </a:pPr>
            <a:r>
              <a:rPr sz="1350" b="1" i="0">
                <a:solidFill>
                  <a:srgbClr val="3333B2"/>
                </a:solidFill>
              </a:rPr>
              <a:t>1,930</a:t>
            </a:r>
          </a:p>
        </p:txBody>
      </p:sp>
      <p:sp>
        <p:nvSpPr>
          <p:cNvPr id="21" name="case-b-label-oa">
            <a:extLst xmlns:a="http://schemas.openxmlformats.org/drawingml/2006/main">
              <a:ext uri="{FF2B5EF4-FFF2-40B4-BE49-F238E27FC236}">
                <a16:creationId xmlns:a16="http://schemas.microsoft.com/office/drawing/2014/main" id="{9B0278A4-6567-4EA0-BCCC-FB04D06ED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505075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17171C"/>
                </a:solidFill>
              </a:defRPr>
            </a:pPr>
            <a:r>
              <a:rPr sz="1350" b="1" i="0">
                <a:solidFill>
                  <a:srgbClr val="17171C"/>
                </a:solidFill>
              </a:rPr>
              <a:t>1,500</a:t>
            </a:r>
          </a:p>
        </p:txBody>
      </p:sp>
      <p:sp>
        <p:nvSpPr>
          <p:cNvPr id="22" name="case-b-control-category">
            <a:extLst xmlns:a="http://schemas.openxmlformats.org/drawingml/2006/main">
              <a:ext uri="{FF2B5EF4-FFF2-40B4-BE49-F238E27FC236}">
                <a16:creationId xmlns:a16="http://schemas.microsoft.com/office/drawing/2014/main" id="{30E99DB8-9788-4B3A-AE5D-FEB3C608C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524500"/>
            <a:ext cx="190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17171C"/>
                </a:solidFill>
              </a:defRPr>
            </a:pPr>
            <a:r>
              <a:rPr sz="1500" b="1" i="0">
                <a:solidFill>
                  <a:srgbClr val="17171C"/>
                </a:solidFill>
              </a:rPr>
              <a:t>Control</a:t>
            </a:r>
          </a:p>
        </p:txBody>
      </p:sp>
      <p:sp>
        <p:nvSpPr>
          <p:cNvPr id="23" name="case-b-offered-category">
            <a:extLst xmlns:a="http://schemas.openxmlformats.org/drawingml/2006/main">
              <a:ext uri="{FF2B5EF4-FFF2-40B4-BE49-F238E27FC236}">
                <a16:creationId xmlns:a16="http://schemas.microsoft.com/office/drawing/2014/main" id="{0EFBB698-F1FB-4853-8A2F-967C59684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5524500"/>
            <a:ext cx="190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17171C"/>
                </a:solidFill>
              </a:defRPr>
            </a:pPr>
            <a:r>
              <a:rPr sz="1500" b="1" i="0">
                <a:solidFill>
                  <a:srgbClr val="17171C"/>
                </a:solidFill>
              </a:rPr>
              <a:t>Offered</a:t>
            </a:r>
          </a:p>
        </p:txBody>
      </p:sp>
      <p:sp>
        <p:nvSpPr>
          <p:cNvPr id="24" name="case-b-legend-rows">
            <a:extLst xmlns:a="http://schemas.openxmlformats.org/drawingml/2006/main">
              <a:ext uri="{FF2B5EF4-FFF2-40B4-BE49-F238E27FC236}">
                <a16:creationId xmlns:a16="http://schemas.microsoft.com/office/drawing/2014/main" id="{68EF5BBC-0E16-4D24-9C6C-F38936257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905500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33B2"/>
          </a:solidFill>
          <a:ln xmlns:a="http://schemas.openxmlformats.org/drawingml/2006/main" w="0">
            <a:solidFill>
              <a:srgbClr val="3333B2"/>
            </a:solidFill>
            <a:prstDash val="solid"/>
          </a:ln>
        </p:spPr>
      </p:sp>
      <p:sp>
        <p:nvSpPr>
          <p:cNvPr id="25" name="case-b-legend-rows-label">
            <a:extLst xmlns:a="http://schemas.openxmlformats.org/drawingml/2006/main">
              <a:ext uri="{FF2B5EF4-FFF2-40B4-BE49-F238E27FC236}">
                <a16:creationId xmlns:a16="http://schemas.microsoft.com/office/drawing/2014/main" id="{31347F0A-320B-418C-95E8-4DD0425CA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5876925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7171C"/>
                </a:solidFill>
              </a:defRPr>
            </a:pPr>
            <a:r>
              <a:rPr sz="1200" b="0" i="0">
                <a:solidFill>
                  <a:srgbClr val="17171C"/>
                </a:solidFill>
              </a:rPr>
              <a:t>Rows</a:t>
            </a:r>
          </a:p>
        </p:txBody>
      </p:sp>
      <p:sp>
        <p:nvSpPr>
          <p:cNvPr id="26" name="case-b-legend-applicants">
            <a:extLst xmlns:a="http://schemas.openxmlformats.org/drawingml/2006/main">
              <a:ext uri="{FF2B5EF4-FFF2-40B4-BE49-F238E27FC236}">
                <a16:creationId xmlns:a16="http://schemas.microsoft.com/office/drawing/2014/main" id="{89C6D345-5823-4CBF-A34F-FBC38708C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5905500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C5C69"/>
          </a:solidFill>
          <a:ln xmlns:a="http://schemas.openxmlformats.org/drawingml/2006/main" w="0">
            <a:solidFill>
              <a:srgbClr val="5C5C69"/>
            </a:solidFill>
            <a:prstDash val="solid"/>
          </a:ln>
        </p:spPr>
      </p:sp>
      <p:sp>
        <p:nvSpPr>
          <p:cNvPr id="27" name="case-b-legend-applicants-label">
            <a:extLst xmlns:a="http://schemas.openxmlformats.org/drawingml/2006/main">
              <a:ext uri="{FF2B5EF4-FFF2-40B4-BE49-F238E27FC236}">
                <a16:creationId xmlns:a16="http://schemas.microsoft.com/office/drawing/2014/main" id="{40DD7461-A2A8-4CBE-9EED-9CCC367F2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5876925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7171C"/>
                </a:solidFill>
              </a:defRPr>
            </a:pPr>
            <a:r>
              <a:rPr sz="1200" b="0" i="0">
                <a:solidFill>
                  <a:srgbClr val="17171C"/>
                </a:solidFill>
              </a:rPr>
              <a:t>Unique applicants</a:t>
            </a:r>
          </a:p>
        </p:txBody>
      </p:sp>
      <p:sp>
        <p:nvSpPr>
          <p:cNvPr id="28" name="control-exact">
            <a:extLst xmlns:a="http://schemas.openxmlformats.org/drawingml/2006/main">
              <a:ext uri="{FF2B5EF4-FFF2-40B4-BE49-F238E27FC236}">
                <a16:creationId xmlns:a16="http://schemas.microsoft.com/office/drawing/2014/main" id="{95C73E42-411C-434E-A711-1D1A46A36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714500"/>
            <a:ext cx="2571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17171C"/>
                </a:solidFill>
              </a:defRPr>
            </a:pPr>
            <a:r>
              <a:rPr sz="1650" b="1" i="0">
                <a:solidFill>
                  <a:srgbClr val="17171C"/>
                </a:solidFill>
              </a:rPr>
              <a:t>CONTROL</a:t>
            </a:r>
          </a:p>
          <a:p xmlns:a="http://schemas.openxmlformats.org/drawingml/2006/main">
            <a:pPr algn="ctr">
              <a:defRPr sz="1650" b="1" i="0">
                <a:solidFill>
                  <a:srgbClr val="17171C"/>
                </a:solidFill>
              </a:defRPr>
            </a:pPr>
            <a:r>
              <a:rPr sz="1650" b="1" i="0">
                <a:solidFill>
                  <a:srgbClr val="17171C"/>
                </a:solidFill>
              </a:rPr>
              <a:t>1,500 rows</a:t>
            </a:r>
          </a:p>
          <a:p xmlns:a="http://schemas.openxmlformats.org/drawingml/2006/main">
            <a:pPr algn="ctr">
              <a:defRPr sz="1650" b="1" i="0">
                <a:solidFill>
                  <a:srgbClr val="17171C"/>
                </a:solidFill>
              </a:defRPr>
            </a:pPr>
            <a:r>
              <a:rPr sz="1650" b="1" i="0">
                <a:solidFill>
                  <a:srgbClr val="17171C"/>
                </a:solidFill>
              </a:rPr>
              <a:t>1,500 applicants</a:t>
            </a:r>
          </a:p>
        </p:txBody>
      </p:sp>
      <p:sp>
        <p:nvSpPr>
          <p:cNvPr id="29" name="offered-exact">
            <a:extLst xmlns:a="http://schemas.openxmlformats.org/drawingml/2006/main">
              <a:ext uri="{FF2B5EF4-FFF2-40B4-BE49-F238E27FC236}">
                <a16:creationId xmlns:a16="http://schemas.microsoft.com/office/drawing/2014/main" id="{596B7777-D0C4-49FA-861D-C66098BB5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048000"/>
            <a:ext cx="2571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17171C"/>
                </a:solidFill>
              </a:defRPr>
            </a:pPr>
            <a:r>
              <a:rPr sz="1650" b="1" i="0">
                <a:solidFill>
                  <a:srgbClr val="17171C"/>
                </a:solidFill>
              </a:rPr>
              <a:t>OFFERED</a:t>
            </a:r>
          </a:p>
          <a:p xmlns:a="http://schemas.openxmlformats.org/drawingml/2006/main">
            <a:pPr algn="ctr">
              <a:defRPr sz="1650" b="1" i="0">
                <a:solidFill>
                  <a:srgbClr val="17171C"/>
                </a:solidFill>
              </a:defRPr>
            </a:pPr>
            <a:r>
              <a:rPr sz="1650" b="1" i="0">
                <a:solidFill>
                  <a:srgbClr val="17171C"/>
                </a:solidFill>
              </a:rPr>
              <a:t>1,930 rows</a:t>
            </a:r>
          </a:p>
          <a:p xmlns:a="http://schemas.openxmlformats.org/drawingml/2006/main">
            <a:pPr algn="ctr">
              <a:defRPr sz="1650" b="1" i="0">
                <a:solidFill>
                  <a:srgbClr val="17171C"/>
                </a:solidFill>
              </a:defRPr>
            </a:pPr>
            <a:r>
              <a:rPr sz="1650" b="1" i="0">
                <a:solidFill>
                  <a:srgbClr val="17171C"/>
                </a:solidFill>
              </a:rPr>
              <a:t>1,500 applicants</a:t>
            </a:r>
          </a:p>
        </p:txBody>
      </p:sp>
      <p:sp>
        <p:nvSpPr>
          <p:cNvPr id="30" name="excess">
            <a:extLst xmlns:a="http://schemas.openxmlformats.org/drawingml/2006/main">
              <a:ext uri="{FF2B5EF4-FFF2-40B4-BE49-F238E27FC236}">
                <a16:creationId xmlns:a16="http://schemas.microsoft.com/office/drawing/2014/main" id="{B6126467-9296-46DD-9173-67D3B10EA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4629150"/>
            <a:ext cx="2571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175" b="1" i="0">
                <a:solidFill>
                  <a:srgbClr val="FF0000"/>
                </a:solidFill>
              </a:defRPr>
            </a:pPr>
            <a:r>
              <a:rPr sz="2175" b="1" i="0">
                <a:solidFill>
                  <a:srgbClr val="FF0000"/>
                </a:solidFill>
              </a:rPr>
              <a:t>+430 excess rows</a:t>
            </a:r>
          </a:p>
        </p:txBody>
      </p:sp>
    </p:spTree>
    <p:extLst>
      <p:ext uri="{BB962C8B-B14F-4D97-AF65-F5344CB8AC3E}">
        <p14:creationId xmlns:p14="http://schemas.microsoft.com/office/powerpoint/2010/main" val="1972757865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5657460-D13A-4FA5-A056-A119E2F45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1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3333B2"/>
                </a:solidFill>
              </a:defRPr>
            </a:pPr>
            <a:r>
              <a:rPr sz="2925" b="1" i="0">
                <a:solidFill>
                  <a:srgbClr val="3333B2"/>
                </a:solidFill>
              </a:rPr>
              <a:t>Two workflows protect the same research standard</a:t>
            </a:r>
          </a:p>
        </p:txBody>
      </p:sp>
      <p:sp>
        <p:nvSpPr>
          <p:cNvPr id="2" name="rule-68-107">
            <a:extLst xmlns:a="http://schemas.openxmlformats.org/drawingml/2006/main">
              <a:ext uri="{FF2B5EF4-FFF2-40B4-BE49-F238E27FC236}">
                <a16:creationId xmlns:a16="http://schemas.microsoft.com/office/drawing/2014/main" id="{16361D05-6A05-4EF7-82FA-2F4D0FC2C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19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899D08B-4985-4225-84D6-5AF453830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5C5C69"/>
                </a:solidFill>
              </a:defRPr>
            </a:pPr>
            <a:r>
              <a:rPr sz="825" b="0" i="0">
                <a:solidFill>
                  <a:srgbClr val="5C5C69"/>
                </a:solidFill>
              </a:rPr>
              <a:t>29 / 29</a:t>
            </a:r>
          </a:p>
        </p:txBody>
      </p:sp>
      <p:sp>
        <p:nvSpPr>
          <p:cNvPr id="4" name="clean-head">
            <a:extLst xmlns:a="http://schemas.openxmlformats.org/drawingml/2006/main">
              <a:ext uri="{FF2B5EF4-FFF2-40B4-BE49-F238E27FC236}">
                <a16:creationId xmlns:a16="http://schemas.microsoft.com/office/drawing/2014/main" id="{4B2CB7E2-B184-4AA8-A1C7-D1A5F0C1C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457325"/>
            <a:ext cx="333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3333B2"/>
                </a:solidFill>
              </a:defRPr>
            </a:pPr>
            <a:r>
              <a:rPr sz="1650" b="1" i="0">
                <a:solidFill>
                  <a:srgbClr val="3333B2"/>
                </a:solidFill>
              </a:rPr>
              <a:t>CLEAN WORKFLOW</a:t>
            </a:r>
          </a:p>
        </p:txBody>
      </p:sp>
      <p:sp>
        <p:nvSpPr>
          <p:cNvPr id="5" name="clean">
            <a:extLst xmlns:a="http://schemas.openxmlformats.org/drawingml/2006/main">
              <a:ext uri="{FF2B5EF4-FFF2-40B4-BE49-F238E27FC236}">
                <a16:creationId xmlns:a16="http://schemas.microsoft.com/office/drawing/2014/main" id="{160FCFDF-AA6C-47EC-A296-74D959F53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43100"/>
            <a:ext cx="9525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17171C"/>
                </a:solidFill>
              </a:defRPr>
            </a:pPr>
            <a:r>
              <a:rPr sz="2175" b="1" i="0">
                <a:solidFill>
                  <a:srgbClr val="17171C"/>
                </a:solidFill>
              </a:rPr>
              <a:t>prevents drift by making the experiment explicit before analysis.</a:t>
            </a:r>
          </a:p>
        </p:txBody>
      </p:sp>
      <p:sp>
        <p:nvSpPr>
          <p:cNvPr id="6" name="rule-84-300">
            <a:extLst xmlns:a="http://schemas.openxmlformats.org/drawingml/2006/main">
              <a:ext uri="{FF2B5EF4-FFF2-40B4-BE49-F238E27FC236}">
                <a16:creationId xmlns:a16="http://schemas.microsoft.com/office/drawing/2014/main" id="{2B3EBFE5-A60A-4DB2-87C0-B0D7F1F69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575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7" name="forensic-head">
            <a:extLst xmlns:a="http://schemas.openxmlformats.org/drawingml/2006/main">
              <a:ext uri="{FF2B5EF4-FFF2-40B4-BE49-F238E27FC236}">
                <a16:creationId xmlns:a16="http://schemas.microsoft.com/office/drawing/2014/main" id="{47633A4F-7E88-4010-945D-AFC7D6389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76600"/>
            <a:ext cx="3714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3333B2"/>
                </a:solidFill>
              </a:defRPr>
            </a:pPr>
            <a:r>
              <a:rPr sz="1650" b="1" i="0">
                <a:solidFill>
                  <a:srgbClr val="3333B2"/>
                </a:solidFill>
              </a:rPr>
              <a:t>FORENSIC WORKFLOW</a:t>
            </a:r>
          </a:p>
        </p:txBody>
      </p:sp>
      <p:sp>
        <p:nvSpPr>
          <p:cNvPr id="8" name="forensic">
            <a:extLst xmlns:a="http://schemas.openxmlformats.org/drawingml/2006/main">
              <a:ext uri="{FF2B5EF4-FFF2-40B4-BE49-F238E27FC236}">
                <a16:creationId xmlns:a16="http://schemas.microsoft.com/office/drawing/2014/main" id="{2B9F38CF-2011-4709-BCDA-91D7B907F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62375"/>
            <a:ext cx="9810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17171C"/>
                </a:solidFill>
              </a:defRPr>
            </a:pPr>
            <a:r>
              <a:rPr sz="2175" b="1" i="0">
                <a:solidFill>
                  <a:srgbClr val="17171C"/>
                </a:solidFill>
              </a:rPr>
              <a:t>reconstructs drift by tracing files, keys, transformations, and history.</a:t>
            </a:r>
          </a:p>
        </p:txBody>
      </p:sp>
      <p:sp>
        <p:nvSpPr>
          <p:cNvPr id="9" name="sequence">
            <a:extLst xmlns:a="http://schemas.openxmlformats.org/drawingml/2006/main">
              <a:ext uri="{FF2B5EF4-FFF2-40B4-BE49-F238E27FC236}">
                <a16:creationId xmlns:a16="http://schemas.microsoft.com/office/drawing/2014/main" id="{2E2353BB-9853-4ECC-BC42-3129E27A0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00625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 i="0">
                <a:solidFill>
                  <a:srgbClr val="BF0040"/>
                </a:solidFill>
              </a:defRPr>
            </a:pPr>
            <a:r>
              <a:rPr sz="1725" b="1" i="0">
                <a:solidFill>
                  <a:srgbClr val="BF0040"/>
                </a:solidFill>
              </a:rPr>
              <a:t>StatsClaw planner  →  authorized builder  →  independent tester  →  $review</a:t>
            </a:r>
          </a:p>
        </p:txBody>
      </p:sp>
      <p:sp>
        <p:nvSpPr>
          <p:cNvPr id="10" name="commit">
            <a:extLst xmlns:a="http://schemas.openxmlformats.org/drawingml/2006/main">
              <a:ext uri="{FF2B5EF4-FFF2-40B4-BE49-F238E27FC236}">
                <a16:creationId xmlns:a16="http://schemas.microsoft.com/office/drawing/2014/main" id="{2CC60F8A-C798-4443-8FDF-3089F0420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495925"/>
            <a:ext cx="1028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FF0000"/>
                </a:solidFill>
              </a:defRPr>
            </a:pPr>
            <a:r>
              <a:rPr sz="1650" b="1" i="0">
                <a:solidFill>
                  <a:srgbClr val="FF0000"/>
                </a:solidFill>
              </a:rPr>
              <a:t>PASS  →  local Git commit     |     no $ship-it and no push in class</a:t>
            </a:r>
          </a:p>
        </p:txBody>
      </p:sp>
    </p:spTree>
    <p:extLst>
      <p:ext uri="{BB962C8B-B14F-4D97-AF65-F5344CB8AC3E}">
        <p14:creationId xmlns:p14="http://schemas.microsoft.com/office/powerpoint/2010/main" val="59481451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2026-07-26T06:27:29.6910000Z</dcterms:created>
  <dcterms:modified xsi:type="dcterms:W3CDTF">2026-07-26T06:27:29.6910000Z</dcterms:modified>
</coreProperties>
</file>